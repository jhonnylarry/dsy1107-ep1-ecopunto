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647"/>
    <p:restoredTop sz="95209"/>
  </p:normalViewPr>
  <p:slideViewPr>
    <p:cSldViewPr snapToGrid="0" snapToObjects="1">
      <p:cViewPr varScale="1">
        <p:scale>
          <a:sx n="124" d="100"/>
          <a:sy n="124" d="100"/>
        </p:scale>
        <p:origin x="640" y="18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8675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Hola, soy Jonathan Larraguibel. Les presento EcoPunto, el proyecto que desarrollé para esta evaluación.
Es una aplicación web cloud native: el frontend está en Angular con autenticación mediante Microsoft Entra ID usando la librería MSAL, el backend es un Spring Boot que actúa como Resource Server, y todo está desplegado en AWS, con un API Gateway que protege el acceso al backend.
En los próximos minutos les muestro la arquitectura, cómo funciona la seguridad de punta a punta, y al final una demo en vivo.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El dominio del proyecto son los puntos limpios de reciclaje. La aplicación permite consultar los puntos, con su comuna, dirección y los materiales que aceptan.
Un usuario autenticado puede reportar cuando un punto ya no recibe algún material, por ejemplo porque el contenedor de vidrio está lleno.
Y hay un rol especial, ENCARGADO, que es el único que puede crear, editar o eliminar puntos.
Elegí este dominio porque tiene justo lo que necesita la evaluación: una parte pública, una parte que requiere estar autenticado, y operaciones de modificación que requieren un permiso adicional. Eso me permite demostrar respuestas 200, 401 y 403.</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Esta es la arquitectura tal como está desplegada hoy.
El usuario entra por el navegador al frontend en Angular, servido por nginx en una instancia EC2, con HTTPS y un dominio propio.
Para iniciar sesión, el frontend redirige a Microsoft Entra ID, que es el IDaaS, usando OpenID Connect con Authorization Code y PKCE. Entra ID devuelve un access token en formato JWT.
Con ese token, el frontend no le habla directo al backend: todas las llamadas pasan por AWS API Gateway, que valida el JWT y maneja el CORS.
Si el token es válido, el Gateway reenvía la petición al backend en Spring Boot, que corre en Docker en otra instancia EC2 y guarda los datos en PostgreSQL, también en Docker y con un volumen persistente.
Tanto el Gateway como el backend descargan las claves públicas de Entra ID para verificar la firma de los tokens.
Un detalle práctico: como el laboratorio de AWS cambia las IP públicas al reiniciarse, cada instancia actualiza su propio registro DNS en Cloudflare automáticamente al arrancar.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En Microsoft Entra ID creé un tenant propio y ahí registré la aplicación EcoPunto como una SPA. Al ser un cliente público no tiene client secret; solo acepta las redirect URIs exactas que registré: localhost para desarrollo y el dominio de producción.
La misma aplicación expone una API con dos scopes, reportes.read y reportes.write, con el consentimiento de administrador otorgado para todo el tenant.
Además definí un App Role llamado ENCARGADO. Una diferencia importante: los scopes se otorgan por consentimiento, y aplican a todos los usuarios; en cambio el rol se asigna usuario por usuario, y aparece en el token en el claim "roles".
Tengo dos usuarios de prueba: encargado1, con el rol, y usuario1, sin rol. Y habilité el registro de autoservicio, para que un usuario nuevo pueda crear su cuenta desde el botón "Crear cuenta" del frontend.
[DEMO: mostrar el App Registration, los scopes en "Exponer una API", el rol, y la lista de usuarios.]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Para el login uso el flujo Authorization Code con PKCE, que es el recomendado para aplicaciones de una sola página.
Primero MSAL genera un code_verifier aleatorio y calcula su hash, el code_challenge. También genera los parámetros state y nonce.
Redirige al usuario a Entra ID enviando el code_challenge. El usuario se autentica directamente en Microsoft: la aplicación nunca ve su contraseña.
Entra ID devuelve un código de autorización y MSAL lo canjea por los tokens, enviando ahora el code_verifier original. Entra comprueba que coincida con el challenge del principio.
La ventaja es que aunque alguien intercepte el código, no puede usarlo sin el verifier, que nunca salió del navegador. Y state y nonce protegen contra CSRF y contra la reutilización de tokens.
[DEMO: iniciar sesión y mostrar en la URL de Microsoft los parámetros code_challenge, code_challenge_method=S256, state y nonce.]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El API Gateway es un HTTP API de AWS. Definí dos grupos de rutas: las públicas, bajo /public, que no piden autorización, y las protegidas, bajo /api, con un authorizer de tipo JWT. Cada grupo tiene su propia integración, que conserva el prefijo al reenviar al backend.
El authorizer valida el token en el propio Gateway: la firma con las claves de Entra ID, que no esté vencido, que el issuer sea mi tenant y que el audience sea mi aplicación. Si algo falla, responde 401 y la petición nunca llega al backend.
El CORS está restringido: solo acepta el origen de mi frontend, los headers que necesito y los métodos que uso.
Un aprendizaje: al principio tenía una ruta ANY en /api, pero ANY incluye el método OPTIONS. El navegador manda un preflight OPTIONS sin token antes de cada llamada, y el authorizer lo rechazaba. Por eso las rutas protegidas usan métodos explícitos.
[DEMO: mostrar ecopunto-api, la pantalla de rutas, el authorizer entra-jwt y la configuración de CORS.]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La seguridad está en dos capas, lo que se llama defensa en profundidad.
El API Gateway responde la pregunta "¿este token es auténtico?": verifica la firma, la vigencia, el issuer y el audience. Si no, 401.
El backend responde "¿este usuario tiene permiso para esta operación?". Vuelve a validar el token, porque no confía ciegamente en quien le reenvía la petición, y aplica la autorización por rol y por scope. Si el token es válido pero no trae el permiso, responde 403.
Algo importante: ocultar los botones en el frontend no es seguridad. Si un usuario sin rol intenta llamar la API directamente desde la consola del navegador, el backend igual lo rechaza con 403.</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Esta es la matriz de pruebas, ejecutada en producción a través del Gateway.
Sin token, o con un token inventado o con la firma falsificada, el Gateway responde 401 sin tocar el backend.
Con un token válido, cualquier usuario autenticado puede leer. Pero usuario1, que no tiene el rol, recibe 403 al intentar crear, editar o eliminar, mientras que encargado1 sí puede: 201, 200 y 204.
Toda esta evidencia está documentada en el repositorio, junto con un script que permite repetir las pruebas.
[DEMO: pegar en la consola del navegador el script docs/evidencia/probar-matriz.js y mostrar la tabla de resultados.]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El despliegue usa dos instancias EC2: una para el frontend y otra para el backend, con tres contenedores Docker en total.
Los contenedores tienen reinicio automático, así que arrancan solos cuando se enciende la instancia.
La base de datos es PostgreSQL con un volumen persistente, en una red interna de Docker: el puerto de la base nunca se expone a Internet.
Como el laboratorio de AWS Academy cambia las IP públicas en cada reinicio, programé un servicio que actualiza el DNS en Cloudflare al arrancar. Por eso reiniciar el laboratorio no requiere ningún paso manual.
El frontend usa un certificado real de Let's Encrypt, y ningún secreto está en el repositorio: contraseñas, tokens y certificados viven solo en los servidores.
[DEMO: mostrar las dos instancias corriendo en la consola de EC2.]</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En el camino resolví varios problemas reales que no estaban documentados.
Entra ID emitía tokens en versión 1 para mi propia API; tuve que forzar la versión 2 en el manifiesto de la aplicación. Y en la versión 2 el audience viene como el Client ID sin el prefijo api, lo que hacía fallar la validación.
Descubrí que MSAL no funciona por HTTP en una IP pública: necesita un contexto seguro, por eso el frontend va con HTTPS.
Después, con el frontend en HTTPS, el navegador bloqueaba las llamadas a un backend HTTP. El API Gateway resolvió eso, porque expone HTTPS.
Y por último el caso del preflight que les comenté: la ruta ANY también capturaba el OPTIONS sin token.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 min en total, ver guion.md)
Ahora les muestro todo funcionando en vivo. Voy a seguir este orden:
1. En la consola de AWS, el API Gateway con sus rutas, el authorizer JWT y el CORS.
2. En Entra ID, la aplicación registrada, los scopes, el rol y los usuarios.
3. El login, mostrando los parámetros de PKCE en la URL de Microsoft.
4. La aplicación consumiendo la API a través del Gateway, con la pestaña de red del navegador.
5. La matriz de pruebas en vivo con el script.
6. Y las instancias EC2 activas.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
Para cerrar: EcoPunto cumple el flujo completo de una aplicación cloud native segura. Autenticación con OpenID Connect y PKCE en Entra ID, un API Gateway que valida el JWT y controla el CORS, un backend que aplica la autorización por roles y scopes, y todo desplegado en AWS con datos persistentes.
Muchas gracias. Quedo atento a sus preguntas.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42B"/>
        </a:solidFill>
        <a:effectLst/>
      </p:bgPr>
    </p:bg>
    <p:spTree>
      <p:nvGrpSpPr>
        <p:cNvPr id="1" name=""/>
        <p:cNvGrpSpPr/>
        <p:nvPr/>
      </p:nvGrpSpPr>
      <p:grpSpPr>
        <a:xfrm>
          <a:off x="0" y="0"/>
          <a:ext cx="0" cy="0"/>
          <a:chOff x="0" y="0"/>
          <a:chExt cx="0" cy="0"/>
        </a:xfrm>
      </p:grpSpPr>
      <p:sp>
        <p:nvSpPr>
          <p:cNvPr id="2" name="Shape 0"/>
          <p:cNvSpPr/>
          <p:nvPr/>
        </p:nvSpPr>
        <p:spPr>
          <a:xfrm>
            <a:off x="548640" y="1097280"/>
            <a:ext cx="1005840" cy="1005840"/>
          </a:xfrm>
          <a:prstGeom prst="ellipse">
            <a:avLst/>
          </a:prstGeom>
          <a:solidFill>
            <a:srgbClr val="52B788"/>
          </a:solidFill>
          <a:ln w="12700">
            <a:solidFill>
              <a:srgbClr val="52B788"/>
            </a:solidFill>
            <a:prstDash val="solid"/>
          </a:ln>
        </p:spPr>
        <p:txBody>
          <a:bodyPr/>
          <a:lstStyle/>
          <a:p>
            <a:endParaRPr lang="es-CL"/>
          </a:p>
        </p:txBody>
      </p:sp>
      <p:pic>
        <p:nvPicPr>
          <p:cNvPr id="3" name="Image 0" descr="preencoded.png"/>
          <p:cNvPicPr>
            <a:picLocks noChangeAspect="1"/>
          </p:cNvPicPr>
          <p:nvPr/>
        </p:nvPicPr>
        <p:blipFill>
          <a:blip r:embed="rId3"/>
          <a:stretch>
            <a:fillRect/>
          </a:stretch>
        </p:blipFill>
        <p:spPr>
          <a:xfrm>
            <a:off x="790042" y="1338682"/>
            <a:ext cx="523037" cy="523037"/>
          </a:xfrm>
          <a:prstGeom prst="rect">
            <a:avLst/>
          </a:prstGeom>
        </p:spPr>
      </p:pic>
      <p:sp>
        <p:nvSpPr>
          <p:cNvPr id="4" name="Text 1"/>
          <p:cNvSpPr txBox="1"/>
          <p:nvPr/>
        </p:nvSpPr>
        <p:spPr>
          <a:xfrm>
            <a:off x="1783080" y="1051560"/>
            <a:ext cx="6858000" cy="822960"/>
          </a:xfrm>
          <a:prstGeom prst="rect">
            <a:avLst/>
          </a:prstGeom>
          <a:noFill/>
          <a:ln/>
        </p:spPr>
        <p:txBody>
          <a:bodyPr wrap="square" lIns="0" tIns="0" rIns="0" bIns="0"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EcoPunto</a:t>
            </a:r>
            <a:endParaRPr lang="en-US" sz="4800" dirty="0"/>
          </a:p>
        </p:txBody>
      </p:sp>
      <p:sp>
        <p:nvSpPr>
          <p:cNvPr id="5" name="Text 2"/>
          <p:cNvSpPr txBox="1"/>
          <p:nvPr/>
        </p:nvSpPr>
        <p:spPr>
          <a:xfrm>
            <a:off x="1783080" y="1874520"/>
            <a:ext cx="6858000" cy="731520"/>
          </a:xfrm>
          <a:prstGeom prst="rect">
            <a:avLst/>
          </a:prstGeom>
          <a:noFill/>
          <a:ln/>
        </p:spPr>
        <p:txBody>
          <a:bodyPr wrap="square" lIns="0" tIns="0" rIns="0" bIns="0" rtlCol="0" anchor="ctr"/>
          <a:lstStyle/>
          <a:p>
            <a:pPr marL="0" indent="0">
              <a:buNone/>
            </a:pPr>
            <a:r>
              <a:rPr lang="en-US" sz="1800" dirty="0">
                <a:solidFill>
                  <a:srgbClr val="E8F5EE"/>
                </a:solidFill>
                <a:latin typeface="Calibri" pitchFamily="34" charset="0"/>
                <a:ea typeface="Calibri" pitchFamily="34" charset="-122"/>
                <a:cs typeface="Calibri" pitchFamily="34" charset="-120"/>
              </a:rPr>
              <a:t>Arquitectura cloud segura: Angular + MSAL, API Gateway y Spring Boot en AWS</a:t>
            </a:r>
            <a:endParaRPr lang="en-US" sz="1800" dirty="0"/>
          </a:p>
        </p:txBody>
      </p:sp>
      <p:sp>
        <p:nvSpPr>
          <p:cNvPr id="6" name="Text 3"/>
          <p:cNvSpPr txBox="1"/>
          <p:nvPr/>
        </p:nvSpPr>
        <p:spPr>
          <a:xfrm>
            <a:off x="548640" y="3566160"/>
            <a:ext cx="8046720" cy="914400"/>
          </a:xfrm>
          <a:prstGeom prst="rect">
            <a:avLst/>
          </a:prstGeom>
          <a:noFill/>
          <a:ln/>
        </p:spPr>
        <p:txBody>
          <a:bodyPr wrap="square" lIns="0" tIns="0" rIns="0" bIns="0" rtlCol="0" anchor="ctr"/>
          <a:lstStyle/>
          <a:p>
            <a:pPr marL="0" indent="0">
              <a:buNone/>
            </a:pPr>
            <a:r>
              <a:rPr lang="en-US" sz="1400" b="1" dirty="0">
                <a:solidFill>
                  <a:srgbClr val="52B788"/>
                </a:solidFill>
                <a:latin typeface="Calibri" pitchFamily="34" charset="0"/>
                <a:ea typeface="Calibri" pitchFamily="34" charset="-122"/>
                <a:cs typeface="Calibri" pitchFamily="34" charset="-120"/>
              </a:rPr>
              <a:t>Jonathan Larraguibel</a:t>
            </a:r>
            <a:endParaRPr lang="en-US" sz="1400" dirty="0"/>
          </a:p>
          <a:p>
            <a:pPr marL="0" indent="0">
              <a:buNone/>
            </a:pPr>
            <a:r>
              <a:rPr lang="en-US" sz="1400" dirty="0">
                <a:solidFill>
                  <a:srgbClr val="52B788"/>
                </a:solidFill>
                <a:latin typeface="Calibri" pitchFamily="34" charset="0"/>
                <a:ea typeface="Calibri" pitchFamily="34" charset="-122"/>
                <a:cs typeface="Calibri" pitchFamily="34" charset="-120"/>
              </a:rPr>
              <a:t>DSY1107 · Desarrollo Cloud Native I · Sección 002D</a:t>
            </a:r>
            <a:endParaRPr lang="en-US" sz="1400" dirty="0"/>
          </a:p>
          <a:p>
            <a:pPr marL="0" indent="0">
              <a:buNone/>
            </a:pPr>
            <a:r>
              <a:rPr lang="en-US" sz="1400" dirty="0">
                <a:solidFill>
                  <a:srgbClr val="52B788"/>
                </a:solidFill>
                <a:latin typeface="Calibri" pitchFamily="34" charset="0"/>
                <a:ea typeface="Calibri" pitchFamily="34" charset="-122"/>
                <a:cs typeface="Calibri" pitchFamily="34" charset="-120"/>
              </a:rPr>
              <a:t>Evaluación </a:t>
            </a:r>
            <a:r>
              <a:rPr lang="en-US" sz="1400" dirty="0" err="1">
                <a:solidFill>
                  <a:srgbClr val="52B788"/>
                </a:solidFill>
                <a:latin typeface="Calibri" pitchFamily="34" charset="0"/>
                <a:ea typeface="Calibri" pitchFamily="34" charset="-122"/>
                <a:cs typeface="Calibri" pitchFamily="34" charset="-120"/>
              </a:rPr>
              <a:t>Parcial</a:t>
            </a:r>
            <a:r>
              <a:rPr lang="en-US" sz="1400" dirty="0">
                <a:solidFill>
                  <a:srgbClr val="52B788"/>
                </a:solidFill>
                <a:latin typeface="Calibri" pitchFamily="34" charset="0"/>
                <a:ea typeface="Calibri" pitchFamily="34" charset="-122"/>
                <a:cs typeface="Calibri" pitchFamily="34" charset="-120"/>
              </a:rPr>
              <a:t> 1</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14342B"/>
                </a:solidFill>
                <a:latin typeface="Calibri" pitchFamily="34" charset="0"/>
                <a:ea typeface="Calibri" pitchFamily="34" charset="-122"/>
                <a:cs typeface="Calibri" pitchFamily="34" charset="-120"/>
              </a:rPr>
              <a:t>¿Qué resuelve EcoPunto?</a:t>
            </a:r>
            <a:endParaRPr lang="en-US" sz="3000" dirty="0"/>
          </a:p>
        </p:txBody>
      </p:sp>
      <p:sp>
        <p:nvSpPr>
          <p:cNvPr id="3" name="Shape 1"/>
          <p:cNvSpPr/>
          <p:nvPr/>
        </p:nvSpPr>
        <p:spPr>
          <a:xfrm>
            <a:off x="457200" y="1234440"/>
            <a:ext cx="2560320" cy="3200400"/>
          </a:xfrm>
          <a:prstGeom prst="roundRect">
            <a:avLst>
              <a:gd name="adj" fmla="val 4286"/>
            </a:avLst>
          </a:prstGeom>
          <a:solidFill>
            <a:srgbClr val="E8F5EE"/>
          </a:solidFill>
          <a:ln w="12700">
            <a:solidFill>
              <a:srgbClr val="E8F5EE"/>
            </a:solidFill>
            <a:prstDash val="solid"/>
          </a:ln>
        </p:spPr>
        <p:txBody>
          <a:bodyPr/>
          <a:lstStyle/>
          <a:p>
            <a:endParaRPr lang="es-CL"/>
          </a:p>
        </p:txBody>
      </p:sp>
      <p:sp>
        <p:nvSpPr>
          <p:cNvPr id="4" name="Shape 2"/>
          <p:cNvSpPr/>
          <p:nvPr/>
        </p:nvSpPr>
        <p:spPr>
          <a:xfrm>
            <a:off x="731520" y="1508760"/>
            <a:ext cx="731520" cy="731520"/>
          </a:xfrm>
          <a:prstGeom prst="ellipse">
            <a:avLst/>
          </a:prstGeom>
          <a:solidFill>
            <a:srgbClr val="2D6A4F"/>
          </a:solidFill>
          <a:ln w="12700">
            <a:solidFill>
              <a:srgbClr val="2D6A4F"/>
            </a:solidFill>
            <a:prstDash val="solid"/>
          </a:ln>
        </p:spPr>
        <p:txBody>
          <a:bodyPr/>
          <a:lstStyle/>
          <a:p>
            <a:endParaRPr lang="es-CL"/>
          </a:p>
        </p:txBody>
      </p:sp>
      <p:pic>
        <p:nvPicPr>
          <p:cNvPr id="5" name="Image 0" descr="preencoded.png"/>
          <p:cNvPicPr>
            <a:picLocks noChangeAspect="1"/>
          </p:cNvPicPr>
          <p:nvPr/>
        </p:nvPicPr>
        <p:blipFill>
          <a:blip r:embed="rId3"/>
          <a:stretch>
            <a:fillRect/>
          </a:stretch>
        </p:blipFill>
        <p:spPr>
          <a:xfrm>
            <a:off x="907085" y="1684325"/>
            <a:ext cx="380390" cy="380390"/>
          </a:xfrm>
          <a:prstGeom prst="rect">
            <a:avLst/>
          </a:prstGeom>
        </p:spPr>
      </p:pic>
      <p:sp>
        <p:nvSpPr>
          <p:cNvPr id="6" name="Text 3"/>
          <p:cNvSpPr txBox="1"/>
          <p:nvPr/>
        </p:nvSpPr>
        <p:spPr>
          <a:xfrm>
            <a:off x="731520" y="2423160"/>
            <a:ext cx="2103120" cy="640080"/>
          </a:xfrm>
          <a:prstGeom prst="rect">
            <a:avLst/>
          </a:prstGeom>
          <a:noFill/>
          <a:ln/>
        </p:spPr>
        <p:txBody>
          <a:bodyPr wrap="square" lIns="0" tIns="0" rIns="0" bIns="0" rtlCol="0" anchor="t"/>
          <a:lstStyle/>
          <a:p>
            <a:pPr marL="0" indent="0">
              <a:buNone/>
            </a:pPr>
            <a:r>
              <a:rPr lang="en-US" sz="1700" b="1" dirty="0">
                <a:solidFill>
                  <a:srgbClr val="14342B"/>
                </a:solidFill>
                <a:latin typeface="Calibri" pitchFamily="34" charset="0"/>
                <a:ea typeface="Calibri" pitchFamily="34" charset="-122"/>
                <a:cs typeface="Calibri" pitchFamily="34" charset="-120"/>
              </a:rPr>
              <a:t>Consultar puntos limpios</a:t>
            </a:r>
            <a:endParaRPr lang="en-US" sz="1700" dirty="0"/>
          </a:p>
        </p:txBody>
      </p:sp>
      <p:sp>
        <p:nvSpPr>
          <p:cNvPr id="7" name="Text 4"/>
          <p:cNvSpPr txBox="1"/>
          <p:nvPr/>
        </p:nvSpPr>
        <p:spPr>
          <a:xfrm>
            <a:off x="731520" y="3108960"/>
            <a:ext cx="2011680" cy="1188720"/>
          </a:xfrm>
          <a:prstGeom prst="rect">
            <a:avLst/>
          </a:prstGeom>
          <a:noFill/>
          <a:ln/>
        </p:spPr>
        <p:txBody>
          <a:bodyPr wrap="square" lIns="0" tIns="0" rIns="0" bIns="0" rtlCol="0" anchor="t"/>
          <a:lstStyle/>
          <a:p>
            <a:pPr marL="0" indent="0">
              <a:buNone/>
            </a:pPr>
            <a:r>
              <a:rPr lang="en-US" sz="1300" dirty="0">
                <a:solidFill>
                  <a:srgbClr val="1F2A24"/>
                </a:solidFill>
                <a:latin typeface="Calibri" pitchFamily="34" charset="0"/>
                <a:ea typeface="Calibri" pitchFamily="34" charset="-122"/>
                <a:cs typeface="Calibri" pitchFamily="34" charset="-120"/>
              </a:rPr>
              <a:t>Lista de puntos de reciclaje con su comuna, dirección y los materiales que reciben.</a:t>
            </a:r>
            <a:endParaRPr lang="en-US" sz="1300" dirty="0"/>
          </a:p>
        </p:txBody>
      </p:sp>
      <p:sp>
        <p:nvSpPr>
          <p:cNvPr id="8" name="Shape 5"/>
          <p:cNvSpPr/>
          <p:nvPr/>
        </p:nvSpPr>
        <p:spPr>
          <a:xfrm>
            <a:off x="3246120" y="1234440"/>
            <a:ext cx="2560320" cy="3200400"/>
          </a:xfrm>
          <a:prstGeom prst="roundRect">
            <a:avLst>
              <a:gd name="adj" fmla="val 4286"/>
            </a:avLst>
          </a:prstGeom>
          <a:solidFill>
            <a:srgbClr val="E8F5EE"/>
          </a:solidFill>
          <a:ln w="12700">
            <a:solidFill>
              <a:srgbClr val="E8F5EE"/>
            </a:solidFill>
            <a:prstDash val="solid"/>
          </a:ln>
        </p:spPr>
        <p:txBody>
          <a:bodyPr/>
          <a:lstStyle/>
          <a:p>
            <a:endParaRPr lang="es-CL"/>
          </a:p>
        </p:txBody>
      </p:sp>
      <p:sp>
        <p:nvSpPr>
          <p:cNvPr id="9" name="Shape 6"/>
          <p:cNvSpPr/>
          <p:nvPr/>
        </p:nvSpPr>
        <p:spPr>
          <a:xfrm>
            <a:off x="3520440" y="1508760"/>
            <a:ext cx="731520" cy="731520"/>
          </a:xfrm>
          <a:prstGeom prst="ellipse">
            <a:avLst/>
          </a:prstGeom>
          <a:solidFill>
            <a:srgbClr val="2D6A4F"/>
          </a:solidFill>
          <a:ln w="12700">
            <a:solidFill>
              <a:srgbClr val="2D6A4F"/>
            </a:solidFill>
            <a:prstDash val="solid"/>
          </a:ln>
        </p:spPr>
        <p:txBody>
          <a:bodyPr/>
          <a:lstStyle/>
          <a:p>
            <a:endParaRPr lang="es-CL"/>
          </a:p>
        </p:txBody>
      </p:sp>
      <p:pic>
        <p:nvPicPr>
          <p:cNvPr id="10" name="Image 1" descr="preencoded.png"/>
          <p:cNvPicPr>
            <a:picLocks noChangeAspect="1"/>
          </p:cNvPicPr>
          <p:nvPr/>
        </p:nvPicPr>
        <p:blipFill>
          <a:blip r:embed="rId4"/>
          <a:stretch>
            <a:fillRect/>
          </a:stretch>
        </p:blipFill>
        <p:spPr>
          <a:xfrm>
            <a:off x="3696005" y="1684325"/>
            <a:ext cx="380390" cy="380390"/>
          </a:xfrm>
          <a:prstGeom prst="rect">
            <a:avLst/>
          </a:prstGeom>
        </p:spPr>
      </p:pic>
      <p:sp>
        <p:nvSpPr>
          <p:cNvPr id="11" name="Text 7"/>
          <p:cNvSpPr txBox="1"/>
          <p:nvPr/>
        </p:nvSpPr>
        <p:spPr>
          <a:xfrm>
            <a:off x="3520440" y="2423160"/>
            <a:ext cx="2103120" cy="640080"/>
          </a:xfrm>
          <a:prstGeom prst="rect">
            <a:avLst/>
          </a:prstGeom>
          <a:noFill/>
          <a:ln/>
        </p:spPr>
        <p:txBody>
          <a:bodyPr wrap="square" lIns="0" tIns="0" rIns="0" bIns="0" rtlCol="0" anchor="t"/>
          <a:lstStyle/>
          <a:p>
            <a:pPr marL="0" indent="0">
              <a:buNone/>
            </a:pPr>
            <a:r>
              <a:rPr lang="en-US" sz="1700" b="1" dirty="0">
                <a:solidFill>
                  <a:srgbClr val="14342B"/>
                </a:solidFill>
                <a:latin typeface="Calibri" pitchFamily="34" charset="0"/>
                <a:ea typeface="Calibri" pitchFamily="34" charset="-122"/>
                <a:cs typeface="Calibri" pitchFamily="34" charset="-120"/>
              </a:rPr>
              <a:t>Reportar problemas</a:t>
            </a:r>
            <a:endParaRPr lang="en-US" sz="1700" dirty="0"/>
          </a:p>
        </p:txBody>
      </p:sp>
      <p:sp>
        <p:nvSpPr>
          <p:cNvPr id="12" name="Text 8"/>
          <p:cNvSpPr txBox="1"/>
          <p:nvPr/>
        </p:nvSpPr>
        <p:spPr>
          <a:xfrm>
            <a:off x="3520440" y="3108960"/>
            <a:ext cx="2011680" cy="1188720"/>
          </a:xfrm>
          <a:prstGeom prst="rect">
            <a:avLst/>
          </a:prstGeom>
          <a:noFill/>
          <a:ln/>
        </p:spPr>
        <p:txBody>
          <a:bodyPr wrap="square" lIns="0" tIns="0" rIns="0" bIns="0" rtlCol="0" anchor="t"/>
          <a:lstStyle/>
          <a:p>
            <a:pPr marL="0" indent="0">
              <a:buNone/>
            </a:pPr>
            <a:r>
              <a:rPr lang="en-US" sz="1300" dirty="0">
                <a:solidFill>
                  <a:srgbClr val="1F2A24"/>
                </a:solidFill>
                <a:latin typeface="Calibri" pitchFamily="34" charset="0"/>
                <a:ea typeface="Calibri" pitchFamily="34" charset="-122"/>
                <a:cs typeface="Calibri" pitchFamily="34" charset="-120"/>
              </a:rPr>
              <a:t>Un vecino autenticado reporta cuando un punto ya no recibe un material (por ejemplo, contenedor lleno).</a:t>
            </a:r>
            <a:endParaRPr lang="en-US" sz="1300" dirty="0"/>
          </a:p>
        </p:txBody>
      </p:sp>
      <p:sp>
        <p:nvSpPr>
          <p:cNvPr id="13" name="Shape 9"/>
          <p:cNvSpPr/>
          <p:nvPr/>
        </p:nvSpPr>
        <p:spPr>
          <a:xfrm>
            <a:off x="6035040" y="1234440"/>
            <a:ext cx="2560320" cy="3200400"/>
          </a:xfrm>
          <a:prstGeom prst="roundRect">
            <a:avLst>
              <a:gd name="adj" fmla="val 4286"/>
            </a:avLst>
          </a:prstGeom>
          <a:solidFill>
            <a:srgbClr val="E8F5EE"/>
          </a:solidFill>
          <a:ln w="12700">
            <a:solidFill>
              <a:srgbClr val="E8F5EE"/>
            </a:solidFill>
            <a:prstDash val="solid"/>
          </a:ln>
        </p:spPr>
        <p:txBody>
          <a:bodyPr/>
          <a:lstStyle/>
          <a:p>
            <a:endParaRPr lang="es-CL"/>
          </a:p>
        </p:txBody>
      </p:sp>
      <p:sp>
        <p:nvSpPr>
          <p:cNvPr id="14" name="Shape 10"/>
          <p:cNvSpPr/>
          <p:nvPr/>
        </p:nvSpPr>
        <p:spPr>
          <a:xfrm>
            <a:off x="6309360" y="1508760"/>
            <a:ext cx="731520" cy="731520"/>
          </a:xfrm>
          <a:prstGeom prst="ellipse">
            <a:avLst/>
          </a:prstGeom>
          <a:solidFill>
            <a:srgbClr val="2D6A4F"/>
          </a:solidFill>
          <a:ln w="12700">
            <a:solidFill>
              <a:srgbClr val="2D6A4F"/>
            </a:solidFill>
            <a:prstDash val="solid"/>
          </a:ln>
        </p:spPr>
        <p:txBody>
          <a:bodyPr/>
          <a:lstStyle/>
          <a:p>
            <a:endParaRPr lang="es-CL"/>
          </a:p>
        </p:txBody>
      </p:sp>
      <p:pic>
        <p:nvPicPr>
          <p:cNvPr id="15" name="Image 2" descr="preencoded.png"/>
          <p:cNvPicPr>
            <a:picLocks noChangeAspect="1"/>
          </p:cNvPicPr>
          <p:nvPr/>
        </p:nvPicPr>
        <p:blipFill>
          <a:blip r:embed="rId5"/>
          <a:stretch>
            <a:fillRect/>
          </a:stretch>
        </p:blipFill>
        <p:spPr>
          <a:xfrm>
            <a:off x="6484925" y="1684325"/>
            <a:ext cx="380390" cy="380390"/>
          </a:xfrm>
          <a:prstGeom prst="rect">
            <a:avLst/>
          </a:prstGeom>
        </p:spPr>
      </p:pic>
      <p:sp>
        <p:nvSpPr>
          <p:cNvPr id="16" name="Text 11"/>
          <p:cNvSpPr txBox="1"/>
          <p:nvPr/>
        </p:nvSpPr>
        <p:spPr>
          <a:xfrm>
            <a:off x="6309360" y="2423160"/>
            <a:ext cx="2103120" cy="640080"/>
          </a:xfrm>
          <a:prstGeom prst="rect">
            <a:avLst/>
          </a:prstGeom>
          <a:noFill/>
          <a:ln/>
        </p:spPr>
        <p:txBody>
          <a:bodyPr wrap="square" lIns="0" tIns="0" rIns="0" bIns="0" rtlCol="0" anchor="t"/>
          <a:lstStyle/>
          <a:p>
            <a:pPr marL="0" indent="0">
              <a:buNone/>
            </a:pPr>
            <a:r>
              <a:rPr lang="en-US" sz="1700" b="1" dirty="0">
                <a:solidFill>
                  <a:srgbClr val="14342B"/>
                </a:solidFill>
                <a:latin typeface="Calibri" pitchFamily="34" charset="0"/>
                <a:ea typeface="Calibri" pitchFamily="34" charset="-122"/>
                <a:cs typeface="Calibri" pitchFamily="34" charset="-120"/>
              </a:rPr>
              <a:t>Gestión por rol</a:t>
            </a:r>
            <a:endParaRPr lang="en-US" sz="1700" dirty="0"/>
          </a:p>
        </p:txBody>
      </p:sp>
      <p:sp>
        <p:nvSpPr>
          <p:cNvPr id="17" name="Text 12"/>
          <p:cNvSpPr txBox="1"/>
          <p:nvPr/>
        </p:nvSpPr>
        <p:spPr>
          <a:xfrm>
            <a:off x="6309360" y="3108960"/>
            <a:ext cx="2011680" cy="1188720"/>
          </a:xfrm>
          <a:prstGeom prst="rect">
            <a:avLst/>
          </a:prstGeom>
          <a:noFill/>
          <a:ln/>
        </p:spPr>
        <p:txBody>
          <a:bodyPr wrap="square" lIns="0" tIns="0" rIns="0" bIns="0" rtlCol="0" anchor="t"/>
          <a:lstStyle/>
          <a:p>
            <a:pPr marL="0" indent="0">
              <a:buNone/>
            </a:pPr>
            <a:r>
              <a:rPr lang="en-US" sz="1300" dirty="0">
                <a:solidFill>
                  <a:srgbClr val="1F2A24"/>
                </a:solidFill>
                <a:latin typeface="Calibri" pitchFamily="34" charset="0"/>
                <a:ea typeface="Calibri" pitchFamily="34" charset="-122"/>
                <a:cs typeface="Calibri" pitchFamily="34" charset="-120"/>
              </a:rPr>
              <a:t>Solo el rol ENCARGADO puede crear, editar o eliminar puntos limpios.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14342B"/>
                </a:solidFill>
                <a:latin typeface="Calibri" pitchFamily="34" charset="0"/>
                <a:ea typeface="Calibri" pitchFamily="34" charset="-122"/>
                <a:cs typeface="Calibri" pitchFamily="34" charset="-120"/>
              </a:rPr>
              <a:t>Arquitectura desplegada</a:t>
            </a:r>
            <a:endParaRPr lang="en-US" sz="3000" dirty="0"/>
          </a:p>
        </p:txBody>
      </p:sp>
      <p:sp>
        <p:nvSpPr>
          <p:cNvPr id="3" name="Shape 1"/>
          <p:cNvSpPr/>
          <p:nvPr/>
        </p:nvSpPr>
        <p:spPr>
          <a:xfrm>
            <a:off x="411480" y="2514600"/>
            <a:ext cx="1481328" cy="1783080"/>
          </a:xfrm>
          <a:prstGeom prst="roundRect">
            <a:avLst>
              <a:gd name="adj" fmla="val 6173"/>
            </a:avLst>
          </a:prstGeom>
          <a:solidFill>
            <a:srgbClr val="FFFFFF"/>
          </a:solidFill>
          <a:ln w="12700">
            <a:solidFill>
              <a:srgbClr val="D5E8DD"/>
            </a:solidFill>
            <a:prstDash val="solid"/>
          </a:ln>
          <a:effectLst>
            <a:outerShdw blurRad="76200" dist="25400" dir="5400000" algn="bl" rotWithShape="0">
              <a:srgbClr val="000000">
                <a:alpha val="15000"/>
              </a:srgbClr>
            </a:outerShdw>
          </a:effectLst>
        </p:spPr>
        <p:txBody>
          <a:bodyPr/>
          <a:lstStyle/>
          <a:p>
            <a:endParaRPr lang="es-CL"/>
          </a:p>
        </p:txBody>
      </p:sp>
      <p:sp>
        <p:nvSpPr>
          <p:cNvPr id="4" name="Shape 2"/>
          <p:cNvSpPr/>
          <p:nvPr/>
        </p:nvSpPr>
        <p:spPr>
          <a:xfrm>
            <a:off x="877824" y="2679192"/>
            <a:ext cx="548640" cy="548640"/>
          </a:xfrm>
          <a:prstGeom prst="ellipse">
            <a:avLst/>
          </a:prstGeom>
          <a:solidFill>
            <a:srgbClr val="2D6A4F"/>
          </a:solidFill>
          <a:ln w="12700">
            <a:solidFill>
              <a:srgbClr val="2D6A4F"/>
            </a:solidFill>
            <a:prstDash val="solid"/>
          </a:ln>
        </p:spPr>
        <p:txBody>
          <a:bodyPr/>
          <a:lstStyle/>
          <a:p>
            <a:endParaRPr lang="es-CL"/>
          </a:p>
        </p:txBody>
      </p:sp>
      <p:pic>
        <p:nvPicPr>
          <p:cNvPr id="5" name="Image 0" descr="preencoded.png"/>
          <p:cNvPicPr>
            <a:picLocks noChangeAspect="1"/>
          </p:cNvPicPr>
          <p:nvPr/>
        </p:nvPicPr>
        <p:blipFill>
          <a:blip r:embed="rId3"/>
          <a:stretch>
            <a:fillRect/>
          </a:stretch>
        </p:blipFill>
        <p:spPr>
          <a:xfrm>
            <a:off x="1009498" y="2810866"/>
            <a:ext cx="285293" cy="285293"/>
          </a:xfrm>
          <a:prstGeom prst="rect">
            <a:avLst/>
          </a:prstGeom>
        </p:spPr>
      </p:pic>
      <p:sp>
        <p:nvSpPr>
          <p:cNvPr id="6" name="Text 3"/>
          <p:cNvSpPr txBox="1"/>
          <p:nvPr/>
        </p:nvSpPr>
        <p:spPr>
          <a:xfrm>
            <a:off x="411480" y="3291840"/>
            <a:ext cx="1481328" cy="320040"/>
          </a:xfrm>
          <a:prstGeom prst="rect">
            <a:avLst/>
          </a:prstGeom>
          <a:noFill/>
          <a:ln/>
        </p:spPr>
        <p:txBody>
          <a:bodyPr wrap="square" lIns="0" tIns="0" rIns="0" bIns="0" rtlCol="0" anchor="ctr"/>
          <a:lstStyle/>
          <a:p>
            <a:pPr marL="0" indent="0" algn="ctr">
              <a:buNone/>
            </a:pPr>
            <a:r>
              <a:rPr lang="en-US" sz="1400" b="1" dirty="0">
                <a:solidFill>
                  <a:srgbClr val="14342B"/>
                </a:solidFill>
                <a:latin typeface="Calibri" pitchFamily="34" charset="0"/>
                <a:ea typeface="Calibri" pitchFamily="34" charset="-122"/>
                <a:cs typeface="Calibri" pitchFamily="34" charset="-120"/>
              </a:rPr>
              <a:t>Usuario</a:t>
            </a:r>
            <a:endParaRPr lang="en-US" sz="1400" dirty="0"/>
          </a:p>
        </p:txBody>
      </p:sp>
      <p:sp>
        <p:nvSpPr>
          <p:cNvPr id="7" name="Text 4"/>
          <p:cNvSpPr txBox="1"/>
          <p:nvPr/>
        </p:nvSpPr>
        <p:spPr>
          <a:xfrm>
            <a:off x="457200" y="3611880"/>
            <a:ext cx="1389888" cy="594360"/>
          </a:xfrm>
          <a:prstGeom prst="rect">
            <a:avLst/>
          </a:prstGeom>
          <a:noFill/>
          <a:ln/>
        </p:spPr>
        <p:txBody>
          <a:bodyPr wrap="square" lIns="0" tIns="0" rIns="0" bIns="0" rtlCol="0" anchor="ctr"/>
          <a:lstStyle/>
          <a:p>
            <a:pPr marL="0" indent="0" algn="ctr">
              <a:buNone/>
            </a:pPr>
            <a:r>
              <a:rPr lang="en-US" sz="1000" dirty="0">
                <a:solidFill>
                  <a:srgbClr val="5C6B63"/>
                </a:solidFill>
                <a:latin typeface="Calibri" pitchFamily="34" charset="0"/>
                <a:ea typeface="Calibri" pitchFamily="34" charset="-122"/>
                <a:cs typeface="Calibri" pitchFamily="34" charset="-120"/>
              </a:rPr>
              <a:t>Navegador</a:t>
            </a:r>
            <a:endParaRPr lang="en-US" sz="1000" dirty="0"/>
          </a:p>
        </p:txBody>
      </p:sp>
      <p:sp>
        <p:nvSpPr>
          <p:cNvPr id="8" name="Shape 5"/>
          <p:cNvSpPr/>
          <p:nvPr/>
        </p:nvSpPr>
        <p:spPr>
          <a:xfrm>
            <a:off x="1920240" y="3406140"/>
            <a:ext cx="219456" cy="0"/>
          </a:xfrm>
          <a:prstGeom prst="line">
            <a:avLst/>
          </a:prstGeom>
          <a:noFill/>
          <a:ln w="25400">
            <a:solidFill>
              <a:srgbClr val="2D6A4F"/>
            </a:solidFill>
            <a:prstDash val="solid"/>
            <a:tailEnd type="triangle"/>
          </a:ln>
        </p:spPr>
        <p:txBody>
          <a:bodyPr/>
          <a:lstStyle/>
          <a:p>
            <a:endParaRPr lang="es-CL"/>
          </a:p>
        </p:txBody>
      </p:sp>
      <p:sp>
        <p:nvSpPr>
          <p:cNvPr id="9" name="Shape 6"/>
          <p:cNvSpPr/>
          <p:nvPr/>
        </p:nvSpPr>
        <p:spPr>
          <a:xfrm>
            <a:off x="2167128" y="2514600"/>
            <a:ext cx="1481328" cy="1783080"/>
          </a:xfrm>
          <a:prstGeom prst="roundRect">
            <a:avLst>
              <a:gd name="adj" fmla="val 6173"/>
            </a:avLst>
          </a:prstGeom>
          <a:solidFill>
            <a:srgbClr val="FFFFFF"/>
          </a:solidFill>
          <a:ln w="12700">
            <a:solidFill>
              <a:srgbClr val="D5E8DD"/>
            </a:solidFill>
            <a:prstDash val="solid"/>
          </a:ln>
          <a:effectLst>
            <a:outerShdw blurRad="76200" dist="25400" dir="5400000" algn="bl" rotWithShape="0">
              <a:srgbClr val="000000">
                <a:alpha val="15000"/>
              </a:srgbClr>
            </a:outerShdw>
          </a:effectLst>
        </p:spPr>
        <p:txBody>
          <a:bodyPr/>
          <a:lstStyle/>
          <a:p>
            <a:endParaRPr lang="es-CL"/>
          </a:p>
        </p:txBody>
      </p:sp>
      <p:sp>
        <p:nvSpPr>
          <p:cNvPr id="10" name="Shape 7"/>
          <p:cNvSpPr/>
          <p:nvPr/>
        </p:nvSpPr>
        <p:spPr>
          <a:xfrm>
            <a:off x="2633472" y="2679192"/>
            <a:ext cx="548640" cy="548640"/>
          </a:xfrm>
          <a:prstGeom prst="ellipse">
            <a:avLst/>
          </a:prstGeom>
          <a:solidFill>
            <a:srgbClr val="2D6A4F"/>
          </a:solidFill>
          <a:ln w="12700">
            <a:solidFill>
              <a:srgbClr val="2D6A4F"/>
            </a:solidFill>
            <a:prstDash val="solid"/>
          </a:ln>
        </p:spPr>
        <p:txBody>
          <a:bodyPr/>
          <a:lstStyle/>
          <a:p>
            <a:endParaRPr lang="es-CL"/>
          </a:p>
        </p:txBody>
      </p:sp>
      <p:pic>
        <p:nvPicPr>
          <p:cNvPr id="11" name="Image 1" descr="preencoded.png"/>
          <p:cNvPicPr>
            <a:picLocks noChangeAspect="1"/>
          </p:cNvPicPr>
          <p:nvPr/>
        </p:nvPicPr>
        <p:blipFill>
          <a:blip r:embed="rId4"/>
          <a:stretch>
            <a:fillRect/>
          </a:stretch>
        </p:blipFill>
        <p:spPr>
          <a:xfrm>
            <a:off x="2765146" y="2810866"/>
            <a:ext cx="285293" cy="285293"/>
          </a:xfrm>
          <a:prstGeom prst="rect">
            <a:avLst/>
          </a:prstGeom>
        </p:spPr>
      </p:pic>
      <p:sp>
        <p:nvSpPr>
          <p:cNvPr id="12" name="Text 8"/>
          <p:cNvSpPr txBox="1"/>
          <p:nvPr/>
        </p:nvSpPr>
        <p:spPr>
          <a:xfrm>
            <a:off x="2167128" y="3291840"/>
            <a:ext cx="1481328" cy="320040"/>
          </a:xfrm>
          <a:prstGeom prst="rect">
            <a:avLst/>
          </a:prstGeom>
          <a:noFill/>
          <a:ln/>
        </p:spPr>
        <p:txBody>
          <a:bodyPr wrap="square" lIns="0" tIns="0" rIns="0" bIns="0" rtlCol="0" anchor="ctr"/>
          <a:lstStyle/>
          <a:p>
            <a:pPr marL="0" indent="0" algn="ctr">
              <a:buNone/>
            </a:pPr>
            <a:r>
              <a:rPr lang="en-US" sz="1400" b="1" dirty="0">
                <a:solidFill>
                  <a:srgbClr val="14342B"/>
                </a:solidFill>
                <a:latin typeface="Calibri" pitchFamily="34" charset="0"/>
                <a:ea typeface="Calibri" pitchFamily="34" charset="-122"/>
                <a:cs typeface="Calibri" pitchFamily="34" charset="-120"/>
              </a:rPr>
              <a:t>Frontend</a:t>
            </a:r>
            <a:endParaRPr lang="en-US" sz="1400" dirty="0"/>
          </a:p>
        </p:txBody>
      </p:sp>
      <p:sp>
        <p:nvSpPr>
          <p:cNvPr id="13" name="Text 9"/>
          <p:cNvSpPr txBox="1"/>
          <p:nvPr/>
        </p:nvSpPr>
        <p:spPr>
          <a:xfrm>
            <a:off x="2212848" y="3611880"/>
            <a:ext cx="1389888" cy="594360"/>
          </a:xfrm>
          <a:prstGeom prst="rect">
            <a:avLst/>
          </a:prstGeom>
          <a:noFill/>
          <a:ln/>
        </p:spPr>
        <p:txBody>
          <a:bodyPr wrap="square" lIns="0" tIns="0" rIns="0" bIns="0" rtlCol="0" anchor="ctr"/>
          <a:lstStyle/>
          <a:p>
            <a:pPr marL="0" indent="0" algn="ctr">
              <a:buNone/>
            </a:pPr>
            <a:r>
              <a:rPr lang="en-US" sz="1000" dirty="0">
                <a:solidFill>
                  <a:srgbClr val="5C6B63"/>
                </a:solidFill>
                <a:latin typeface="Calibri" pitchFamily="34" charset="0"/>
                <a:ea typeface="Calibri" pitchFamily="34" charset="-122"/>
                <a:cs typeface="Calibri" pitchFamily="34" charset="-120"/>
              </a:rPr>
              <a:t>Angular + MSAL</a:t>
            </a:r>
            <a:endParaRPr lang="en-US" sz="1000" dirty="0"/>
          </a:p>
          <a:p>
            <a:pPr marL="0" indent="0" algn="ctr">
              <a:buNone/>
            </a:pPr>
            <a:r>
              <a:rPr lang="en-US" sz="1000" dirty="0">
                <a:solidFill>
                  <a:srgbClr val="5C6B63"/>
                </a:solidFill>
                <a:latin typeface="Calibri" pitchFamily="34" charset="0"/>
                <a:ea typeface="Calibri" pitchFamily="34" charset="-122"/>
                <a:cs typeface="Calibri" pitchFamily="34" charset="-120"/>
              </a:rPr>
              <a:t>nginx · EC2 · HTTPS</a:t>
            </a:r>
            <a:endParaRPr lang="en-US" sz="1000" dirty="0"/>
          </a:p>
        </p:txBody>
      </p:sp>
      <p:sp>
        <p:nvSpPr>
          <p:cNvPr id="14" name="Shape 10"/>
          <p:cNvSpPr/>
          <p:nvPr/>
        </p:nvSpPr>
        <p:spPr>
          <a:xfrm>
            <a:off x="3675888" y="3406140"/>
            <a:ext cx="219456" cy="0"/>
          </a:xfrm>
          <a:prstGeom prst="line">
            <a:avLst/>
          </a:prstGeom>
          <a:noFill/>
          <a:ln w="25400">
            <a:solidFill>
              <a:srgbClr val="2D6A4F"/>
            </a:solidFill>
            <a:prstDash val="solid"/>
            <a:tailEnd type="triangle"/>
          </a:ln>
        </p:spPr>
        <p:txBody>
          <a:bodyPr/>
          <a:lstStyle/>
          <a:p>
            <a:endParaRPr lang="es-CL"/>
          </a:p>
        </p:txBody>
      </p:sp>
      <p:sp>
        <p:nvSpPr>
          <p:cNvPr id="15" name="Shape 11"/>
          <p:cNvSpPr/>
          <p:nvPr/>
        </p:nvSpPr>
        <p:spPr>
          <a:xfrm>
            <a:off x="3922776" y="2514600"/>
            <a:ext cx="1481328" cy="1783080"/>
          </a:xfrm>
          <a:prstGeom prst="roundRect">
            <a:avLst>
              <a:gd name="adj" fmla="val 6173"/>
            </a:avLst>
          </a:prstGeom>
          <a:solidFill>
            <a:srgbClr val="FFFFFF"/>
          </a:solidFill>
          <a:ln w="12700">
            <a:solidFill>
              <a:srgbClr val="D5E8DD"/>
            </a:solidFill>
            <a:prstDash val="solid"/>
          </a:ln>
          <a:effectLst>
            <a:outerShdw blurRad="76200" dist="25400" dir="5400000" algn="bl" rotWithShape="0">
              <a:srgbClr val="000000">
                <a:alpha val="15000"/>
              </a:srgbClr>
            </a:outerShdw>
          </a:effectLst>
        </p:spPr>
        <p:txBody>
          <a:bodyPr/>
          <a:lstStyle/>
          <a:p>
            <a:endParaRPr lang="es-CL"/>
          </a:p>
        </p:txBody>
      </p:sp>
      <p:sp>
        <p:nvSpPr>
          <p:cNvPr id="16" name="Shape 12"/>
          <p:cNvSpPr/>
          <p:nvPr/>
        </p:nvSpPr>
        <p:spPr>
          <a:xfrm>
            <a:off x="4389120" y="2679192"/>
            <a:ext cx="548640" cy="548640"/>
          </a:xfrm>
          <a:prstGeom prst="ellipse">
            <a:avLst/>
          </a:prstGeom>
          <a:solidFill>
            <a:srgbClr val="2D6A4F"/>
          </a:solidFill>
          <a:ln w="12700">
            <a:solidFill>
              <a:srgbClr val="2D6A4F"/>
            </a:solidFill>
            <a:prstDash val="solid"/>
          </a:ln>
        </p:spPr>
        <p:txBody>
          <a:bodyPr/>
          <a:lstStyle/>
          <a:p>
            <a:endParaRPr lang="es-CL"/>
          </a:p>
        </p:txBody>
      </p:sp>
      <p:pic>
        <p:nvPicPr>
          <p:cNvPr id="17" name="Image 2" descr="preencoded.png"/>
          <p:cNvPicPr>
            <a:picLocks noChangeAspect="1"/>
          </p:cNvPicPr>
          <p:nvPr/>
        </p:nvPicPr>
        <p:blipFill>
          <a:blip r:embed="rId5"/>
          <a:stretch>
            <a:fillRect/>
          </a:stretch>
        </p:blipFill>
        <p:spPr>
          <a:xfrm>
            <a:off x="4520794" y="2810866"/>
            <a:ext cx="285293" cy="285293"/>
          </a:xfrm>
          <a:prstGeom prst="rect">
            <a:avLst/>
          </a:prstGeom>
        </p:spPr>
      </p:pic>
      <p:sp>
        <p:nvSpPr>
          <p:cNvPr id="18" name="Text 13"/>
          <p:cNvSpPr txBox="1"/>
          <p:nvPr/>
        </p:nvSpPr>
        <p:spPr>
          <a:xfrm>
            <a:off x="3922776" y="3291840"/>
            <a:ext cx="1481328" cy="320040"/>
          </a:xfrm>
          <a:prstGeom prst="rect">
            <a:avLst/>
          </a:prstGeom>
          <a:noFill/>
          <a:ln/>
        </p:spPr>
        <p:txBody>
          <a:bodyPr wrap="square" lIns="0" tIns="0" rIns="0" bIns="0" rtlCol="0" anchor="ctr"/>
          <a:lstStyle/>
          <a:p>
            <a:pPr marL="0" indent="0" algn="ctr">
              <a:buNone/>
            </a:pPr>
            <a:r>
              <a:rPr lang="en-US" sz="1400" b="1" dirty="0">
                <a:solidFill>
                  <a:srgbClr val="14342B"/>
                </a:solidFill>
                <a:latin typeface="Calibri" pitchFamily="34" charset="0"/>
                <a:ea typeface="Calibri" pitchFamily="34" charset="-122"/>
                <a:cs typeface="Calibri" pitchFamily="34" charset="-120"/>
              </a:rPr>
              <a:t>API Gateway</a:t>
            </a:r>
            <a:endParaRPr lang="en-US" sz="1400" dirty="0"/>
          </a:p>
        </p:txBody>
      </p:sp>
      <p:sp>
        <p:nvSpPr>
          <p:cNvPr id="19" name="Text 14"/>
          <p:cNvSpPr txBox="1"/>
          <p:nvPr/>
        </p:nvSpPr>
        <p:spPr>
          <a:xfrm>
            <a:off x="3968496" y="3611880"/>
            <a:ext cx="1389888" cy="594360"/>
          </a:xfrm>
          <a:prstGeom prst="rect">
            <a:avLst/>
          </a:prstGeom>
          <a:noFill/>
          <a:ln/>
        </p:spPr>
        <p:txBody>
          <a:bodyPr wrap="square" lIns="0" tIns="0" rIns="0" bIns="0" rtlCol="0" anchor="ctr"/>
          <a:lstStyle/>
          <a:p>
            <a:pPr marL="0" indent="0" algn="ctr">
              <a:buNone/>
            </a:pPr>
            <a:r>
              <a:rPr lang="en-US" sz="1000" dirty="0">
                <a:solidFill>
                  <a:srgbClr val="5C6B63"/>
                </a:solidFill>
                <a:latin typeface="Calibri" pitchFamily="34" charset="0"/>
                <a:ea typeface="Calibri" pitchFamily="34" charset="-122"/>
                <a:cs typeface="Calibri" pitchFamily="34" charset="-120"/>
              </a:rPr>
              <a:t>HTTP API</a:t>
            </a:r>
            <a:endParaRPr lang="en-US" sz="1000" dirty="0"/>
          </a:p>
          <a:p>
            <a:pPr marL="0" indent="0" algn="ctr">
              <a:buNone/>
            </a:pPr>
            <a:r>
              <a:rPr lang="en-US" sz="1000" dirty="0">
                <a:solidFill>
                  <a:srgbClr val="5C6B63"/>
                </a:solidFill>
                <a:latin typeface="Calibri" pitchFamily="34" charset="0"/>
                <a:ea typeface="Calibri" pitchFamily="34" charset="-122"/>
                <a:cs typeface="Calibri" pitchFamily="34" charset="-120"/>
              </a:rPr>
              <a:t>JWT authorizer + CORS</a:t>
            </a:r>
            <a:endParaRPr lang="en-US" sz="1000" dirty="0"/>
          </a:p>
        </p:txBody>
      </p:sp>
      <p:sp>
        <p:nvSpPr>
          <p:cNvPr id="20" name="Shape 15"/>
          <p:cNvSpPr/>
          <p:nvPr/>
        </p:nvSpPr>
        <p:spPr>
          <a:xfrm>
            <a:off x="5431536" y="3406140"/>
            <a:ext cx="219456" cy="0"/>
          </a:xfrm>
          <a:prstGeom prst="line">
            <a:avLst/>
          </a:prstGeom>
          <a:noFill/>
          <a:ln w="25400">
            <a:solidFill>
              <a:srgbClr val="2D6A4F"/>
            </a:solidFill>
            <a:prstDash val="solid"/>
            <a:tailEnd type="triangle"/>
          </a:ln>
        </p:spPr>
        <p:txBody>
          <a:bodyPr/>
          <a:lstStyle/>
          <a:p>
            <a:endParaRPr lang="es-CL"/>
          </a:p>
        </p:txBody>
      </p:sp>
      <p:sp>
        <p:nvSpPr>
          <p:cNvPr id="21" name="Shape 16"/>
          <p:cNvSpPr/>
          <p:nvPr/>
        </p:nvSpPr>
        <p:spPr>
          <a:xfrm>
            <a:off x="5678424" y="2514600"/>
            <a:ext cx="1481328" cy="1783080"/>
          </a:xfrm>
          <a:prstGeom prst="roundRect">
            <a:avLst>
              <a:gd name="adj" fmla="val 6173"/>
            </a:avLst>
          </a:prstGeom>
          <a:solidFill>
            <a:srgbClr val="FFFFFF"/>
          </a:solidFill>
          <a:ln w="12700">
            <a:solidFill>
              <a:srgbClr val="D5E8DD"/>
            </a:solidFill>
            <a:prstDash val="solid"/>
          </a:ln>
          <a:effectLst>
            <a:outerShdw blurRad="76200" dist="25400" dir="5400000" algn="bl" rotWithShape="0">
              <a:srgbClr val="000000">
                <a:alpha val="15000"/>
              </a:srgbClr>
            </a:outerShdw>
          </a:effectLst>
        </p:spPr>
        <p:txBody>
          <a:bodyPr/>
          <a:lstStyle/>
          <a:p>
            <a:endParaRPr lang="es-CL"/>
          </a:p>
        </p:txBody>
      </p:sp>
      <p:sp>
        <p:nvSpPr>
          <p:cNvPr id="22" name="Shape 17"/>
          <p:cNvSpPr/>
          <p:nvPr/>
        </p:nvSpPr>
        <p:spPr>
          <a:xfrm>
            <a:off x="6144768" y="2679192"/>
            <a:ext cx="548640" cy="548640"/>
          </a:xfrm>
          <a:prstGeom prst="ellipse">
            <a:avLst/>
          </a:prstGeom>
          <a:solidFill>
            <a:srgbClr val="2D6A4F"/>
          </a:solidFill>
          <a:ln w="12700">
            <a:solidFill>
              <a:srgbClr val="2D6A4F"/>
            </a:solidFill>
            <a:prstDash val="solid"/>
          </a:ln>
        </p:spPr>
        <p:txBody>
          <a:bodyPr/>
          <a:lstStyle/>
          <a:p>
            <a:endParaRPr lang="es-CL"/>
          </a:p>
        </p:txBody>
      </p:sp>
      <p:pic>
        <p:nvPicPr>
          <p:cNvPr id="23" name="Image 3" descr="preencoded.png"/>
          <p:cNvPicPr>
            <a:picLocks noChangeAspect="1"/>
          </p:cNvPicPr>
          <p:nvPr/>
        </p:nvPicPr>
        <p:blipFill>
          <a:blip r:embed="rId6"/>
          <a:stretch>
            <a:fillRect/>
          </a:stretch>
        </p:blipFill>
        <p:spPr>
          <a:xfrm>
            <a:off x="6276442" y="2810866"/>
            <a:ext cx="285293" cy="285293"/>
          </a:xfrm>
          <a:prstGeom prst="rect">
            <a:avLst/>
          </a:prstGeom>
        </p:spPr>
      </p:pic>
      <p:sp>
        <p:nvSpPr>
          <p:cNvPr id="24" name="Text 18"/>
          <p:cNvSpPr txBox="1"/>
          <p:nvPr/>
        </p:nvSpPr>
        <p:spPr>
          <a:xfrm>
            <a:off x="5678424" y="3291840"/>
            <a:ext cx="1481328" cy="320040"/>
          </a:xfrm>
          <a:prstGeom prst="rect">
            <a:avLst/>
          </a:prstGeom>
          <a:noFill/>
          <a:ln/>
        </p:spPr>
        <p:txBody>
          <a:bodyPr wrap="square" lIns="0" tIns="0" rIns="0" bIns="0" rtlCol="0" anchor="ctr"/>
          <a:lstStyle/>
          <a:p>
            <a:pPr marL="0" indent="0" algn="ctr">
              <a:buNone/>
            </a:pPr>
            <a:r>
              <a:rPr lang="en-US" sz="1400" b="1" dirty="0">
                <a:solidFill>
                  <a:srgbClr val="14342B"/>
                </a:solidFill>
                <a:latin typeface="Calibri" pitchFamily="34" charset="0"/>
                <a:ea typeface="Calibri" pitchFamily="34" charset="-122"/>
                <a:cs typeface="Calibri" pitchFamily="34" charset="-120"/>
              </a:rPr>
              <a:t>Backend</a:t>
            </a:r>
            <a:endParaRPr lang="en-US" sz="1400" dirty="0"/>
          </a:p>
        </p:txBody>
      </p:sp>
      <p:sp>
        <p:nvSpPr>
          <p:cNvPr id="25" name="Text 19"/>
          <p:cNvSpPr txBox="1"/>
          <p:nvPr/>
        </p:nvSpPr>
        <p:spPr>
          <a:xfrm>
            <a:off x="5724144" y="3611880"/>
            <a:ext cx="1389888" cy="594360"/>
          </a:xfrm>
          <a:prstGeom prst="rect">
            <a:avLst/>
          </a:prstGeom>
          <a:noFill/>
          <a:ln/>
        </p:spPr>
        <p:txBody>
          <a:bodyPr wrap="square" lIns="0" tIns="0" rIns="0" bIns="0" rtlCol="0" anchor="ctr"/>
          <a:lstStyle/>
          <a:p>
            <a:pPr marL="0" indent="0" algn="ctr">
              <a:buNone/>
            </a:pPr>
            <a:r>
              <a:rPr lang="en-US" sz="1000" dirty="0">
                <a:solidFill>
                  <a:srgbClr val="5C6B63"/>
                </a:solidFill>
                <a:latin typeface="Calibri" pitchFamily="34" charset="0"/>
                <a:ea typeface="Calibri" pitchFamily="34" charset="-122"/>
                <a:cs typeface="Calibri" pitchFamily="34" charset="-120"/>
              </a:rPr>
              <a:t>Spring Boot</a:t>
            </a:r>
            <a:endParaRPr lang="en-US" sz="1000" dirty="0"/>
          </a:p>
          <a:p>
            <a:pPr marL="0" indent="0" algn="ctr">
              <a:buNone/>
            </a:pPr>
            <a:r>
              <a:rPr lang="en-US" sz="1000" dirty="0">
                <a:solidFill>
                  <a:srgbClr val="5C6B63"/>
                </a:solidFill>
                <a:latin typeface="Calibri" pitchFamily="34" charset="0"/>
                <a:ea typeface="Calibri" pitchFamily="34" charset="-122"/>
                <a:cs typeface="Calibri" pitchFamily="34" charset="-120"/>
              </a:rPr>
              <a:t>Docker · EC2</a:t>
            </a:r>
            <a:endParaRPr lang="en-US" sz="1000" dirty="0"/>
          </a:p>
        </p:txBody>
      </p:sp>
      <p:sp>
        <p:nvSpPr>
          <p:cNvPr id="26" name="Shape 20"/>
          <p:cNvSpPr/>
          <p:nvPr/>
        </p:nvSpPr>
        <p:spPr>
          <a:xfrm>
            <a:off x="7187184" y="3406140"/>
            <a:ext cx="219456" cy="0"/>
          </a:xfrm>
          <a:prstGeom prst="line">
            <a:avLst/>
          </a:prstGeom>
          <a:noFill/>
          <a:ln w="25400">
            <a:solidFill>
              <a:srgbClr val="2D6A4F"/>
            </a:solidFill>
            <a:prstDash val="solid"/>
            <a:tailEnd type="triangle"/>
          </a:ln>
        </p:spPr>
        <p:txBody>
          <a:bodyPr/>
          <a:lstStyle/>
          <a:p>
            <a:endParaRPr lang="es-CL"/>
          </a:p>
        </p:txBody>
      </p:sp>
      <p:sp>
        <p:nvSpPr>
          <p:cNvPr id="27" name="Shape 21"/>
          <p:cNvSpPr/>
          <p:nvPr/>
        </p:nvSpPr>
        <p:spPr>
          <a:xfrm>
            <a:off x="7434072" y="2514600"/>
            <a:ext cx="1481328" cy="1783080"/>
          </a:xfrm>
          <a:prstGeom prst="roundRect">
            <a:avLst>
              <a:gd name="adj" fmla="val 6173"/>
            </a:avLst>
          </a:prstGeom>
          <a:solidFill>
            <a:srgbClr val="FFFFFF"/>
          </a:solidFill>
          <a:ln w="12700">
            <a:solidFill>
              <a:srgbClr val="D5E8DD"/>
            </a:solidFill>
            <a:prstDash val="solid"/>
          </a:ln>
          <a:effectLst>
            <a:outerShdw blurRad="76200" dist="25400" dir="5400000" algn="bl" rotWithShape="0">
              <a:srgbClr val="000000">
                <a:alpha val="15000"/>
              </a:srgbClr>
            </a:outerShdw>
          </a:effectLst>
        </p:spPr>
        <p:txBody>
          <a:bodyPr/>
          <a:lstStyle/>
          <a:p>
            <a:endParaRPr lang="es-CL"/>
          </a:p>
        </p:txBody>
      </p:sp>
      <p:sp>
        <p:nvSpPr>
          <p:cNvPr id="28" name="Shape 22"/>
          <p:cNvSpPr/>
          <p:nvPr/>
        </p:nvSpPr>
        <p:spPr>
          <a:xfrm>
            <a:off x="7900416" y="2679192"/>
            <a:ext cx="548640" cy="548640"/>
          </a:xfrm>
          <a:prstGeom prst="ellipse">
            <a:avLst/>
          </a:prstGeom>
          <a:solidFill>
            <a:srgbClr val="2D6A4F"/>
          </a:solidFill>
          <a:ln w="12700">
            <a:solidFill>
              <a:srgbClr val="2D6A4F"/>
            </a:solidFill>
            <a:prstDash val="solid"/>
          </a:ln>
        </p:spPr>
        <p:txBody>
          <a:bodyPr/>
          <a:lstStyle/>
          <a:p>
            <a:endParaRPr lang="es-CL"/>
          </a:p>
        </p:txBody>
      </p:sp>
      <p:pic>
        <p:nvPicPr>
          <p:cNvPr id="29" name="Image 4" descr="preencoded.png"/>
          <p:cNvPicPr>
            <a:picLocks noChangeAspect="1"/>
          </p:cNvPicPr>
          <p:nvPr/>
        </p:nvPicPr>
        <p:blipFill>
          <a:blip r:embed="rId7"/>
          <a:stretch>
            <a:fillRect/>
          </a:stretch>
        </p:blipFill>
        <p:spPr>
          <a:xfrm>
            <a:off x="8032090" y="2810866"/>
            <a:ext cx="285293" cy="285293"/>
          </a:xfrm>
          <a:prstGeom prst="rect">
            <a:avLst/>
          </a:prstGeom>
        </p:spPr>
      </p:pic>
      <p:sp>
        <p:nvSpPr>
          <p:cNvPr id="30" name="Text 23"/>
          <p:cNvSpPr txBox="1"/>
          <p:nvPr/>
        </p:nvSpPr>
        <p:spPr>
          <a:xfrm>
            <a:off x="7434072" y="3291840"/>
            <a:ext cx="1481328" cy="320040"/>
          </a:xfrm>
          <a:prstGeom prst="rect">
            <a:avLst/>
          </a:prstGeom>
          <a:noFill/>
          <a:ln/>
        </p:spPr>
        <p:txBody>
          <a:bodyPr wrap="square" lIns="0" tIns="0" rIns="0" bIns="0" rtlCol="0" anchor="ctr"/>
          <a:lstStyle/>
          <a:p>
            <a:pPr marL="0" indent="0" algn="ctr">
              <a:buNone/>
            </a:pPr>
            <a:r>
              <a:rPr lang="en-US" sz="1400" b="1" dirty="0">
                <a:solidFill>
                  <a:srgbClr val="14342B"/>
                </a:solidFill>
                <a:latin typeface="Calibri" pitchFamily="34" charset="0"/>
                <a:ea typeface="Calibri" pitchFamily="34" charset="-122"/>
                <a:cs typeface="Calibri" pitchFamily="34" charset="-120"/>
              </a:rPr>
              <a:t>PostgreSQL</a:t>
            </a:r>
            <a:endParaRPr lang="en-US" sz="1400" dirty="0"/>
          </a:p>
        </p:txBody>
      </p:sp>
      <p:sp>
        <p:nvSpPr>
          <p:cNvPr id="31" name="Text 24"/>
          <p:cNvSpPr txBox="1"/>
          <p:nvPr/>
        </p:nvSpPr>
        <p:spPr>
          <a:xfrm>
            <a:off x="7479792" y="3611880"/>
            <a:ext cx="1389888" cy="594360"/>
          </a:xfrm>
          <a:prstGeom prst="rect">
            <a:avLst/>
          </a:prstGeom>
          <a:noFill/>
          <a:ln/>
        </p:spPr>
        <p:txBody>
          <a:bodyPr wrap="square" lIns="0" tIns="0" rIns="0" bIns="0" rtlCol="0" anchor="ctr"/>
          <a:lstStyle/>
          <a:p>
            <a:pPr marL="0" indent="0" algn="ctr">
              <a:buNone/>
            </a:pPr>
            <a:r>
              <a:rPr lang="en-US" sz="1000" dirty="0">
                <a:solidFill>
                  <a:srgbClr val="5C6B63"/>
                </a:solidFill>
                <a:latin typeface="Calibri" pitchFamily="34" charset="0"/>
                <a:ea typeface="Calibri" pitchFamily="34" charset="-122"/>
                <a:cs typeface="Calibri" pitchFamily="34" charset="-120"/>
              </a:rPr>
              <a:t>Docker · volumen</a:t>
            </a:r>
            <a:endParaRPr lang="en-US" sz="1000" dirty="0"/>
          </a:p>
          <a:p>
            <a:pPr marL="0" indent="0" algn="ctr">
              <a:buNone/>
            </a:pPr>
            <a:r>
              <a:rPr lang="en-US" sz="1000" dirty="0">
                <a:solidFill>
                  <a:srgbClr val="5C6B63"/>
                </a:solidFill>
                <a:latin typeface="Calibri" pitchFamily="34" charset="0"/>
                <a:ea typeface="Calibri" pitchFamily="34" charset="-122"/>
                <a:cs typeface="Calibri" pitchFamily="34" charset="-120"/>
              </a:rPr>
              <a:t>persistente</a:t>
            </a:r>
            <a:endParaRPr lang="en-US" sz="1000" dirty="0"/>
          </a:p>
        </p:txBody>
      </p:sp>
      <p:sp>
        <p:nvSpPr>
          <p:cNvPr id="32" name="Shape 25"/>
          <p:cNvSpPr/>
          <p:nvPr/>
        </p:nvSpPr>
        <p:spPr>
          <a:xfrm>
            <a:off x="2788920" y="1097280"/>
            <a:ext cx="3566160" cy="777240"/>
          </a:xfrm>
          <a:prstGeom prst="roundRect">
            <a:avLst>
              <a:gd name="adj" fmla="val 11765"/>
            </a:avLst>
          </a:prstGeom>
          <a:solidFill>
            <a:srgbClr val="14342B"/>
          </a:solidFill>
          <a:ln w="12700">
            <a:solidFill>
              <a:srgbClr val="14342B"/>
            </a:solidFill>
            <a:prstDash val="solid"/>
          </a:ln>
        </p:spPr>
        <p:txBody>
          <a:bodyPr/>
          <a:lstStyle/>
          <a:p>
            <a:endParaRPr lang="es-CL"/>
          </a:p>
        </p:txBody>
      </p:sp>
      <p:sp>
        <p:nvSpPr>
          <p:cNvPr id="33" name="Shape 26"/>
          <p:cNvSpPr/>
          <p:nvPr/>
        </p:nvSpPr>
        <p:spPr>
          <a:xfrm>
            <a:off x="2953512" y="1216152"/>
            <a:ext cx="548640" cy="548640"/>
          </a:xfrm>
          <a:prstGeom prst="ellipse">
            <a:avLst/>
          </a:prstGeom>
          <a:solidFill>
            <a:srgbClr val="52B788"/>
          </a:solidFill>
          <a:ln w="12700">
            <a:solidFill>
              <a:srgbClr val="52B788"/>
            </a:solidFill>
            <a:prstDash val="solid"/>
          </a:ln>
        </p:spPr>
        <p:txBody>
          <a:bodyPr/>
          <a:lstStyle/>
          <a:p>
            <a:endParaRPr lang="es-CL"/>
          </a:p>
        </p:txBody>
      </p:sp>
      <p:pic>
        <p:nvPicPr>
          <p:cNvPr id="34" name="Image 5" descr="preencoded.png"/>
          <p:cNvPicPr>
            <a:picLocks noChangeAspect="1"/>
          </p:cNvPicPr>
          <p:nvPr/>
        </p:nvPicPr>
        <p:blipFill>
          <a:blip r:embed="rId8"/>
          <a:stretch>
            <a:fillRect/>
          </a:stretch>
        </p:blipFill>
        <p:spPr>
          <a:xfrm>
            <a:off x="3085186" y="1347826"/>
            <a:ext cx="285293" cy="285293"/>
          </a:xfrm>
          <a:prstGeom prst="rect">
            <a:avLst/>
          </a:prstGeom>
        </p:spPr>
      </p:pic>
      <p:sp>
        <p:nvSpPr>
          <p:cNvPr id="35" name="Text 27"/>
          <p:cNvSpPr txBox="1"/>
          <p:nvPr/>
        </p:nvSpPr>
        <p:spPr>
          <a:xfrm>
            <a:off x="3611880" y="1143000"/>
            <a:ext cx="2651760" cy="6858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Microsoft Entra ID</a:t>
            </a:r>
            <a:endParaRPr lang="en-US" sz="1400" dirty="0"/>
          </a:p>
          <a:p>
            <a:pPr marL="0" indent="0">
              <a:buNone/>
            </a:pPr>
            <a:r>
              <a:rPr lang="en-US" sz="1100" dirty="0">
                <a:solidFill>
                  <a:srgbClr val="FFFFFF"/>
                </a:solidFill>
                <a:latin typeface="Calibri" pitchFamily="34" charset="0"/>
                <a:ea typeface="Calibri" pitchFamily="34" charset="-122"/>
                <a:cs typeface="Calibri" pitchFamily="34" charset="-120"/>
              </a:rPr>
              <a:t>IDaaS · emite los access tokens (JWT)</a:t>
            </a:r>
            <a:endParaRPr lang="en-US" sz="1400" dirty="0"/>
          </a:p>
        </p:txBody>
      </p:sp>
      <p:sp>
        <p:nvSpPr>
          <p:cNvPr id="36" name="Shape 28"/>
          <p:cNvSpPr/>
          <p:nvPr/>
        </p:nvSpPr>
        <p:spPr>
          <a:xfrm flipH="1">
            <a:off x="2304288" y="1874520"/>
            <a:ext cx="548640" cy="640080"/>
          </a:xfrm>
          <a:prstGeom prst="line">
            <a:avLst/>
          </a:prstGeom>
          <a:noFill/>
          <a:ln w="19050">
            <a:solidFill>
              <a:srgbClr val="F4A261"/>
            </a:solidFill>
            <a:prstDash val="dash"/>
          </a:ln>
        </p:spPr>
        <p:txBody>
          <a:bodyPr/>
          <a:lstStyle/>
          <a:p>
            <a:endParaRPr lang="es-CL"/>
          </a:p>
        </p:txBody>
      </p:sp>
      <p:sp>
        <p:nvSpPr>
          <p:cNvPr id="37" name="Shape 29"/>
          <p:cNvSpPr/>
          <p:nvPr/>
        </p:nvSpPr>
        <p:spPr>
          <a:xfrm>
            <a:off x="6309360" y="1874520"/>
            <a:ext cx="868680" cy="640080"/>
          </a:xfrm>
          <a:prstGeom prst="line">
            <a:avLst/>
          </a:prstGeom>
          <a:noFill/>
          <a:ln w="19050">
            <a:solidFill>
              <a:srgbClr val="F4A261"/>
            </a:solidFill>
            <a:prstDash val="dash"/>
          </a:ln>
        </p:spPr>
        <p:txBody>
          <a:bodyPr/>
          <a:lstStyle/>
          <a:p>
            <a:endParaRPr lang="es-CL"/>
          </a:p>
        </p:txBody>
      </p:sp>
      <p:sp>
        <p:nvSpPr>
          <p:cNvPr id="38" name="Text 30"/>
          <p:cNvSpPr txBox="1"/>
          <p:nvPr/>
        </p:nvSpPr>
        <p:spPr>
          <a:xfrm>
            <a:off x="411480" y="2011680"/>
            <a:ext cx="1920240" cy="274320"/>
          </a:xfrm>
          <a:prstGeom prst="rect">
            <a:avLst/>
          </a:prstGeom>
          <a:noFill/>
          <a:ln/>
        </p:spPr>
        <p:txBody>
          <a:bodyPr wrap="square" lIns="0" tIns="0" rIns="0" bIns="0" rtlCol="0" anchor="ctr"/>
          <a:lstStyle/>
          <a:p>
            <a:pPr marL="0" indent="0" algn="r">
              <a:buNone/>
            </a:pPr>
            <a:r>
              <a:rPr lang="en-US" sz="1000" i="1" dirty="0">
                <a:solidFill>
                  <a:srgbClr val="F4A261"/>
                </a:solidFill>
                <a:latin typeface="Calibri" pitchFamily="34" charset="0"/>
                <a:ea typeface="Calibri" pitchFamily="34" charset="-122"/>
                <a:cs typeface="Calibri" pitchFamily="34" charset="-120"/>
              </a:rPr>
              <a:t>login OIDC + PKCE</a:t>
            </a:r>
            <a:endParaRPr lang="en-US" sz="1000" dirty="0"/>
          </a:p>
        </p:txBody>
      </p:sp>
      <p:sp>
        <p:nvSpPr>
          <p:cNvPr id="39" name="Text 31"/>
          <p:cNvSpPr txBox="1"/>
          <p:nvPr/>
        </p:nvSpPr>
        <p:spPr>
          <a:xfrm>
            <a:off x="7223760" y="2011680"/>
            <a:ext cx="1554480" cy="274320"/>
          </a:xfrm>
          <a:prstGeom prst="rect">
            <a:avLst/>
          </a:prstGeom>
          <a:noFill/>
          <a:ln/>
        </p:spPr>
        <p:txBody>
          <a:bodyPr wrap="square" lIns="0" tIns="0" rIns="0" bIns="0" rtlCol="0" anchor="ctr"/>
          <a:lstStyle/>
          <a:p>
            <a:pPr marL="0" indent="0">
              <a:buNone/>
            </a:pPr>
            <a:r>
              <a:rPr lang="en-US" sz="1000" i="1" dirty="0">
                <a:solidFill>
                  <a:srgbClr val="F4A261"/>
                </a:solidFill>
                <a:latin typeface="Calibri" pitchFamily="34" charset="0"/>
                <a:ea typeface="Calibri" pitchFamily="34" charset="-122"/>
                <a:cs typeface="Calibri" pitchFamily="34" charset="-120"/>
              </a:rPr>
              <a:t>claves públicas (JWKS)</a:t>
            </a:r>
            <a:endParaRPr lang="en-US" sz="1000" dirty="0"/>
          </a:p>
        </p:txBody>
      </p:sp>
      <p:sp>
        <p:nvSpPr>
          <p:cNvPr id="40" name="Text 32"/>
          <p:cNvSpPr txBox="1"/>
          <p:nvPr/>
        </p:nvSpPr>
        <p:spPr>
          <a:xfrm>
            <a:off x="411480" y="4526280"/>
            <a:ext cx="8321040" cy="320040"/>
          </a:xfrm>
          <a:prstGeom prst="rect">
            <a:avLst/>
          </a:prstGeom>
          <a:noFill/>
          <a:ln/>
        </p:spPr>
        <p:txBody>
          <a:bodyPr wrap="square" lIns="0" tIns="0" rIns="0" bIns="0" rtlCol="0" anchor="ctr"/>
          <a:lstStyle/>
          <a:p>
            <a:pPr marL="0" indent="0">
              <a:buNone/>
            </a:pPr>
            <a:r>
              <a:rPr lang="en-US" sz="1100" dirty="0">
                <a:solidFill>
                  <a:srgbClr val="5C6B63"/>
                </a:solidFill>
                <a:latin typeface="Calibri" pitchFamily="34" charset="0"/>
                <a:ea typeface="Calibri" pitchFamily="34" charset="-122"/>
                <a:cs typeface="Calibri" pitchFamily="34" charset="-120"/>
              </a:rPr>
              <a:t>Dominio propio en Cloudflare (DNS dinámico) · certificado de Let's Encrypt · https://ecopunto.larraguibel.dev</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F5EE"/>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14342B"/>
                </a:solidFill>
                <a:latin typeface="Calibri" pitchFamily="34" charset="0"/>
                <a:ea typeface="Calibri" pitchFamily="34" charset="-122"/>
                <a:cs typeface="Calibri" pitchFamily="34" charset="-120"/>
              </a:rPr>
              <a:t>Identidad: tenant y App Registration en Entra ID</a:t>
            </a:r>
            <a:endParaRPr lang="en-US" sz="3000" dirty="0"/>
          </a:p>
        </p:txBody>
      </p:sp>
      <p:sp>
        <p:nvSpPr>
          <p:cNvPr id="3" name="Shape 1"/>
          <p:cNvSpPr/>
          <p:nvPr/>
        </p:nvSpPr>
        <p:spPr>
          <a:xfrm>
            <a:off x="502920" y="1188720"/>
            <a:ext cx="594360" cy="594360"/>
          </a:xfrm>
          <a:prstGeom prst="ellipse">
            <a:avLst/>
          </a:prstGeom>
          <a:solidFill>
            <a:srgbClr val="2D6A4F"/>
          </a:solidFill>
          <a:ln w="12700">
            <a:solidFill>
              <a:srgbClr val="2D6A4F"/>
            </a:solidFill>
            <a:prstDash val="solid"/>
          </a:ln>
        </p:spPr>
        <p:txBody>
          <a:bodyPr/>
          <a:lstStyle/>
          <a:p>
            <a:endParaRPr lang="es-CL"/>
          </a:p>
        </p:txBody>
      </p:sp>
      <p:pic>
        <p:nvPicPr>
          <p:cNvPr id="4" name="Image 0" descr="preencoded.png"/>
          <p:cNvPicPr>
            <a:picLocks noChangeAspect="1"/>
          </p:cNvPicPr>
          <p:nvPr/>
        </p:nvPicPr>
        <p:blipFill>
          <a:blip r:embed="rId3"/>
          <a:stretch>
            <a:fillRect/>
          </a:stretch>
        </p:blipFill>
        <p:spPr>
          <a:xfrm>
            <a:off x="645566" y="1331366"/>
            <a:ext cx="309067" cy="309067"/>
          </a:xfrm>
          <a:prstGeom prst="rect">
            <a:avLst/>
          </a:prstGeom>
        </p:spPr>
      </p:pic>
      <p:sp>
        <p:nvSpPr>
          <p:cNvPr id="5" name="Text 2"/>
          <p:cNvSpPr txBox="1"/>
          <p:nvPr/>
        </p:nvSpPr>
        <p:spPr>
          <a:xfrm>
            <a:off x="1325880" y="1143000"/>
            <a:ext cx="7315200" cy="347472"/>
          </a:xfrm>
          <a:prstGeom prst="rect">
            <a:avLst/>
          </a:prstGeom>
          <a:noFill/>
          <a:ln/>
        </p:spPr>
        <p:txBody>
          <a:bodyPr wrap="square" lIns="0" tIns="0" rIns="0" bIns="0" rtlCol="0" anchor="ctr"/>
          <a:lstStyle/>
          <a:p>
            <a:pPr marL="0" indent="0">
              <a:buNone/>
            </a:pPr>
            <a:r>
              <a:rPr lang="en-US" sz="1600" b="1" dirty="0">
                <a:solidFill>
                  <a:srgbClr val="14342B"/>
                </a:solidFill>
                <a:latin typeface="Calibri" pitchFamily="34" charset="0"/>
                <a:ea typeface="Calibri" pitchFamily="34" charset="-122"/>
                <a:cs typeface="Calibri" pitchFamily="34" charset="-120"/>
              </a:rPr>
              <a:t>App Registration "EcoPunto"</a:t>
            </a:r>
            <a:endParaRPr lang="en-US" sz="1600" dirty="0"/>
          </a:p>
        </p:txBody>
      </p:sp>
      <p:sp>
        <p:nvSpPr>
          <p:cNvPr id="6" name="Text 3"/>
          <p:cNvSpPr txBox="1"/>
          <p:nvPr/>
        </p:nvSpPr>
        <p:spPr>
          <a:xfrm>
            <a:off x="1325880" y="1490472"/>
            <a:ext cx="7315200" cy="365760"/>
          </a:xfrm>
          <a:prstGeom prst="rect">
            <a:avLst/>
          </a:prstGeom>
          <a:noFill/>
          <a:ln/>
        </p:spPr>
        <p:txBody>
          <a:bodyPr wrap="square" lIns="0" tIns="0" rIns="0" bIns="0" rtlCol="0" anchor="ctr"/>
          <a:lstStyle/>
          <a:p>
            <a:pPr marL="0" indent="0">
              <a:buNone/>
            </a:pPr>
            <a:r>
              <a:rPr lang="en-US" sz="1300" dirty="0">
                <a:solidFill>
                  <a:srgbClr val="1F2A24"/>
                </a:solidFill>
                <a:latin typeface="Calibri" pitchFamily="34" charset="0"/>
                <a:ea typeface="Calibri" pitchFamily="34" charset="-122"/>
                <a:cs typeface="Calibri" pitchFamily="34" charset="-120"/>
              </a:rPr>
              <a:t>SPA sin client secret · redirect URIs exactas: localhost:4200 y el dominio de producción</a:t>
            </a:r>
            <a:endParaRPr lang="en-US" sz="1300" dirty="0"/>
          </a:p>
        </p:txBody>
      </p:sp>
      <p:sp>
        <p:nvSpPr>
          <p:cNvPr id="7" name="Shape 4"/>
          <p:cNvSpPr/>
          <p:nvPr/>
        </p:nvSpPr>
        <p:spPr>
          <a:xfrm>
            <a:off x="502920" y="2084832"/>
            <a:ext cx="594360" cy="594360"/>
          </a:xfrm>
          <a:prstGeom prst="ellipse">
            <a:avLst/>
          </a:prstGeom>
          <a:solidFill>
            <a:srgbClr val="2D6A4F"/>
          </a:solidFill>
          <a:ln w="12700">
            <a:solidFill>
              <a:srgbClr val="2D6A4F"/>
            </a:solidFill>
            <a:prstDash val="solid"/>
          </a:ln>
        </p:spPr>
        <p:txBody>
          <a:bodyPr/>
          <a:lstStyle/>
          <a:p>
            <a:endParaRPr lang="es-CL"/>
          </a:p>
        </p:txBody>
      </p:sp>
      <p:pic>
        <p:nvPicPr>
          <p:cNvPr id="8" name="Image 1" descr="preencoded.png"/>
          <p:cNvPicPr>
            <a:picLocks noChangeAspect="1"/>
          </p:cNvPicPr>
          <p:nvPr/>
        </p:nvPicPr>
        <p:blipFill>
          <a:blip r:embed="rId4"/>
          <a:stretch>
            <a:fillRect/>
          </a:stretch>
        </p:blipFill>
        <p:spPr>
          <a:xfrm>
            <a:off x="645566" y="2227478"/>
            <a:ext cx="309067" cy="309067"/>
          </a:xfrm>
          <a:prstGeom prst="rect">
            <a:avLst/>
          </a:prstGeom>
        </p:spPr>
      </p:pic>
      <p:sp>
        <p:nvSpPr>
          <p:cNvPr id="9" name="Text 5"/>
          <p:cNvSpPr txBox="1"/>
          <p:nvPr/>
        </p:nvSpPr>
        <p:spPr>
          <a:xfrm>
            <a:off x="1325880" y="2039112"/>
            <a:ext cx="7315200" cy="347472"/>
          </a:xfrm>
          <a:prstGeom prst="rect">
            <a:avLst/>
          </a:prstGeom>
          <a:noFill/>
          <a:ln/>
        </p:spPr>
        <p:txBody>
          <a:bodyPr wrap="square" lIns="0" tIns="0" rIns="0" bIns="0" rtlCol="0" anchor="ctr"/>
          <a:lstStyle/>
          <a:p>
            <a:pPr marL="0" indent="0">
              <a:buNone/>
            </a:pPr>
            <a:r>
              <a:rPr lang="en-US" sz="1600" b="1" dirty="0">
                <a:solidFill>
                  <a:srgbClr val="14342B"/>
                </a:solidFill>
                <a:latin typeface="Calibri" pitchFamily="34" charset="0"/>
                <a:ea typeface="Calibri" pitchFamily="34" charset="-122"/>
                <a:cs typeface="Calibri" pitchFamily="34" charset="-120"/>
              </a:rPr>
              <a:t>API expuesta con dos scopes</a:t>
            </a:r>
            <a:endParaRPr lang="en-US" sz="1600" dirty="0"/>
          </a:p>
        </p:txBody>
      </p:sp>
      <p:sp>
        <p:nvSpPr>
          <p:cNvPr id="10" name="Text 6"/>
          <p:cNvSpPr txBox="1"/>
          <p:nvPr/>
        </p:nvSpPr>
        <p:spPr>
          <a:xfrm>
            <a:off x="1325880" y="2386584"/>
            <a:ext cx="7315200" cy="365760"/>
          </a:xfrm>
          <a:prstGeom prst="rect">
            <a:avLst/>
          </a:prstGeom>
          <a:noFill/>
          <a:ln/>
        </p:spPr>
        <p:txBody>
          <a:bodyPr wrap="square" lIns="0" tIns="0" rIns="0" bIns="0" rtlCol="0" anchor="ctr"/>
          <a:lstStyle/>
          <a:p>
            <a:pPr marL="0" indent="0">
              <a:buNone/>
            </a:pPr>
            <a:r>
              <a:rPr lang="en-US" sz="1300" dirty="0">
                <a:solidFill>
                  <a:srgbClr val="1F2A24"/>
                </a:solidFill>
                <a:latin typeface="Calibri" pitchFamily="34" charset="0"/>
                <a:ea typeface="Calibri" pitchFamily="34" charset="-122"/>
                <a:cs typeface="Calibri" pitchFamily="34" charset="-120"/>
              </a:rPr>
              <a:t>reportes.read y reportes.write · consentimiento de administrador a nivel de tenant</a:t>
            </a:r>
            <a:endParaRPr lang="en-US" sz="1300" dirty="0"/>
          </a:p>
        </p:txBody>
      </p:sp>
      <p:sp>
        <p:nvSpPr>
          <p:cNvPr id="11" name="Shape 7"/>
          <p:cNvSpPr/>
          <p:nvPr/>
        </p:nvSpPr>
        <p:spPr>
          <a:xfrm>
            <a:off x="502920" y="2980944"/>
            <a:ext cx="594360" cy="594360"/>
          </a:xfrm>
          <a:prstGeom prst="ellipse">
            <a:avLst/>
          </a:prstGeom>
          <a:solidFill>
            <a:srgbClr val="2D6A4F"/>
          </a:solidFill>
          <a:ln w="12700">
            <a:solidFill>
              <a:srgbClr val="2D6A4F"/>
            </a:solidFill>
            <a:prstDash val="solid"/>
          </a:ln>
        </p:spPr>
        <p:txBody>
          <a:bodyPr/>
          <a:lstStyle/>
          <a:p>
            <a:endParaRPr lang="es-CL"/>
          </a:p>
        </p:txBody>
      </p:sp>
      <p:pic>
        <p:nvPicPr>
          <p:cNvPr id="12" name="Image 2" descr="preencoded.png"/>
          <p:cNvPicPr>
            <a:picLocks noChangeAspect="1"/>
          </p:cNvPicPr>
          <p:nvPr/>
        </p:nvPicPr>
        <p:blipFill>
          <a:blip r:embed="rId5"/>
          <a:stretch>
            <a:fillRect/>
          </a:stretch>
        </p:blipFill>
        <p:spPr>
          <a:xfrm>
            <a:off x="645566" y="3123590"/>
            <a:ext cx="309067" cy="309067"/>
          </a:xfrm>
          <a:prstGeom prst="rect">
            <a:avLst/>
          </a:prstGeom>
        </p:spPr>
      </p:pic>
      <p:sp>
        <p:nvSpPr>
          <p:cNvPr id="13" name="Text 8"/>
          <p:cNvSpPr txBox="1"/>
          <p:nvPr/>
        </p:nvSpPr>
        <p:spPr>
          <a:xfrm>
            <a:off x="1325880" y="2935224"/>
            <a:ext cx="7315200" cy="347472"/>
          </a:xfrm>
          <a:prstGeom prst="rect">
            <a:avLst/>
          </a:prstGeom>
          <a:noFill/>
          <a:ln/>
        </p:spPr>
        <p:txBody>
          <a:bodyPr wrap="square" lIns="0" tIns="0" rIns="0" bIns="0" rtlCol="0" anchor="ctr"/>
          <a:lstStyle/>
          <a:p>
            <a:pPr marL="0" indent="0">
              <a:buNone/>
            </a:pPr>
            <a:r>
              <a:rPr lang="en-US" sz="1600" b="1" dirty="0">
                <a:solidFill>
                  <a:srgbClr val="14342B"/>
                </a:solidFill>
                <a:latin typeface="Calibri" pitchFamily="34" charset="0"/>
                <a:ea typeface="Calibri" pitchFamily="34" charset="-122"/>
                <a:cs typeface="Calibri" pitchFamily="34" charset="-120"/>
              </a:rPr>
              <a:t>App Role ENCARGADO</a:t>
            </a:r>
            <a:endParaRPr lang="en-US" sz="1600" dirty="0"/>
          </a:p>
        </p:txBody>
      </p:sp>
      <p:sp>
        <p:nvSpPr>
          <p:cNvPr id="14" name="Text 9"/>
          <p:cNvSpPr txBox="1"/>
          <p:nvPr/>
        </p:nvSpPr>
        <p:spPr>
          <a:xfrm>
            <a:off x="1325880" y="3282696"/>
            <a:ext cx="7315200" cy="365760"/>
          </a:xfrm>
          <a:prstGeom prst="rect">
            <a:avLst/>
          </a:prstGeom>
          <a:noFill/>
          <a:ln/>
        </p:spPr>
        <p:txBody>
          <a:bodyPr wrap="square" lIns="0" tIns="0" rIns="0" bIns="0" rtlCol="0" anchor="ctr"/>
          <a:lstStyle/>
          <a:p>
            <a:pPr marL="0" indent="0">
              <a:buNone/>
            </a:pPr>
            <a:r>
              <a:rPr lang="en-US" sz="1300" dirty="0">
                <a:solidFill>
                  <a:srgbClr val="1F2A24"/>
                </a:solidFill>
                <a:latin typeface="Calibri" pitchFamily="34" charset="0"/>
                <a:ea typeface="Calibri" pitchFamily="34" charset="-122"/>
                <a:cs typeface="Calibri" pitchFamily="34" charset="-120"/>
              </a:rPr>
              <a:t>Se asigna por usuario en Enterprise Applications · viaja en el claim "roles"</a:t>
            </a:r>
            <a:endParaRPr lang="en-US" sz="1300" dirty="0"/>
          </a:p>
        </p:txBody>
      </p:sp>
      <p:sp>
        <p:nvSpPr>
          <p:cNvPr id="15" name="Shape 10"/>
          <p:cNvSpPr/>
          <p:nvPr/>
        </p:nvSpPr>
        <p:spPr>
          <a:xfrm>
            <a:off x="502920" y="3877056"/>
            <a:ext cx="594360" cy="594360"/>
          </a:xfrm>
          <a:prstGeom prst="ellipse">
            <a:avLst/>
          </a:prstGeom>
          <a:solidFill>
            <a:srgbClr val="2D6A4F"/>
          </a:solidFill>
          <a:ln w="12700">
            <a:solidFill>
              <a:srgbClr val="2D6A4F"/>
            </a:solidFill>
            <a:prstDash val="solid"/>
          </a:ln>
        </p:spPr>
        <p:txBody>
          <a:bodyPr/>
          <a:lstStyle/>
          <a:p>
            <a:endParaRPr lang="es-CL"/>
          </a:p>
        </p:txBody>
      </p:sp>
      <p:pic>
        <p:nvPicPr>
          <p:cNvPr id="16" name="Image 3" descr="preencoded.png"/>
          <p:cNvPicPr>
            <a:picLocks noChangeAspect="1"/>
          </p:cNvPicPr>
          <p:nvPr/>
        </p:nvPicPr>
        <p:blipFill>
          <a:blip r:embed="rId6"/>
          <a:stretch>
            <a:fillRect/>
          </a:stretch>
        </p:blipFill>
        <p:spPr>
          <a:xfrm>
            <a:off x="645566" y="4019702"/>
            <a:ext cx="309067" cy="309067"/>
          </a:xfrm>
          <a:prstGeom prst="rect">
            <a:avLst/>
          </a:prstGeom>
        </p:spPr>
      </p:pic>
      <p:sp>
        <p:nvSpPr>
          <p:cNvPr id="17" name="Text 11"/>
          <p:cNvSpPr txBox="1"/>
          <p:nvPr/>
        </p:nvSpPr>
        <p:spPr>
          <a:xfrm>
            <a:off x="1325880" y="3831336"/>
            <a:ext cx="7315200" cy="347472"/>
          </a:xfrm>
          <a:prstGeom prst="rect">
            <a:avLst/>
          </a:prstGeom>
          <a:noFill/>
          <a:ln/>
        </p:spPr>
        <p:txBody>
          <a:bodyPr wrap="square" lIns="0" tIns="0" rIns="0" bIns="0" rtlCol="0" anchor="ctr"/>
          <a:lstStyle/>
          <a:p>
            <a:pPr marL="0" indent="0">
              <a:buNone/>
            </a:pPr>
            <a:r>
              <a:rPr lang="en-US" sz="1600" b="1" dirty="0">
                <a:solidFill>
                  <a:srgbClr val="14342B"/>
                </a:solidFill>
                <a:latin typeface="Calibri" pitchFamily="34" charset="0"/>
                <a:ea typeface="Calibri" pitchFamily="34" charset="-122"/>
                <a:cs typeface="Calibri" pitchFamily="34" charset="-120"/>
              </a:rPr>
              <a:t>Usuarios de prueba y registro</a:t>
            </a:r>
            <a:endParaRPr lang="en-US" sz="1600" dirty="0"/>
          </a:p>
        </p:txBody>
      </p:sp>
      <p:sp>
        <p:nvSpPr>
          <p:cNvPr id="18" name="Text 12"/>
          <p:cNvSpPr txBox="1"/>
          <p:nvPr/>
        </p:nvSpPr>
        <p:spPr>
          <a:xfrm>
            <a:off x="1325880" y="4178808"/>
            <a:ext cx="7315200" cy="365760"/>
          </a:xfrm>
          <a:prstGeom prst="rect">
            <a:avLst/>
          </a:prstGeom>
          <a:noFill/>
          <a:ln/>
        </p:spPr>
        <p:txBody>
          <a:bodyPr wrap="square" lIns="0" tIns="0" rIns="0" bIns="0" rtlCol="0" anchor="ctr"/>
          <a:lstStyle/>
          <a:p>
            <a:pPr marL="0" indent="0">
              <a:buNone/>
            </a:pPr>
            <a:r>
              <a:rPr lang="en-US" sz="1300" dirty="0">
                <a:solidFill>
                  <a:srgbClr val="1F2A24"/>
                </a:solidFill>
                <a:latin typeface="Calibri" pitchFamily="34" charset="0"/>
                <a:ea typeface="Calibri" pitchFamily="34" charset="-122"/>
                <a:cs typeface="Calibri" pitchFamily="34" charset="-120"/>
              </a:rPr>
              <a:t>encargado1 (con rol) · usuario1 (sin rol) · registro de autoservicio con "Crear cuenta"</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14342B"/>
                </a:solidFill>
                <a:latin typeface="Calibri" pitchFamily="34" charset="0"/>
                <a:ea typeface="Calibri" pitchFamily="34" charset="-122"/>
                <a:cs typeface="Calibri" pitchFamily="34" charset="-120"/>
              </a:rPr>
              <a:t>Login: Authorization Code + PKCE</a:t>
            </a:r>
            <a:endParaRPr lang="en-US" sz="3000" dirty="0"/>
          </a:p>
        </p:txBody>
      </p:sp>
      <p:sp>
        <p:nvSpPr>
          <p:cNvPr id="3" name="Shape 1"/>
          <p:cNvSpPr/>
          <p:nvPr/>
        </p:nvSpPr>
        <p:spPr>
          <a:xfrm>
            <a:off x="886968" y="1234440"/>
            <a:ext cx="548640" cy="548640"/>
          </a:xfrm>
          <a:prstGeom prst="ellipse">
            <a:avLst/>
          </a:prstGeom>
          <a:solidFill>
            <a:srgbClr val="2D6A4F"/>
          </a:solidFill>
          <a:ln w="12700">
            <a:solidFill>
              <a:srgbClr val="2D6A4F"/>
            </a:solidFill>
            <a:prstDash val="solid"/>
          </a:ln>
        </p:spPr>
        <p:txBody>
          <a:bodyPr/>
          <a:lstStyle/>
          <a:p>
            <a:endParaRPr lang="es-CL"/>
          </a:p>
        </p:txBody>
      </p:sp>
      <p:sp>
        <p:nvSpPr>
          <p:cNvPr id="4" name="Text 2"/>
          <p:cNvSpPr txBox="1"/>
          <p:nvPr/>
        </p:nvSpPr>
        <p:spPr>
          <a:xfrm>
            <a:off x="886968" y="123444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5" name="Shape 3"/>
          <p:cNvSpPr/>
          <p:nvPr/>
        </p:nvSpPr>
        <p:spPr>
          <a:xfrm>
            <a:off x="1508760" y="1508760"/>
            <a:ext cx="1417320" cy="0"/>
          </a:xfrm>
          <a:prstGeom prst="line">
            <a:avLst/>
          </a:prstGeom>
          <a:noFill/>
          <a:ln w="25400">
            <a:solidFill>
              <a:srgbClr val="B7D9C6"/>
            </a:solidFill>
            <a:prstDash val="solid"/>
            <a:tailEnd type="triangle"/>
          </a:ln>
        </p:spPr>
        <p:txBody>
          <a:bodyPr/>
          <a:lstStyle/>
          <a:p>
            <a:endParaRPr lang="es-CL"/>
          </a:p>
        </p:txBody>
      </p:sp>
      <p:sp>
        <p:nvSpPr>
          <p:cNvPr id="6" name="Text 4"/>
          <p:cNvSpPr txBox="1"/>
          <p:nvPr/>
        </p:nvSpPr>
        <p:spPr>
          <a:xfrm>
            <a:off x="411480" y="1920240"/>
            <a:ext cx="1508760" cy="320040"/>
          </a:xfrm>
          <a:prstGeom prst="rect">
            <a:avLst/>
          </a:prstGeom>
          <a:noFill/>
          <a:ln/>
        </p:spPr>
        <p:txBody>
          <a:bodyPr wrap="square" lIns="0" tIns="0" rIns="0" bIns="0" rtlCol="0" anchor="ctr"/>
          <a:lstStyle/>
          <a:p>
            <a:pPr marL="0" indent="0" algn="ctr">
              <a:buNone/>
            </a:pPr>
            <a:r>
              <a:rPr lang="en-US" sz="1400" b="1" dirty="0">
                <a:solidFill>
                  <a:srgbClr val="14342B"/>
                </a:solidFill>
                <a:latin typeface="Calibri" pitchFamily="34" charset="0"/>
                <a:ea typeface="Calibri" pitchFamily="34" charset="-122"/>
                <a:cs typeface="Calibri" pitchFamily="34" charset="-120"/>
              </a:rPr>
              <a:t>MSAL genera</a:t>
            </a:r>
            <a:endParaRPr lang="en-US" sz="1400" dirty="0"/>
          </a:p>
        </p:txBody>
      </p:sp>
      <p:sp>
        <p:nvSpPr>
          <p:cNvPr id="7" name="Text 5"/>
          <p:cNvSpPr txBox="1"/>
          <p:nvPr/>
        </p:nvSpPr>
        <p:spPr>
          <a:xfrm>
            <a:off x="411480" y="2240280"/>
            <a:ext cx="1508760" cy="1097280"/>
          </a:xfrm>
          <a:prstGeom prst="rect">
            <a:avLst/>
          </a:prstGeom>
          <a:noFill/>
          <a:ln/>
        </p:spPr>
        <p:txBody>
          <a:bodyPr wrap="square" lIns="0" tIns="0" rIns="0" bIns="0" rtlCol="0" anchor="t"/>
          <a:lstStyle/>
          <a:p>
            <a:pPr marL="0" indent="0" algn="ctr">
              <a:buNone/>
            </a:pPr>
            <a:r>
              <a:rPr lang="en-US" sz="1100" dirty="0">
                <a:solidFill>
                  <a:srgbClr val="1F2A24"/>
                </a:solidFill>
                <a:latin typeface="Calibri" pitchFamily="34" charset="0"/>
                <a:ea typeface="Calibri" pitchFamily="34" charset="-122"/>
                <a:cs typeface="Calibri" pitchFamily="34" charset="-120"/>
              </a:rPr>
              <a:t>code_verifier aleatorio y su hash code_challenge (S256), más state y nonce</a:t>
            </a:r>
            <a:endParaRPr lang="en-US" sz="1100" dirty="0"/>
          </a:p>
        </p:txBody>
      </p:sp>
      <p:sp>
        <p:nvSpPr>
          <p:cNvPr id="8" name="Shape 6"/>
          <p:cNvSpPr/>
          <p:nvPr/>
        </p:nvSpPr>
        <p:spPr>
          <a:xfrm>
            <a:off x="2587752" y="1234440"/>
            <a:ext cx="548640" cy="548640"/>
          </a:xfrm>
          <a:prstGeom prst="ellipse">
            <a:avLst/>
          </a:prstGeom>
          <a:solidFill>
            <a:srgbClr val="2D6A4F"/>
          </a:solidFill>
          <a:ln w="12700">
            <a:solidFill>
              <a:srgbClr val="2D6A4F"/>
            </a:solidFill>
            <a:prstDash val="solid"/>
          </a:ln>
        </p:spPr>
        <p:txBody>
          <a:bodyPr/>
          <a:lstStyle/>
          <a:p>
            <a:endParaRPr lang="es-CL"/>
          </a:p>
        </p:txBody>
      </p:sp>
      <p:sp>
        <p:nvSpPr>
          <p:cNvPr id="9" name="Text 7"/>
          <p:cNvSpPr txBox="1"/>
          <p:nvPr/>
        </p:nvSpPr>
        <p:spPr>
          <a:xfrm>
            <a:off x="2587752" y="123444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Shape 8"/>
          <p:cNvSpPr/>
          <p:nvPr/>
        </p:nvSpPr>
        <p:spPr>
          <a:xfrm>
            <a:off x="3209544" y="1508760"/>
            <a:ext cx="1417320" cy="0"/>
          </a:xfrm>
          <a:prstGeom prst="line">
            <a:avLst/>
          </a:prstGeom>
          <a:noFill/>
          <a:ln w="25400">
            <a:solidFill>
              <a:srgbClr val="B7D9C6"/>
            </a:solidFill>
            <a:prstDash val="solid"/>
            <a:tailEnd type="triangle"/>
          </a:ln>
        </p:spPr>
        <p:txBody>
          <a:bodyPr/>
          <a:lstStyle/>
          <a:p>
            <a:endParaRPr lang="es-CL"/>
          </a:p>
        </p:txBody>
      </p:sp>
      <p:sp>
        <p:nvSpPr>
          <p:cNvPr id="11" name="Text 9"/>
          <p:cNvSpPr txBox="1"/>
          <p:nvPr/>
        </p:nvSpPr>
        <p:spPr>
          <a:xfrm>
            <a:off x="2112264" y="1920240"/>
            <a:ext cx="1508760" cy="320040"/>
          </a:xfrm>
          <a:prstGeom prst="rect">
            <a:avLst/>
          </a:prstGeom>
          <a:noFill/>
          <a:ln/>
        </p:spPr>
        <p:txBody>
          <a:bodyPr wrap="square" lIns="0" tIns="0" rIns="0" bIns="0" rtlCol="0" anchor="ctr"/>
          <a:lstStyle/>
          <a:p>
            <a:pPr marL="0" indent="0" algn="ctr">
              <a:buNone/>
            </a:pPr>
            <a:r>
              <a:rPr lang="en-US" sz="1400" b="1" dirty="0">
                <a:solidFill>
                  <a:srgbClr val="14342B"/>
                </a:solidFill>
                <a:latin typeface="Calibri" pitchFamily="34" charset="0"/>
                <a:ea typeface="Calibri" pitchFamily="34" charset="-122"/>
                <a:cs typeface="Calibri" pitchFamily="34" charset="-120"/>
              </a:rPr>
              <a:t>Redirección</a:t>
            </a:r>
            <a:endParaRPr lang="en-US" sz="1400" dirty="0"/>
          </a:p>
        </p:txBody>
      </p:sp>
      <p:sp>
        <p:nvSpPr>
          <p:cNvPr id="12" name="Text 10"/>
          <p:cNvSpPr txBox="1"/>
          <p:nvPr/>
        </p:nvSpPr>
        <p:spPr>
          <a:xfrm>
            <a:off x="2112264" y="2240280"/>
            <a:ext cx="1508760" cy="1097280"/>
          </a:xfrm>
          <a:prstGeom prst="rect">
            <a:avLst/>
          </a:prstGeom>
          <a:noFill/>
          <a:ln/>
        </p:spPr>
        <p:txBody>
          <a:bodyPr wrap="square" lIns="0" tIns="0" rIns="0" bIns="0" rtlCol="0" anchor="t"/>
          <a:lstStyle/>
          <a:p>
            <a:pPr marL="0" indent="0" algn="ctr">
              <a:buNone/>
            </a:pPr>
            <a:r>
              <a:rPr lang="en-US" sz="1100" dirty="0">
                <a:solidFill>
                  <a:srgbClr val="1F2A24"/>
                </a:solidFill>
                <a:latin typeface="Calibri" pitchFamily="34" charset="0"/>
                <a:ea typeface="Calibri" pitchFamily="34" charset="-122"/>
                <a:cs typeface="Calibri" pitchFamily="34" charset="-120"/>
              </a:rPr>
              <a:t>al endpoint /authorize de Entra ID con el code_challenge</a:t>
            </a:r>
            <a:endParaRPr lang="en-US" sz="1100" dirty="0"/>
          </a:p>
        </p:txBody>
      </p:sp>
      <p:sp>
        <p:nvSpPr>
          <p:cNvPr id="13" name="Shape 11"/>
          <p:cNvSpPr/>
          <p:nvPr/>
        </p:nvSpPr>
        <p:spPr>
          <a:xfrm>
            <a:off x="4288536" y="1234440"/>
            <a:ext cx="548640" cy="548640"/>
          </a:xfrm>
          <a:prstGeom prst="ellipse">
            <a:avLst/>
          </a:prstGeom>
          <a:solidFill>
            <a:srgbClr val="2D6A4F"/>
          </a:solidFill>
          <a:ln w="12700">
            <a:solidFill>
              <a:srgbClr val="2D6A4F"/>
            </a:solidFill>
            <a:prstDash val="solid"/>
          </a:ln>
        </p:spPr>
        <p:txBody>
          <a:bodyPr/>
          <a:lstStyle/>
          <a:p>
            <a:endParaRPr lang="es-CL"/>
          </a:p>
        </p:txBody>
      </p:sp>
      <p:sp>
        <p:nvSpPr>
          <p:cNvPr id="14" name="Text 12"/>
          <p:cNvSpPr txBox="1"/>
          <p:nvPr/>
        </p:nvSpPr>
        <p:spPr>
          <a:xfrm>
            <a:off x="4288536" y="123444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5" name="Shape 13"/>
          <p:cNvSpPr/>
          <p:nvPr/>
        </p:nvSpPr>
        <p:spPr>
          <a:xfrm>
            <a:off x="4910328" y="1508760"/>
            <a:ext cx="1417320" cy="0"/>
          </a:xfrm>
          <a:prstGeom prst="line">
            <a:avLst/>
          </a:prstGeom>
          <a:noFill/>
          <a:ln w="25400">
            <a:solidFill>
              <a:srgbClr val="B7D9C6"/>
            </a:solidFill>
            <a:prstDash val="solid"/>
            <a:tailEnd type="triangle"/>
          </a:ln>
        </p:spPr>
        <p:txBody>
          <a:bodyPr/>
          <a:lstStyle/>
          <a:p>
            <a:endParaRPr lang="es-CL"/>
          </a:p>
        </p:txBody>
      </p:sp>
      <p:sp>
        <p:nvSpPr>
          <p:cNvPr id="16" name="Text 14"/>
          <p:cNvSpPr txBox="1"/>
          <p:nvPr/>
        </p:nvSpPr>
        <p:spPr>
          <a:xfrm>
            <a:off x="3813048" y="1920240"/>
            <a:ext cx="1508760" cy="320040"/>
          </a:xfrm>
          <a:prstGeom prst="rect">
            <a:avLst/>
          </a:prstGeom>
          <a:noFill/>
          <a:ln/>
        </p:spPr>
        <p:txBody>
          <a:bodyPr wrap="square" lIns="0" tIns="0" rIns="0" bIns="0" rtlCol="0" anchor="ctr"/>
          <a:lstStyle/>
          <a:p>
            <a:pPr marL="0" indent="0" algn="ctr">
              <a:buNone/>
            </a:pPr>
            <a:r>
              <a:rPr lang="en-US" sz="1400" b="1" dirty="0">
                <a:solidFill>
                  <a:srgbClr val="14342B"/>
                </a:solidFill>
                <a:latin typeface="Calibri" pitchFamily="34" charset="0"/>
                <a:ea typeface="Calibri" pitchFamily="34" charset="-122"/>
                <a:cs typeface="Calibri" pitchFamily="34" charset="-120"/>
              </a:rPr>
              <a:t>Login</a:t>
            </a:r>
            <a:endParaRPr lang="en-US" sz="1400" dirty="0"/>
          </a:p>
        </p:txBody>
      </p:sp>
      <p:sp>
        <p:nvSpPr>
          <p:cNvPr id="17" name="Text 15"/>
          <p:cNvSpPr txBox="1"/>
          <p:nvPr/>
        </p:nvSpPr>
        <p:spPr>
          <a:xfrm>
            <a:off x="3813048" y="2240280"/>
            <a:ext cx="1508760" cy="1097280"/>
          </a:xfrm>
          <a:prstGeom prst="rect">
            <a:avLst/>
          </a:prstGeom>
          <a:noFill/>
          <a:ln/>
        </p:spPr>
        <p:txBody>
          <a:bodyPr wrap="square" lIns="0" tIns="0" rIns="0" bIns="0" rtlCol="0" anchor="t"/>
          <a:lstStyle/>
          <a:p>
            <a:pPr marL="0" indent="0" algn="ctr">
              <a:buNone/>
            </a:pPr>
            <a:r>
              <a:rPr lang="en-US" sz="1100" dirty="0">
                <a:solidFill>
                  <a:srgbClr val="1F2A24"/>
                </a:solidFill>
                <a:latin typeface="Calibri" pitchFamily="34" charset="0"/>
                <a:ea typeface="Calibri" pitchFamily="34" charset="-122"/>
                <a:cs typeface="Calibri" pitchFamily="34" charset="-120"/>
              </a:rPr>
              <a:t>el usuario se autentica en Microsoft, nunca en la app</a:t>
            </a:r>
            <a:endParaRPr lang="en-US" sz="1100" dirty="0"/>
          </a:p>
        </p:txBody>
      </p:sp>
      <p:sp>
        <p:nvSpPr>
          <p:cNvPr id="18" name="Shape 16"/>
          <p:cNvSpPr/>
          <p:nvPr/>
        </p:nvSpPr>
        <p:spPr>
          <a:xfrm>
            <a:off x="5989320" y="1234440"/>
            <a:ext cx="548640" cy="548640"/>
          </a:xfrm>
          <a:prstGeom prst="ellipse">
            <a:avLst/>
          </a:prstGeom>
          <a:solidFill>
            <a:srgbClr val="2D6A4F"/>
          </a:solidFill>
          <a:ln w="12700">
            <a:solidFill>
              <a:srgbClr val="2D6A4F"/>
            </a:solidFill>
            <a:prstDash val="solid"/>
          </a:ln>
        </p:spPr>
        <p:txBody>
          <a:bodyPr/>
          <a:lstStyle/>
          <a:p>
            <a:endParaRPr lang="es-CL"/>
          </a:p>
        </p:txBody>
      </p:sp>
      <p:sp>
        <p:nvSpPr>
          <p:cNvPr id="19" name="Text 17"/>
          <p:cNvSpPr txBox="1"/>
          <p:nvPr/>
        </p:nvSpPr>
        <p:spPr>
          <a:xfrm>
            <a:off x="5989320" y="123444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0" name="Shape 18"/>
          <p:cNvSpPr/>
          <p:nvPr/>
        </p:nvSpPr>
        <p:spPr>
          <a:xfrm>
            <a:off x="6611112" y="1508760"/>
            <a:ext cx="1417320" cy="0"/>
          </a:xfrm>
          <a:prstGeom prst="line">
            <a:avLst/>
          </a:prstGeom>
          <a:noFill/>
          <a:ln w="25400">
            <a:solidFill>
              <a:srgbClr val="B7D9C6"/>
            </a:solidFill>
            <a:prstDash val="solid"/>
            <a:tailEnd type="triangle"/>
          </a:ln>
        </p:spPr>
        <p:txBody>
          <a:bodyPr/>
          <a:lstStyle/>
          <a:p>
            <a:endParaRPr lang="es-CL"/>
          </a:p>
        </p:txBody>
      </p:sp>
      <p:sp>
        <p:nvSpPr>
          <p:cNvPr id="21" name="Text 19"/>
          <p:cNvSpPr txBox="1"/>
          <p:nvPr/>
        </p:nvSpPr>
        <p:spPr>
          <a:xfrm>
            <a:off x="5513832" y="1920240"/>
            <a:ext cx="1508760" cy="320040"/>
          </a:xfrm>
          <a:prstGeom prst="rect">
            <a:avLst/>
          </a:prstGeom>
          <a:noFill/>
          <a:ln/>
        </p:spPr>
        <p:txBody>
          <a:bodyPr wrap="square" lIns="0" tIns="0" rIns="0" bIns="0" rtlCol="0" anchor="ctr"/>
          <a:lstStyle/>
          <a:p>
            <a:pPr marL="0" indent="0" algn="ctr">
              <a:buNone/>
            </a:pPr>
            <a:r>
              <a:rPr lang="en-US" sz="1400" b="1" dirty="0">
                <a:solidFill>
                  <a:srgbClr val="14342B"/>
                </a:solidFill>
                <a:latin typeface="Calibri" pitchFamily="34" charset="0"/>
                <a:ea typeface="Calibri" pitchFamily="34" charset="-122"/>
                <a:cs typeface="Calibri" pitchFamily="34" charset="-120"/>
              </a:rPr>
              <a:t>Código</a:t>
            </a:r>
            <a:endParaRPr lang="en-US" sz="1400" dirty="0"/>
          </a:p>
        </p:txBody>
      </p:sp>
      <p:sp>
        <p:nvSpPr>
          <p:cNvPr id="22" name="Text 20"/>
          <p:cNvSpPr txBox="1"/>
          <p:nvPr/>
        </p:nvSpPr>
        <p:spPr>
          <a:xfrm>
            <a:off x="5513832" y="2240280"/>
            <a:ext cx="1508760" cy="1097280"/>
          </a:xfrm>
          <a:prstGeom prst="rect">
            <a:avLst/>
          </a:prstGeom>
          <a:noFill/>
          <a:ln/>
        </p:spPr>
        <p:txBody>
          <a:bodyPr wrap="square" lIns="0" tIns="0" rIns="0" bIns="0" rtlCol="0" anchor="t"/>
          <a:lstStyle/>
          <a:p>
            <a:pPr marL="0" indent="0" algn="ctr">
              <a:buNone/>
            </a:pPr>
            <a:r>
              <a:rPr lang="en-US" sz="1100" dirty="0">
                <a:solidFill>
                  <a:srgbClr val="1F2A24"/>
                </a:solidFill>
                <a:latin typeface="Calibri" pitchFamily="34" charset="0"/>
                <a:ea typeface="Calibri" pitchFamily="34" charset="-122"/>
                <a:cs typeface="Calibri" pitchFamily="34" charset="-120"/>
              </a:rPr>
              <a:t>Entra devuelve un authorization code a la redirect URI</a:t>
            </a:r>
            <a:endParaRPr lang="en-US" sz="1100" dirty="0"/>
          </a:p>
        </p:txBody>
      </p:sp>
      <p:sp>
        <p:nvSpPr>
          <p:cNvPr id="23" name="Shape 21"/>
          <p:cNvSpPr/>
          <p:nvPr/>
        </p:nvSpPr>
        <p:spPr>
          <a:xfrm>
            <a:off x="7690104" y="1234440"/>
            <a:ext cx="548640" cy="548640"/>
          </a:xfrm>
          <a:prstGeom prst="ellipse">
            <a:avLst/>
          </a:prstGeom>
          <a:solidFill>
            <a:srgbClr val="F4A261"/>
          </a:solidFill>
          <a:ln w="12700">
            <a:solidFill>
              <a:srgbClr val="F4A261"/>
            </a:solidFill>
            <a:prstDash val="solid"/>
          </a:ln>
        </p:spPr>
        <p:txBody>
          <a:bodyPr/>
          <a:lstStyle/>
          <a:p>
            <a:endParaRPr lang="es-CL"/>
          </a:p>
        </p:txBody>
      </p:sp>
      <p:sp>
        <p:nvSpPr>
          <p:cNvPr id="24" name="Text 22"/>
          <p:cNvSpPr txBox="1"/>
          <p:nvPr/>
        </p:nvSpPr>
        <p:spPr>
          <a:xfrm>
            <a:off x="7690104" y="123444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5" name="Text 23"/>
          <p:cNvSpPr txBox="1"/>
          <p:nvPr/>
        </p:nvSpPr>
        <p:spPr>
          <a:xfrm>
            <a:off x="7214616" y="1920240"/>
            <a:ext cx="1508760" cy="320040"/>
          </a:xfrm>
          <a:prstGeom prst="rect">
            <a:avLst/>
          </a:prstGeom>
          <a:noFill/>
          <a:ln/>
        </p:spPr>
        <p:txBody>
          <a:bodyPr wrap="square" lIns="0" tIns="0" rIns="0" bIns="0" rtlCol="0" anchor="ctr"/>
          <a:lstStyle/>
          <a:p>
            <a:pPr marL="0" indent="0" algn="ctr">
              <a:buNone/>
            </a:pPr>
            <a:r>
              <a:rPr lang="en-US" sz="1400" b="1" dirty="0">
                <a:solidFill>
                  <a:srgbClr val="14342B"/>
                </a:solidFill>
                <a:latin typeface="Calibri" pitchFamily="34" charset="0"/>
                <a:ea typeface="Calibri" pitchFamily="34" charset="-122"/>
                <a:cs typeface="Calibri" pitchFamily="34" charset="-120"/>
              </a:rPr>
              <a:t>Canje</a:t>
            </a:r>
            <a:endParaRPr lang="en-US" sz="1400" dirty="0"/>
          </a:p>
        </p:txBody>
      </p:sp>
      <p:sp>
        <p:nvSpPr>
          <p:cNvPr id="26" name="Text 24"/>
          <p:cNvSpPr txBox="1"/>
          <p:nvPr/>
        </p:nvSpPr>
        <p:spPr>
          <a:xfrm>
            <a:off x="7214616" y="2240280"/>
            <a:ext cx="1508760" cy="1097280"/>
          </a:xfrm>
          <a:prstGeom prst="rect">
            <a:avLst/>
          </a:prstGeom>
          <a:noFill/>
          <a:ln/>
        </p:spPr>
        <p:txBody>
          <a:bodyPr wrap="square" lIns="0" tIns="0" rIns="0" bIns="0" rtlCol="0" anchor="t"/>
          <a:lstStyle/>
          <a:p>
            <a:pPr marL="0" indent="0" algn="ctr">
              <a:buNone/>
            </a:pPr>
            <a:r>
              <a:rPr lang="en-US" sz="1100" dirty="0">
                <a:solidFill>
                  <a:srgbClr val="1F2A24"/>
                </a:solidFill>
                <a:latin typeface="Calibri" pitchFamily="34" charset="0"/>
                <a:ea typeface="Calibri" pitchFamily="34" charset="-122"/>
                <a:cs typeface="Calibri" pitchFamily="34" charset="-120"/>
              </a:rPr>
              <a:t>MSAL cambia code + code_verifier por los tokens</a:t>
            </a:r>
            <a:endParaRPr lang="en-US" sz="1100" dirty="0"/>
          </a:p>
        </p:txBody>
      </p:sp>
      <p:sp>
        <p:nvSpPr>
          <p:cNvPr id="27" name="Shape 25"/>
          <p:cNvSpPr/>
          <p:nvPr/>
        </p:nvSpPr>
        <p:spPr>
          <a:xfrm>
            <a:off x="411480" y="3383280"/>
            <a:ext cx="8321040" cy="1051560"/>
          </a:xfrm>
          <a:prstGeom prst="roundRect">
            <a:avLst>
              <a:gd name="adj" fmla="val 8696"/>
            </a:avLst>
          </a:prstGeom>
          <a:solidFill>
            <a:srgbClr val="E8F5EE"/>
          </a:solidFill>
          <a:ln w="12700">
            <a:solidFill>
              <a:srgbClr val="E8F5EE"/>
            </a:solidFill>
            <a:prstDash val="solid"/>
          </a:ln>
        </p:spPr>
        <p:txBody>
          <a:bodyPr/>
          <a:lstStyle/>
          <a:p>
            <a:endParaRPr lang="es-CL"/>
          </a:p>
        </p:txBody>
      </p:sp>
      <p:sp>
        <p:nvSpPr>
          <p:cNvPr id="28" name="Text 26"/>
          <p:cNvSpPr txBox="1"/>
          <p:nvPr/>
        </p:nvSpPr>
        <p:spPr>
          <a:xfrm>
            <a:off x="640080" y="3474720"/>
            <a:ext cx="7863840" cy="868680"/>
          </a:xfrm>
          <a:prstGeom prst="rect">
            <a:avLst/>
          </a:prstGeom>
          <a:noFill/>
          <a:ln/>
        </p:spPr>
        <p:txBody>
          <a:bodyPr wrap="square" lIns="0" tIns="0" rIns="0" bIns="0" rtlCol="0" anchor="ctr"/>
          <a:lstStyle/>
          <a:p>
            <a:pPr marL="0" indent="0">
              <a:buNone/>
            </a:pPr>
            <a:r>
              <a:rPr lang="en-US" sz="1300" b="1" dirty="0">
                <a:solidFill>
                  <a:srgbClr val="1F2A24"/>
                </a:solidFill>
                <a:latin typeface="Calibri" pitchFamily="34" charset="0"/>
                <a:ea typeface="Calibri" pitchFamily="34" charset="-122"/>
                <a:cs typeface="Calibri" pitchFamily="34" charset="-120"/>
              </a:rPr>
              <a:t>Por qué PKCE: </a:t>
            </a:r>
            <a:r>
              <a:rPr lang="en-US" sz="1300" dirty="0">
                <a:solidFill>
                  <a:srgbClr val="1F2A24"/>
                </a:solidFill>
                <a:latin typeface="Calibri" pitchFamily="34" charset="0"/>
                <a:ea typeface="Calibri" pitchFamily="34" charset="-122"/>
                <a:cs typeface="Calibri" pitchFamily="34" charset="-120"/>
              </a:rPr>
              <a:t>una SPA no puede guardar un secreto. Si alguien intercepta el authorization code, no le sirve sin el code_verifier, que nunca salió del navegador. state protege contra CSRF y nonce contra la reutilización del ID token.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14342B"/>
                </a:solidFill>
                <a:latin typeface="Calibri" pitchFamily="34" charset="0"/>
                <a:ea typeface="Calibri" pitchFamily="34" charset="-122"/>
                <a:cs typeface="Calibri" pitchFamily="34" charset="-120"/>
              </a:rPr>
              <a:t>API Gateway: rutas, JWT y CORS</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11480" y="1097280"/>
          <a:ext cx="4937760" cy="2304288"/>
        </p:xfrm>
        <a:graphic>
          <a:graphicData uri="http://schemas.openxmlformats.org/drawingml/2006/table">
            <a:tbl>
              <a:tblPr/>
              <a:tblGrid>
                <a:gridCol w="17830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874520">
                  <a:extLst>
                    <a:ext uri="{9D8B030D-6E8A-4147-A177-3AD203B41FA5}">
                      <a16:colId xmlns:a16="http://schemas.microsoft.com/office/drawing/2014/main" val="20002"/>
                    </a:ext>
                  </a:extLst>
                </a:gridCol>
              </a:tblGrid>
              <a:tr h="38404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Ruta</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14342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Autorización</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14342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Integración (backend)</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14342B"/>
                    </a:solidFill>
                  </a:tcPr>
                </a:tc>
                <a:extLst>
                  <a:ext uri="{0D108BD9-81ED-4DB2-BD59-A6C34878D82A}">
                    <a16:rowId xmlns:a16="http://schemas.microsoft.com/office/drawing/2014/main" val="10000"/>
                  </a:ext>
                </a:extLst>
              </a:tr>
              <a:tr h="384048">
                <a:tc>
                  <a:txBody>
                    <a:bodyPr/>
                    <a:lstStyle/>
                    <a:p>
                      <a:pPr marL="0" indent="0">
                        <a:buNone/>
                      </a:pPr>
                      <a:r>
                        <a:rPr lang="en-US" sz="1200" dirty="0">
                          <a:solidFill>
                            <a:srgbClr val="1F2A24"/>
                          </a:solidFill>
                          <a:latin typeface="Calibri" pitchFamily="34" charset="0"/>
                          <a:ea typeface="Calibri" pitchFamily="34" charset="-122"/>
                          <a:cs typeface="Calibri" pitchFamily="34" charset="-120"/>
                        </a:rPr>
                        <a:t>ANY /public/{proxy+}</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marL="0" indent="0">
                        <a:buNone/>
                      </a:pPr>
                      <a:r>
                        <a:rPr lang="en-US" sz="1200" dirty="0">
                          <a:solidFill>
                            <a:srgbClr val="1F2A24"/>
                          </a:solidFill>
                          <a:latin typeface="Calibri" pitchFamily="34" charset="0"/>
                          <a:ea typeface="Calibri" pitchFamily="34" charset="-122"/>
                          <a:cs typeface="Calibri" pitchFamily="34" charset="-120"/>
                        </a:rPr>
                        <a:t>Ninguna</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marL="0" indent="0">
                        <a:buNone/>
                      </a:pPr>
                      <a:r>
                        <a:rPr lang="en-US" sz="1200" dirty="0">
                          <a:solidFill>
                            <a:srgbClr val="1F2A24"/>
                          </a:solidFill>
                          <a:latin typeface="Calibri" pitchFamily="34" charset="0"/>
                          <a:ea typeface="Calibri" pitchFamily="34" charset="-122"/>
                          <a:cs typeface="Calibri" pitchFamily="34" charset="-120"/>
                        </a:rPr>
                        <a:t>:8080/public/{proxy}</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200" dirty="0">
                          <a:solidFill>
                            <a:srgbClr val="1F2A24"/>
                          </a:solidFill>
                          <a:latin typeface="Calibri" pitchFamily="34" charset="0"/>
                          <a:ea typeface="Calibri" pitchFamily="34" charset="-122"/>
                          <a:cs typeface="Calibri" pitchFamily="34" charset="-120"/>
                        </a:rPr>
                        <a:t>GET /api/{proxy+}</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marL="0" indent="0">
                        <a:buNone/>
                      </a:pPr>
                      <a:r>
                        <a:rPr lang="en-US" sz="1200" dirty="0">
                          <a:solidFill>
                            <a:srgbClr val="1F2A24"/>
                          </a:solidFill>
                          <a:latin typeface="Calibri" pitchFamily="34" charset="0"/>
                          <a:ea typeface="Calibri" pitchFamily="34" charset="-122"/>
                          <a:cs typeface="Calibri" pitchFamily="34" charset="-120"/>
                        </a:rPr>
                        <a:t>JWT authorizer</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marL="0" indent="0">
                        <a:buNone/>
                      </a:pPr>
                      <a:r>
                        <a:rPr lang="en-US" sz="1200" dirty="0">
                          <a:solidFill>
                            <a:srgbClr val="1F2A24"/>
                          </a:solidFill>
                          <a:latin typeface="Calibri" pitchFamily="34" charset="0"/>
                          <a:ea typeface="Calibri" pitchFamily="34" charset="-122"/>
                          <a:cs typeface="Calibri" pitchFamily="34" charset="-120"/>
                        </a:rPr>
                        <a:t>:8080/api/{proxy}</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200" dirty="0">
                          <a:solidFill>
                            <a:srgbClr val="1F2A24"/>
                          </a:solidFill>
                          <a:latin typeface="Calibri" pitchFamily="34" charset="0"/>
                          <a:ea typeface="Calibri" pitchFamily="34" charset="-122"/>
                          <a:cs typeface="Calibri" pitchFamily="34" charset="-120"/>
                        </a:rPr>
                        <a:t>POST /api/{proxy+}</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marL="0" indent="0">
                        <a:buNone/>
                      </a:pPr>
                      <a:r>
                        <a:rPr lang="en-US" sz="1200" dirty="0">
                          <a:solidFill>
                            <a:srgbClr val="1F2A24"/>
                          </a:solidFill>
                          <a:latin typeface="Calibri" pitchFamily="34" charset="0"/>
                          <a:ea typeface="Calibri" pitchFamily="34" charset="-122"/>
                          <a:cs typeface="Calibri" pitchFamily="34" charset="-120"/>
                        </a:rPr>
                        <a:t>JWT authorizer</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marL="0" indent="0">
                        <a:buNone/>
                      </a:pPr>
                      <a:r>
                        <a:rPr lang="en-US" sz="1200" dirty="0">
                          <a:solidFill>
                            <a:srgbClr val="1F2A24"/>
                          </a:solidFill>
                          <a:latin typeface="Calibri" pitchFamily="34" charset="0"/>
                          <a:ea typeface="Calibri" pitchFamily="34" charset="-122"/>
                          <a:cs typeface="Calibri" pitchFamily="34" charset="-120"/>
                        </a:rPr>
                        <a:t>:8080/api/{proxy}</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200" dirty="0">
                          <a:solidFill>
                            <a:srgbClr val="1F2A24"/>
                          </a:solidFill>
                          <a:latin typeface="Calibri" pitchFamily="34" charset="0"/>
                          <a:ea typeface="Calibri" pitchFamily="34" charset="-122"/>
                          <a:cs typeface="Calibri" pitchFamily="34" charset="-120"/>
                        </a:rPr>
                        <a:t>PUT /api/{proxy+}</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marL="0" indent="0">
                        <a:buNone/>
                      </a:pPr>
                      <a:r>
                        <a:rPr lang="en-US" sz="1200" dirty="0">
                          <a:solidFill>
                            <a:srgbClr val="1F2A24"/>
                          </a:solidFill>
                          <a:latin typeface="Calibri" pitchFamily="34" charset="0"/>
                          <a:ea typeface="Calibri" pitchFamily="34" charset="-122"/>
                          <a:cs typeface="Calibri" pitchFamily="34" charset="-120"/>
                        </a:rPr>
                        <a:t>JWT authorizer</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marL="0" indent="0">
                        <a:buNone/>
                      </a:pPr>
                      <a:r>
                        <a:rPr lang="en-US" sz="1200" dirty="0">
                          <a:solidFill>
                            <a:srgbClr val="1F2A24"/>
                          </a:solidFill>
                          <a:latin typeface="Calibri" pitchFamily="34" charset="0"/>
                          <a:ea typeface="Calibri" pitchFamily="34" charset="-122"/>
                          <a:cs typeface="Calibri" pitchFamily="34" charset="-120"/>
                        </a:rPr>
                        <a:t>:8080/api/{proxy}</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buNone/>
                      </a:pPr>
                      <a:r>
                        <a:rPr lang="en-US" sz="1200" dirty="0">
                          <a:solidFill>
                            <a:srgbClr val="1F2A24"/>
                          </a:solidFill>
                          <a:latin typeface="Calibri" pitchFamily="34" charset="0"/>
                          <a:ea typeface="Calibri" pitchFamily="34" charset="-122"/>
                          <a:cs typeface="Calibri" pitchFamily="34" charset="-120"/>
                        </a:rPr>
                        <a:t>DELETE /api/{proxy+}</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marL="0" indent="0">
                        <a:buNone/>
                      </a:pPr>
                      <a:r>
                        <a:rPr lang="en-US" sz="1200" dirty="0">
                          <a:solidFill>
                            <a:srgbClr val="1F2A24"/>
                          </a:solidFill>
                          <a:latin typeface="Calibri" pitchFamily="34" charset="0"/>
                          <a:ea typeface="Calibri" pitchFamily="34" charset="-122"/>
                          <a:cs typeface="Calibri" pitchFamily="34" charset="-120"/>
                        </a:rPr>
                        <a:t>JWT authorizer</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marL="0" indent="0">
                        <a:buNone/>
                      </a:pPr>
                      <a:r>
                        <a:rPr lang="en-US" sz="1200" dirty="0">
                          <a:solidFill>
                            <a:srgbClr val="1F2A24"/>
                          </a:solidFill>
                          <a:latin typeface="Calibri" pitchFamily="34" charset="0"/>
                          <a:ea typeface="Calibri" pitchFamily="34" charset="-122"/>
                          <a:cs typeface="Calibri" pitchFamily="34" charset="-120"/>
                        </a:rPr>
                        <a:t>:8080/api/{proxy}</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 name="Shape 1"/>
          <p:cNvSpPr/>
          <p:nvPr/>
        </p:nvSpPr>
        <p:spPr>
          <a:xfrm>
            <a:off x="5623560" y="1097280"/>
            <a:ext cx="502920" cy="502920"/>
          </a:xfrm>
          <a:prstGeom prst="ellipse">
            <a:avLst/>
          </a:prstGeom>
          <a:solidFill>
            <a:srgbClr val="2D6A4F"/>
          </a:solidFill>
          <a:ln w="12700">
            <a:solidFill>
              <a:srgbClr val="2D6A4F"/>
            </a:solidFill>
            <a:prstDash val="solid"/>
          </a:ln>
        </p:spPr>
        <p:txBody>
          <a:bodyPr/>
          <a:lstStyle/>
          <a:p>
            <a:endParaRPr lang="es-CL"/>
          </a:p>
        </p:txBody>
      </p:sp>
      <p:pic>
        <p:nvPicPr>
          <p:cNvPr id="5" name="Image 0" descr="preencoded.png"/>
          <p:cNvPicPr>
            <a:picLocks noChangeAspect="1"/>
          </p:cNvPicPr>
          <p:nvPr/>
        </p:nvPicPr>
        <p:blipFill>
          <a:blip r:embed="rId3"/>
          <a:stretch>
            <a:fillRect/>
          </a:stretch>
        </p:blipFill>
        <p:spPr>
          <a:xfrm>
            <a:off x="5744261" y="1217981"/>
            <a:ext cx="261518" cy="261518"/>
          </a:xfrm>
          <a:prstGeom prst="rect">
            <a:avLst/>
          </a:prstGeom>
        </p:spPr>
      </p:pic>
      <p:sp>
        <p:nvSpPr>
          <p:cNvPr id="6" name="Text 2"/>
          <p:cNvSpPr txBox="1"/>
          <p:nvPr/>
        </p:nvSpPr>
        <p:spPr>
          <a:xfrm>
            <a:off x="6263640" y="1078992"/>
            <a:ext cx="2560320" cy="320040"/>
          </a:xfrm>
          <a:prstGeom prst="rect">
            <a:avLst/>
          </a:prstGeom>
          <a:noFill/>
          <a:ln/>
        </p:spPr>
        <p:txBody>
          <a:bodyPr wrap="square" lIns="0" tIns="0" rIns="0" bIns="0" rtlCol="0" anchor="ctr"/>
          <a:lstStyle/>
          <a:p>
            <a:pPr marL="0" indent="0">
              <a:buNone/>
            </a:pPr>
            <a:r>
              <a:rPr lang="en-US" sz="1400" b="1" dirty="0">
                <a:solidFill>
                  <a:srgbClr val="14342B"/>
                </a:solidFill>
                <a:latin typeface="Calibri" pitchFamily="34" charset="0"/>
                <a:ea typeface="Calibri" pitchFamily="34" charset="-122"/>
                <a:cs typeface="Calibri" pitchFamily="34" charset="-120"/>
              </a:rPr>
              <a:t>JWT authorizer</a:t>
            </a:r>
            <a:endParaRPr lang="en-US" sz="1400" dirty="0"/>
          </a:p>
        </p:txBody>
      </p:sp>
      <p:sp>
        <p:nvSpPr>
          <p:cNvPr id="3" name="Text 3"/>
          <p:cNvSpPr txBox="1"/>
          <p:nvPr/>
        </p:nvSpPr>
        <p:spPr>
          <a:xfrm>
            <a:off x="6263640" y="1399032"/>
            <a:ext cx="2560320" cy="777240"/>
          </a:xfrm>
          <a:prstGeom prst="rect">
            <a:avLst/>
          </a:prstGeom>
          <a:noFill/>
          <a:ln/>
        </p:spPr>
        <p:txBody>
          <a:bodyPr wrap="square" lIns="0" tIns="0" rIns="0" bIns="0" rtlCol="0" anchor="t"/>
          <a:lstStyle/>
          <a:p>
            <a:pPr marL="0" indent="0">
              <a:buNone/>
            </a:pPr>
            <a:r>
              <a:rPr lang="en-US" sz="1100" dirty="0">
                <a:solidFill>
                  <a:srgbClr val="1F2A24"/>
                </a:solidFill>
                <a:latin typeface="Calibri" pitchFamily="34" charset="0"/>
                <a:ea typeface="Calibri" pitchFamily="34" charset="-122"/>
                <a:cs typeface="Calibri" pitchFamily="34" charset="-120"/>
              </a:rPr>
              <a:t>Valida firma, vigencia, issuer (tenant) y audience (Client ID). Si falla: 401 sin llegar al backend.</a:t>
            </a:r>
            <a:endParaRPr lang="en-US" sz="1100" dirty="0"/>
          </a:p>
        </p:txBody>
      </p:sp>
      <p:sp>
        <p:nvSpPr>
          <p:cNvPr id="8" name="Shape 4"/>
          <p:cNvSpPr/>
          <p:nvPr/>
        </p:nvSpPr>
        <p:spPr>
          <a:xfrm>
            <a:off x="5623560" y="2286000"/>
            <a:ext cx="502920" cy="502920"/>
          </a:xfrm>
          <a:prstGeom prst="ellipse">
            <a:avLst/>
          </a:prstGeom>
          <a:solidFill>
            <a:srgbClr val="2D6A4F"/>
          </a:solidFill>
          <a:ln w="12700">
            <a:solidFill>
              <a:srgbClr val="2D6A4F"/>
            </a:solidFill>
            <a:prstDash val="solid"/>
          </a:ln>
        </p:spPr>
        <p:txBody>
          <a:bodyPr/>
          <a:lstStyle/>
          <a:p>
            <a:endParaRPr lang="es-CL"/>
          </a:p>
        </p:txBody>
      </p:sp>
      <p:pic>
        <p:nvPicPr>
          <p:cNvPr id="9" name="Image 1" descr="preencoded.png"/>
          <p:cNvPicPr>
            <a:picLocks noChangeAspect="1"/>
          </p:cNvPicPr>
          <p:nvPr/>
        </p:nvPicPr>
        <p:blipFill>
          <a:blip r:embed="rId4"/>
          <a:stretch>
            <a:fillRect/>
          </a:stretch>
        </p:blipFill>
        <p:spPr>
          <a:xfrm>
            <a:off x="5744261" y="2406701"/>
            <a:ext cx="261518" cy="261518"/>
          </a:xfrm>
          <a:prstGeom prst="rect">
            <a:avLst/>
          </a:prstGeom>
        </p:spPr>
      </p:pic>
      <p:sp>
        <p:nvSpPr>
          <p:cNvPr id="10" name="Text 5"/>
          <p:cNvSpPr txBox="1"/>
          <p:nvPr/>
        </p:nvSpPr>
        <p:spPr>
          <a:xfrm>
            <a:off x="6263640" y="2267712"/>
            <a:ext cx="2560320" cy="320040"/>
          </a:xfrm>
          <a:prstGeom prst="rect">
            <a:avLst/>
          </a:prstGeom>
          <a:noFill/>
          <a:ln/>
        </p:spPr>
        <p:txBody>
          <a:bodyPr wrap="square" lIns="0" tIns="0" rIns="0" bIns="0" rtlCol="0" anchor="ctr"/>
          <a:lstStyle/>
          <a:p>
            <a:pPr marL="0" indent="0">
              <a:buNone/>
            </a:pPr>
            <a:r>
              <a:rPr lang="en-US" sz="1400" b="1" dirty="0">
                <a:solidFill>
                  <a:srgbClr val="14342B"/>
                </a:solidFill>
                <a:latin typeface="Calibri" pitchFamily="34" charset="0"/>
                <a:ea typeface="Calibri" pitchFamily="34" charset="-122"/>
                <a:cs typeface="Calibri" pitchFamily="34" charset="-120"/>
              </a:rPr>
              <a:t>CORS restringido</a:t>
            </a:r>
            <a:endParaRPr lang="en-US" sz="1400" dirty="0"/>
          </a:p>
        </p:txBody>
      </p:sp>
      <p:sp>
        <p:nvSpPr>
          <p:cNvPr id="11" name="Text 6"/>
          <p:cNvSpPr txBox="1"/>
          <p:nvPr/>
        </p:nvSpPr>
        <p:spPr>
          <a:xfrm>
            <a:off x="6263640" y="2587752"/>
            <a:ext cx="2560320" cy="777240"/>
          </a:xfrm>
          <a:prstGeom prst="rect">
            <a:avLst/>
          </a:prstGeom>
          <a:noFill/>
          <a:ln/>
        </p:spPr>
        <p:txBody>
          <a:bodyPr wrap="square" lIns="0" tIns="0" rIns="0" bIns="0" rtlCol="0" anchor="t"/>
          <a:lstStyle/>
          <a:p>
            <a:pPr marL="0" indent="0">
              <a:buNone/>
            </a:pPr>
            <a:r>
              <a:rPr lang="en-US" sz="1100" dirty="0">
                <a:solidFill>
                  <a:srgbClr val="1F2A24"/>
                </a:solidFill>
                <a:latin typeface="Calibri" pitchFamily="34" charset="0"/>
                <a:ea typeface="Calibri" pitchFamily="34" charset="-122"/>
                <a:cs typeface="Calibri" pitchFamily="34" charset="-120"/>
              </a:rPr>
              <a:t>Solo el origen del frontend; headers authorization y content-type; métodos necesarios.</a:t>
            </a:r>
            <a:endParaRPr lang="en-US" sz="1100" dirty="0"/>
          </a:p>
        </p:txBody>
      </p:sp>
      <p:sp>
        <p:nvSpPr>
          <p:cNvPr id="12" name="Shape 7"/>
          <p:cNvSpPr/>
          <p:nvPr/>
        </p:nvSpPr>
        <p:spPr>
          <a:xfrm>
            <a:off x="5623560" y="3474720"/>
            <a:ext cx="502920" cy="502920"/>
          </a:xfrm>
          <a:prstGeom prst="ellipse">
            <a:avLst/>
          </a:prstGeom>
          <a:solidFill>
            <a:srgbClr val="2D6A4F"/>
          </a:solidFill>
          <a:ln w="12700">
            <a:solidFill>
              <a:srgbClr val="2D6A4F"/>
            </a:solidFill>
            <a:prstDash val="solid"/>
          </a:ln>
        </p:spPr>
        <p:txBody>
          <a:bodyPr/>
          <a:lstStyle/>
          <a:p>
            <a:endParaRPr lang="es-CL"/>
          </a:p>
        </p:txBody>
      </p:sp>
      <p:pic>
        <p:nvPicPr>
          <p:cNvPr id="13" name="Image 2" descr="preencoded.png"/>
          <p:cNvPicPr>
            <a:picLocks noChangeAspect="1"/>
          </p:cNvPicPr>
          <p:nvPr/>
        </p:nvPicPr>
        <p:blipFill>
          <a:blip r:embed="rId5"/>
          <a:stretch>
            <a:fillRect/>
          </a:stretch>
        </p:blipFill>
        <p:spPr>
          <a:xfrm>
            <a:off x="5744261" y="3595421"/>
            <a:ext cx="261518" cy="261518"/>
          </a:xfrm>
          <a:prstGeom prst="rect">
            <a:avLst/>
          </a:prstGeom>
        </p:spPr>
      </p:pic>
      <p:sp>
        <p:nvSpPr>
          <p:cNvPr id="14" name="Text 8"/>
          <p:cNvSpPr txBox="1"/>
          <p:nvPr/>
        </p:nvSpPr>
        <p:spPr>
          <a:xfrm>
            <a:off x="6263640" y="3456432"/>
            <a:ext cx="2560320" cy="320040"/>
          </a:xfrm>
          <a:prstGeom prst="rect">
            <a:avLst/>
          </a:prstGeom>
          <a:noFill/>
          <a:ln/>
        </p:spPr>
        <p:txBody>
          <a:bodyPr wrap="square" lIns="0" tIns="0" rIns="0" bIns="0" rtlCol="0" anchor="ctr"/>
          <a:lstStyle/>
          <a:p>
            <a:pPr marL="0" indent="0">
              <a:buNone/>
            </a:pPr>
            <a:r>
              <a:rPr lang="en-US" sz="1400" b="1" dirty="0">
                <a:solidFill>
                  <a:srgbClr val="14342B"/>
                </a:solidFill>
                <a:latin typeface="Calibri" pitchFamily="34" charset="0"/>
                <a:ea typeface="Calibri" pitchFamily="34" charset="-122"/>
                <a:cs typeface="Calibri" pitchFamily="34" charset="-120"/>
              </a:rPr>
              <a:t>Métodos explícitos</a:t>
            </a:r>
            <a:endParaRPr lang="en-US" sz="1400" dirty="0"/>
          </a:p>
        </p:txBody>
      </p:sp>
      <p:sp>
        <p:nvSpPr>
          <p:cNvPr id="15" name="Text 9"/>
          <p:cNvSpPr txBox="1"/>
          <p:nvPr/>
        </p:nvSpPr>
        <p:spPr>
          <a:xfrm>
            <a:off x="6263640" y="3776472"/>
            <a:ext cx="2560320" cy="777240"/>
          </a:xfrm>
          <a:prstGeom prst="rect">
            <a:avLst/>
          </a:prstGeom>
          <a:noFill/>
          <a:ln/>
        </p:spPr>
        <p:txBody>
          <a:bodyPr wrap="square" lIns="0" tIns="0" rIns="0" bIns="0" rtlCol="0" anchor="t"/>
          <a:lstStyle/>
          <a:p>
            <a:pPr marL="0" indent="0">
              <a:buNone/>
            </a:pPr>
            <a:r>
              <a:rPr lang="en-US" sz="1100" dirty="0">
                <a:solidFill>
                  <a:srgbClr val="1F2A24"/>
                </a:solidFill>
                <a:latin typeface="Calibri" pitchFamily="34" charset="0"/>
                <a:ea typeface="Calibri" pitchFamily="34" charset="-122"/>
                <a:cs typeface="Calibri" pitchFamily="34" charset="-120"/>
              </a:rPr>
              <a:t>Sin ANY en /api: el preflight OPTIONS no lleva token y chocaría con el authorizer.</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8F5EE"/>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14342B"/>
                </a:solidFill>
                <a:latin typeface="Calibri" pitchFamily="34" charset="0"/>
                <a:ea typeface="Calibri" pitchFamily="34" charset="-122"/>
                <a:cs typeface="Calibri" pitchFamily="34" charset="-120"/>
              </a:rPr>
              <a:t>Seguridad en dos capas</a:t>
            </a:r>
            <a:endParaRPr lang="en-US" sz="3000" dirty="0"/>
          </a:p>
        </p:txBody>
      </p:sp>
      <p:sp>
        <p:nvSpPr>
          <p:cNvPr id="3" name="Shape 1"/>
          <p:cNvSpPr/>
          <p:nvPr/>
        </p:nvSpPr>
        <p:spPr>
          <a:xfrm>
            <a:off x="457200" y="1097280"/>
            <a:ext cx="3931920" cy="3611880"/>
          </a:xfrm>
          <a:prstGeom prst="roundRect">
            <a:avLst>
              <a:gd name="adj" fmla="val 2532"/>
            </a:avLst>
          </a:prstGeom>
          <a:solidFill>
            <a:srgbClr val="FFFFFF"/>
          </a:solidFill>
          <a:ln w="12700">
            <a:solidFill>
              <a:srgbClr val="FFFFFF"/>
            </a:solidFill>
            <a:prstDash val="solid"/>
          </a:ln>
          <a:effectLst>
            <a:outerShdw blurRad="76200" dist="25400" dir="5400000" algn="bl" rotWithShape="0">
              <a:srgbClr val="000000">
                <a:alpha val="15000"/>
              </a:srgbClr>
            </a:outerShdw>
          </a:effectLst>
        </p:spPr>
        <p:txBody>
          <a:bodyPr/>
          <a:lstStyle/>
          <a:p>
            <a:endParaRPr lang="es-CL"/>
          </a:p>
        </p:txBody>
      </p:sp>
      <p:sp>
        <p:nvSpPr>
          <p:cNvPr id="4" name="Shape 2"/>
          <p:cNvSpPr/>
          <p:nvPr/>
        </p:nvSpPr>
        <p:spPr>
          <a:xfrm>
            <a:off x="731520" y="1325880"/>
            <a:ext cx="594360" cy="594360"/>
          </a:xfrm>
          <a:prstGeom prst="ellipse">
            <a:avLst/>
          </a:prstGeom>
          <a:solidFill>
            <a:srgbClr val="2D6A4F"/>
          </a:solidFill>
          <a:ln w="12700">
            <a:solidFill>
              <a:srgbClr val="2D6A4F"/>
            </a:solidFill>
            <a:prstDash val="solid"/>
          </a:ln>
        </p:spPr>
        <p:txBody>
          <a:bodyPr/>
          <a:lstStyle/>
          <a:p>
            <a:endParaRPr lang="es-CL"/>
          </a:p>
        </p:txBody>
      </p:sp>
      <p:pic>
        <p:nvPicPr>
          <p:cNvPr id="5" name="Image 0" descr="preencoded.png"/>
          <p:cNvPicPr>
            <a:picLocks noChangeAspect="1"/>
          </p:cNvPicPr>
          <p:nvPr/>
        </p:nvPicPr>
        <p:blipFill>
          <a:blip r:embed="rId3"/>
          <a:stretch>
            <a:fillRect/>
          </a:stretch>
        </p:blipFill>
        <p:spPr>
          <a:xfrm>
            <a:off x="874166" y="1468526"/>
            <a:ext cx="309067" cy="309067"/>
          </a:xfrm>
          <a:prstGeom prst="rect">
            <a:avLst/>
          </a:prstGeom>
        </p:spPr>
      </p:pic>
      <p:sp>
        <p:nvSpPr>
          <p:cNvPr id="6" name="Text 3"/>
          <p:cNvSpPr txBox="1"/>
          <p:nvPr/>
        </p:nvSpPr>
        <p:spPr>
          <a:xfrm>
            <a:off x="1463040" y="1325880"/>
            <a:ext cx="2743200" cy="320040"/>
          </a:xfrm>
          <a:prstGeom prst="rect">
            <a:avLst/>
          </a:prstGeom>
          <a:noFill/>
          <a:ln/>
        </p:spPr>
        <p:txBody>
          <a:bodyPr wrap="square" lIns="0" tIns="0" rIns="0" bIns="0" rtlCol="0" anchor="ctr"/>
          <a:lstStyle/>
          <a:p>
            <a:pPr marL="0" indent="0">
              <a:buNone/>
            </a:pPr>
            <a:r>
              <a:rPr lang="en-US" sz="1700" b="1" dirty="0">
                <a:solidFill>
                  <a:srgbClr val="14342B"/>
                </a:solidFill>
                <a:latin typeface="Calibri" pitchFamily="34" charset="0"/>
                <a:ea typeface="Calibri" pitchFamily="34" charset="-122"/>
                <a:cs typeface="Calibri" pitchFamily="34" charset="-120"/>
              </a:rPr>
              <a:t>API Gateway</a:t>
            </a:r>
            <a:endParaRPr lang="en-US" sz="1700" dirty="0"/>
          </a:p>
        </p:txBody>
      </p:sp>
      <p:sp>
        <p:nvSpPr>
          <p:cNvPr id="7" name="Text 4"/>
          <p:cNvSpPr txBox="1"/>
          <p:nvPr/>
        </p:nvSpPr>
        <p:spPr>
          <a:xfrm>
            <a:off x="1463040" y="1645920"/>
            <a:ext cx="2743200" cy="320040"/>
          </a:xfrm>
          <a:prstGeom prst="rect">
            <a:avLst/>
          </a:prstGeom>
          <a:noFill/>
          <a:ln/>
        </p:spPr>
        <p:txBody>
          <a:bodyPr wrap="square" lIns="0" tIns="0" rIns="0" bIns="0" rtlCol="0" anchor="ctr"/>
          <a:lstStyle/>
          <a:p>
            <a:pPr marL="0" indent="0">
              <a:buNone/>
            </a:pPr>
            <a:r>
              <a:rPr lang="en-US" sz="1200" i="1" dirty="0">
                <a:solidFill>
                  <a:srgbClr val="2D6A4F"/>
                </a:solidFill>
                <a:latin typeface="Calibri" pitchFamily="34" charset="0"/>
                <a:ea typeface="Calibri" pitchFamily="34" charset="-122"/>
                <a:cs typeface="Calibri" pitchFamily="34" charset="-120"/>
              </a:rPr>
              <a:t>¿El token es auténtico?</a:t>
            </a:r>
            <a:endParaRPr lang="en-US" sz="1200" dirty="0"/>
          </a:p>
        </p:txBody>
      </p:sp>
      <p:sp>
        <p:nvSpPr>
          <p:cNvPr id="8" name="Text 5"/>
          <p:cNvSpPr txBox="1"/>
          <p:nvPr/>
        </p:nvSpPr>
        <p:spPr>
          <a:xfrm>
            <a:off x="731520" y="2194560"/>
            <a:ext cx="3474720" cy="16459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A24"/>
                </a:solidFill>
                <a:latin typeface="Calibri" pitchFamily="34" charset="0"/>
                <a:ea typeface="Calibri" pitchFamily="34" charset="-122"/>
                <a:cs typeface="Calibri" pitchFamily="34" charset="-120"/>
              </a:rPr>
              <a:t>Firma verificada con JWKS de Entra ID</a:t>
            </a:r>
            <a:endParaRPr lang="en-US" sz="1300" dirty="0"/>
          </a:p>
          <a:p>
            <a:pPr marL="342900" indent="-342900">
              <a:spcAft>
                <a:spcPts val="600"/>
              </a:spcAft>
              <a:buSzPct val="100000"/>
              <a:buChar char="•"/>
            </a:pPr>
            <a:r>
              <a:rPr lang="en-US" sz="1300" dirty="0">
                <a:solidFill>
                  <a:srgbClr val="1F2A24"/>
                </a:solidFill>
                <a:latin typeface="Calibri" pitchFamily="34" charset="0"/>
                <a:ea typeface="Calibri" pitchFamily="34" charset="-122"/>
                <a:cs typeface="Calibri" pitchFamily="34" charset="-120"/>
              </a:rPr>
              <a:t>Vigencia (exp)</a:t>
            </a:r>
            <a:endParaRPr lang="en-US" sz="1300" dirty="0"/>
          </a:p>
          <a:p>
            <a:pPr marL="342900" indent="-342900">
              <a:spcAft>
                <a:spcPts val="600"/>
              </a:spcAft>
              <a:buSzPct val="100000"/>
              <a:buChar char="•"/>
            </a:pPr>
            <a:r>
              <a:rPr lang="en-US" sz="1300" dirty="0">
                <a:solidFill>
                  <a:srgbClr val="1F2A24"/>
                </a:solidFill>
                <a:latin typeface="Calibri" pitchFamily="34" charset="0"/>
                <a:ea typeface="Calibri" pitchFamily="34" charset="-122"/>
                <a:cs typeface="Calibri" pitchFamily="34" charset="-120"/>
              </a:rPr>
              <a:t>Issuer = mi tenant</a:t>
            </a:r>
            <a:endParaRPr lang="en-US" sz="1300" dirty="0"/>
          </a:p>
          <a:p>
            <a:pPr marL="342900" indent="-342900">
              <a:spcAft>
                <a:spcPts val="600"/>
              </a:spcAft>
              <a:buSzPct val="100000"/>
              <a:buChar char="•"/>
            </a:pPr>
            <a:r>
              <a:rPr lang="en-US" sz="1300" dirty="0">
                <a:solidFill>
                  <a:srgbClr val="1F2A24"/>
                </a:solidFill>
                <a:latin typeface="Calibri" pitchFamily="34" charset="0"/>
                <a:ea typeface="Calibri" pitchFamily="34" charset="-122"/>
                <a:cs typeface="Calibri" pitchFamily="34" charset="-120"/>
              </a:rPr>
              <a:t>Audience = mi aplicación</a:t>
            </a:r>
            <a:endParaRPr lang="en-US" sz="1300" dirty="0"/>
          </a:p>
        </p:txBody>
      </p:sp>
      <p:sp>
        <p:nvSpPr>
          <p:cNvPr id="9" name="Shape 6"/>
          <p:cNvSpPr/>
          <p:nvPr/>
        </p:nvSpPr>
        <p:spPr>
          <a:xfrm>
            <a:off x="731520" y="3977640"/>
            <a:ext cx="3383280" cy="457200"/>
          </a:xfrm>
          <a:prstGeom prst="roundRect">
            <a:avLst>
              <a:gd name="adj" fmla="val 16000"/>
            </a:avLst>
          </a:prstGeom>
          <a:solidFill>
            <a:srgbClr val="F4A261"/>
          </a:solidFill>
          <a:ln w="12700">
            <a:solidFill>
              <a:srgbClr val="F4A261"/>
            </a:solidFill>
            <a:prstDash val="solid"/>
          </a:ln>
        </p:spPr>
        <p:txBody>
          <a:bodyPr/>
          <a:lstStyle/>
          <a:p>
            <a:endParaRPr lang="es-CL"/>
          </a:p>
        </p:txBody>
      </p:sp>
      <p:sp>
        <p:nvSpPr>
          <p:cNvPr id="10" name="Text 7"/>
          <p:cNvSpPr txBox="1"/>
          <p:nvPr/>
        </p:nvSpPr>
        <p:spPr>
          <a:xfrm>
            <a:off x="731520" y="3977640"/>
            <a:ext cx="33832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401 si falla</a:t>
            </a:r>
            <a:endParaRPr lang="en-US" sz="1400" dirty="0"/>
          </a:p>
        </p:txBody>
      </p:sp>
      <p:sp>
        <p:nvSpPr>
          <p:cNvPr id="11" name="Shape 8"/>
          <p:cNvSpPr/>
          <p:nvPr/>
        </p:nvSpPr>
        <p:spPr>
          <a:xfrm>
            <a:off x="4663440" y="1097280"/>
            <a:ext cx="3931920" cy="3611880"/>
          </a:xfrm>
          <a:prstGeom prst="roundRect">
            <a:avLst>
              <a:gd name="adj" fmla="val 2532"/>
            </a:avLst>
          </a:prstGeom>
          <a:solidFill>
            <a:srgbClr val="FFFFFF"/>
          </a:solidFill>
          <a:ln w="12700">
            <a:solidFill>
              <a:srgbClr val="FFFFFF"/>
            </a:solidFill>
            <a:prstDash val="solid"/>
          </a:ln>
          <a:effectLst>
            <a:outerShdw blurRad="76200" dist="25400" dir="5400000" algn="bl" rotWithShape="0">
              <a:srgbClr val="000000">
                <a:alpha val="15000"/>
              </a:srgbClr>
            </a:outerShdw>
          </a:effectLst>
        </p:spPr>
        <p:txBody>
          <a:bodyPr/>
          <a:lstStyle/>
          <a:p>
            <a:endParaRPr lang="es-CL"/>
          </a:p>
        </p:txBody>
      </p:sp>
      <p:sp>
        <p:nvSpPr>
          <p:cNvPr id="12" name="Shape 9"/>
          <p:cNvSpPr/>
          <p:nvPr/>
        </p:nvSpPr>
        <p:spPr>
          <a:xfrm>
            <a:off x="4937760" y="1325880"/>
            <a:ext cx="594360" cy="594360"/>
          </a:xfrm>
          <a:prstGeom prst="ellipse">
            <a:avLst/>
          </a:prstGeom>
          <a:solidFill>
            <a:srgbClr val="2D6A4F"/>
          </a:solidFill>
          <a:ln w="12700">
            <a:solidFill>
              <a:srgbClr val="2D6A4F"/>
            </a:solidFill>
            <a:prstDash val="solid"/>
          </a:ln>
        </p:spPr>
        <p:txBody>
          <a:bodyPr/>
          <a:lstStyle/>
          <a:p>
            <a:endParaRPr lang="es-CL"/>
          </a:p>
        </p:txBody>
      </p:sp>
      <p:pic>
        <p:nvPicPr>
          <p:cNvPr id="13" name="Image 1" descr="preencoded.png"/>
          <p:cNvPicPr>
            <a:picLocks noChangeAspect="1"/>
          </p:cNvPicPr>
          <p:nvPr/>
        </p:nvPicPr>
        <p:blipFill>
          <a:blip r:embed="rId4"/>
          <a:stretch>
            <a:fillRect/>
          </a:stretch>
        </p:blipFill>
        <p:spPr>
          <a:xfrm>
            <a:off x="5080406" y="1468526"/>
            <a:ext cx="309067" cy="309067"/>
          </a:xfrm>
          <a:prstGeom prst="rect">
            <a:avLst/>
          </a:prstGeom>
        </p:spPr>
      </p:pic>
      <p:sp>
        <p:nvSpPr>
          <p:cNvPr id="14" name="Text 10"/>
          <p:cNvSpPr txBox="1"/>
          <p:nvPr/>
        </p:nvSpPr>
        <p:spPr>
          <a:xfrm>
            <a:off x="5669280" y="1325880"/>
            <a:ext cx="2743200" cy="320040"/>
          </a:xfrm>
          <a:prstGeom prst="rect">
            <a:avLst/>
          </a:prstGeom>
          <a:noFill/>
          <a:ln/>
        </p:spPr>
        <p:txBody>
          <a:bodyPr wrap="square" lIns="0" tIns="0" rIns="0" bIns="0" rtlCol="0" anchor="ctr"/>
          <a:lstStyle/>
          <a:p>
            <a:pPr marL="0" indent="0">
              <a:buNone/>
            </a:pPr>
            <a:r>
              <a:rPr lang="en-US" sz="1700" b="1" dirty="0">
                <a:solidFill>
                  <a:srgbClr val="14342B"/>
                </a:solidFill>
                <a:latin typeface="Calibri" pitchFamily="34" charset="0"/>
                <a:ea typeface="Calibri" pitchFamily="34" charset="-122"/>
                <a:cs typeface="Calibri" pitchFamily="34" charset="-120"/>
              </a:rPr>
              <a:t>Backend Spring Boot</a:t>
            </a:r>
            <a:endParaRPr lang="en-US" sz="1700" dirty="0"/>
          </a:p>
        </p:txBody>
      </p:sp>
      <p:sp>
        <p:nvSpPr>
          <p:cNvPr id="15" name="Text 11"/>
          <p:cNvSpPr txBox="1"/>
          <p:nvPr/>
        </p:nvSpPr>
        <p:spPr>
          <a:xfrm>
            <a:off x="5669280" y="1645920"/>
            <a:ext cx="2743200" cy="320040"/>
          </a:xfrm>
          <a:prstGeom prst="rect">
            <a:avLst/>
          </a:prstGeom>
          <a:noFill/>
          <a:ln/>
        </p:spPr>
        <p:txBody>
          <a:bodyPr wrap="square" lIns="0" tIns="0" rIns="0" bIns="0" rtlCol="0" anchor="ctr"/>
          <a:lstStyle/>
          <a:p>
            <a:pPr marL="0" indent="0">
              <a:buNone/>
            </a:pPr>
            <a:r>
              <a:rPr lang="en-US" sz="1200" i="1" dirty="0">
                <a:solidFill>
                  <a:srgbClr val="2D6A4F"/>
                </a:solidFill>
                <a:latin typeface="Calibri" pitchFamily="34" charset="0"/>
                <a:ea typeface="Calibri" pitchFamily="34" charset="-122"/>
                <a:cs typeface="Calibri" pitchFamily="34" charset="-120"/>
              </a:rPr>
              <a:t>¿Tiene permiso para esta operación?</a:t>
            </a:r>
            <a:endParaRPr lang="en-US" sz="1200" dirty="0"/>
          </a:p>
        </p:txBody>
      </p:sp>
      <p:sp>
        <p:nvSpPr>
          <p:cNvPr id="16" name="Text 12"/>
          <p:cNvSpPr txBox="1"/>
          <p:nvPr/>
        </p:nvSpPr>
        <p:spPr>
          <a:xfrm>
            <a:off x="4937760" y="2194560"/>
            <a:ext cx="3474720" cy="16459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A24"/>
                </a:solidFill>
                <a:latin typeface="Calibri" pitchFamily="34" charset="0"/>
                <a:ea typeface="Calibri" pitchFamily="34" charset="-122"/>
                <a:cs typeface="Calibri" pitchFamily="34" charset="-120"/>
              </a:rPr>
              <a:t>Vuelve a validar el token (Resource Server)</a:t>
            </a:r>
            <a:endParaRPr lang="en-US" sz="1300" dirty="0"/>
          </a:p>
          <a:p>
            <a:pPr marL="342900" indent="-342900">
              <a:spcAft>
                <a:spcPts val="600"/>
              </a:spcAft>
              <a:buSzPct val="100000"/>
              <a:buChar char="•"/>
            </a:pPr>
            <a:r>
              <a:rPr lang="en-US" sz="1300" dirty="0">
                <a:solidFill>
                  <a:srgbClr val="1F2A24"/>
                </a:solidFill>
                <a:latin typeface="Calibri" pitchFamily="34" charset="0"/>
                <a:ea typeface="Calibri" pitchFamily="34" charset="-122"/>
                <a:cs typeface="Calibri" pitchFamily="34" charset="-120"/>
              </a:rPr>
              <a:t>Autorización por rol: ROLE_ENCARGADO</a:t>
            </a:r>
            <a:endParaRPr lang="en-US" sz="1300" dirty="0"/>
          </a:p>
          <a:p>
            <a:pPr marL="342900" indent="-342900">
              <a:spcAft>
                <a:spcPts val="600"/>
              </a:spcAft>
              <a:buSzPct val="100000"/>
              <a:buChar char="•"/>
            </a:pPr>
            <a:r>
              <a:rPr lang="en-US" sz="1300" dirty="0">
                <a:solidFill>
                  <a:srgbClr val="1F2A24"/>
                </a:solidFill>
                <a:latin typeface="Calibri" pitchFamily="34" charset="0"/>
                <a:ea typeface="Calibri" pitchFamily="34" charset="-122"/>
                <a:cs typeface="Calibri" pitchFamily="34" charset="-120"/>
              </a:rPr>
              <a:t>Autorización por scope: reportes.read / write</a:t>
            </a:r>
            <a:endParaRPr lang="en-US" sz="1300" dirty="0"/>
          </a:p>
          <a:p>
            <a:pPr marL="342900" indent="-342900">
              <a:spcAft>
                <a:spcPts val="600"/>
              </a:spcAft>
              <a:buSzPct val="100000"/>
              <a:buChar char="•"/>
            </a:pPr>
            <a:r>
              <a:rPr lang="en-US" sz="1300" dirty="0">
                <a:solidFill>
                  <a:srgbClr val="1F2A24"/>
                </a:solidFill>
                <a:latin typeface="Calibri" pitchFamily="34" charset="0"/>
                <a:ea typeface="Calibri" pitchFamily="34" charset="-122"/>
                <a:cs typeface="Calibri" pitchFamily="34" charset="-120"/>
              </a:rPr>
              <a:t>Errores en JSON: 401 / 403 / 404</a:t>
            </a:r>
            <a:endParaRPr lang="en-US" sz="1300" dirty="0"/>
          </a:p>
        </p:txBody>
      </p:sp>
      <p:sp>
        <p:nvSpPr>
          <p:cNvPr id="17" name="Shape 13"/>
          <p:cNvSpPr/>
          <p:nvPr/>
        </p:nvSpPr>
        <p:spPr>
          <a:xfrm>
            <a:off x="4937760" y="3977640"/>
            <a:ext cx="3383280" cy="457200"/>
          </a:xfrm>
          <a:prstGeom prst="roundRect">
            <a:avLst>
              <a:gd name="adj" fmla="val 16000"/>
            </a:avLst>
          </a:prstGeom>
          <a:solidFill>
            <a:srgbClr val="C0392B"/>
          </a:solidFill>
          <a:ln w="12700">
            <a:solidFill>
              <a:srgbClr val="C0392B"/>
            </a:solidFill>
            <a:prstDash val="solid"/>
          </a:ln>
        </p:spPr>
        <p:txBody>
          <a:bodyPr/>
          <a:lstStyle/>
          <a:p>
            <a:endParaRPr lang="es-CL"/>
          </a:p>
        </p:txBody>
      </p:sp>
      <p:sp>
        <p:nvSpPr>
          <p:cNvPr id="18" name="Text 14"/>
          <p:cNvSpPr txBox="1"/>
          <p:nvPr/>
        </p:nvSpPr>
        <p:spPr>
          <a:xfrm>
            <a:off x="4937760" y="3977640"/>
            <a:ext cx="33832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403 si falta el permiso</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14342B"/>
                </a:solidFill>
                <a:latin typeface="Calibri" pitchFamily="34" charset="0"/>
                <a:ea typeface="Calibri" pitchFamily="34" charset="-122"/>
                <a:cs typeface="Calibri" pitchFamily="34" charset="-120"/>
              </a:rPr>
              <a:t>Evidencia: matriz de autorización</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11480" y="1051560"/>
          <a:ext cx="8321040" cy="3127248"/>
        </p:xfrm>
        <a:graphic>
          <a:graphicData uri="http://schemas.openxmlformats.org/drawingml/2006/table">
            <a:tbl>
              <a:tblPr/>
              <a:tblGrid>
                <a:gridCol w="38404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347472">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Escenario</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14342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Usuario</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14342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Resultado</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14342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Responde</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14342B"/>
                    </a:solidFill>
                  </a:tcPr>
                </a:tc>
                <a:extLst>
                  <a:ext uri="{0D108BD9-81ED-4DB2-BD59-A6C34878D82A}">
                    <a16:rowId xmlns:a16="http://schemas.microsoft.com/office/drawing/2014/main" val="10000"/>
                  </a:ext>
                </a:extLst>
              </a:tr>
              <a:tr h="347472">
                <a:tc>
                  <a:txBody>
                    <a:bodyPr/>
                    <a:lstStyle/>
                    <a:p>
                      <a:pPr marL="0" indent="0">
                        <a:buNone/>
                      </a:pPr>
                      <a:r>
                        <a:rPr lang="en-US" sz="1200" dirty="0">
                          <a:solidFill>
                            <a:srgbClr val="1F2A24"/>
                          </a:solidFill>
                          <a:latin typeface="Calibri" pitchFamily="34" charset="0"/>
                          <a:ea typeface="Calibri" pitchFamily="34" charset="-122"/>
                          <a:cs typeface="Calibri" pitchFamily="34" charset="-120"/>
                        </a:rPr>
                        <a:t>GET /public/puntos-limpios sin token</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marL="0" indent="0">
                        <a:buNone/>
                      </a:pPr>
                      <a:r>
                        <a:rPr lang="en-US" sz="1200" dirty="0">
                          <a:solidFill>
                            <a:srgbClr val="1F2A24"/>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marL="0" indent="0">
                        <a:buNone/>
                      </a:pPr>
                      <a:r>
                        <a:rPr lang="en-US" sz="1200" b="1" dirty="0">
                          <a:solidFill>
                            <a:srgbClr val="2D6A4F"/>
                          </a:solidFill>
                          <a:latin typeface="Calibri" pitchFamily="34" charset="0"/>
                          <a:ea typeface="Calibri" pitchFamily="34" charset="-122"/>
                          <a:cs typeface="Calibri" pitchFamily="34" charset="-120"/>
                        </a:rPr>
                        <a:t>200</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marL="0" indent="0">
                        <a:buNone/>
                      </a:pPr>
                      <a:r>
                        <a:rPr lang="en-US" sz="1200" dirty="0">
                          <a:solidFill>
                            <a:srgbClr val="1F2A24"/>
                          </a:solidFill>
                          <a:latin typeface="Calibri" pitchFamily="34" charset="0"/>
                          <a:ea typeface="Calibri" pitchFamily="34" charset="-122"/>
                          <a:cs typeface="Calibri" pitchFamily="34" charset="-120"/>
                        </a:rPr>
                        <a:t>Backend</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buNone/>
                      </a:pPr>
                      <a:r>
                        <a:rPr lang="en-US" sz="1200" dirty="0">
                          <a:solidFill>
                            <a:srgbClr val="1F2A24"/>
                          </a:solidFill>
                          <a:latin typeface="Calibri" pitchFamily="34" charset="0"/>
                          <a:ea typeface="Calibri" pitchFamily="34" charset="-122"/>
                          <a:cs typeface="Calibri" pitchFamily="34" charset="-120"/>
                        </a:rPr>
                        <a:t>GET /api/puntos-limpios sin token</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marL="0" indent="0">
                        <a:buNone/>
                      </a:pPr>
                      <a:r>
                        <a:rPr lang="en-US" sz="1200" dirty="0">
                          <a:solidFill>
                            <a:srgbClr val="1F2A24"/>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marL="0" indent="0">
                        <a:buNone/>
                      </a:pPr>
                      <a:r>
                        <a:rPr lang="en-US" sz="1200" b="1" dirty="0">
                          <a:solidFill>
                            <a:srgbClr val="C0392B"/>
                          </a:solidFill>
                          <a:latin typeface="Calibri" pitchFamily="34" charset="0"/>
                          <a:ea typeface="Calibri" pitchFamily="34" charset="-122"/>
                          <a:cs typeface="Calibri" pitchFamily="34" charset="-120"/>
                        </a:rPr>
                        <a:t>401</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marL="0" indent="0">
                        <a:buNone/>
                      </a:pPr>
                      <a:r>
                        <a:rPr lang="en-US" sz="1200" dirty="0">
                          <a:solidFill>
                            <a:srgbClr val="1F2A24"/>
                          </a:solidFill>
                          <a:latin typeface="Calibri" pitchFamily="34" charset="0"/>
                          <a:ea typeface="Calibri" pitchFamily="34" charset="-122"/>
                          <a:cs typeface="Calibri" pitchFamily="34" charset="-120"/>
                        </a:rPr>
                        <a:t>Gateway</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7472">
                <a:tc>
                  <a:txBody>
                    <a:bodyPr/>
                    <a:lstStyle/>
                    <a:p>
                      <a:pPr marL="0" indent="0">
                        <a:buNone/>
                      </a:pPr>
                      <a:r>
                        <a:rPr lang="en-US" sz="1200" dirty="0">
                          <a:solidFill>
                            <a:srgbClr val="1F2A24"/>
                          </a:solidFill>
                          <a:latin typeface="Calibri" pitchFamily="34" charset="0"/>
                          <a:ea typeface="Calibri" pitchFamily="34" charset="-122"/>
                          <a:cs typeface="Calibri" pitchFamily="34" charset="-120"/>
                        </a:rPr>
                        <a:t>GET /api/... con token basura o firma falsa</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marL="0" indent="0">
                        <a:buNone/>
                      </a:pPr>
                      <a:r>
                        <a:rPr lang="en-US" sz="1200" dirty="0">
                          <a:solidFill>
                            <a:srgbClr val="1F2A24"/>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marL="0" indent="0">
                        <a:buNone/>
                      </a:pPr>
                      <a:r>
                        <a:rPr lang="en-US" sz="1200" b="1" dirty="0">
                          <a:solidFill>
                            <a:srgbClr val="C0392B"/>
                          </a:solidFill>
                          <a:latin typeface="Calibri" pitchFamily="34" charset="0"/>
                          <a:ea typeface="Calibri" pitchFamily="34" charset="-122"/>
                          <a:cs typeface="Calibri" pitchFamily="34" charset="-120"/>
                        </a:rPr>
                        <a:t>401</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marL="0" indent="0">
                        <a:buNone/>
                      </a:pPr>
                      <a:r>
                        <a:rPr lang="en-US" sz="1200" dirty="0">
                          <a:solidFill>
                            <a:srgbClr val="1F2A24"/>
                          </a:solidFill>
                          <a:latin typeface="Calibri" pitchFamily="34" charset="0"/>
                          <a:ea typeface="Calibri" pitchFamily="34" charset="-122"/>
                          <a:cs typeface="Calibri" pitchFamily="34" charset="-120"/>
                        </a:rPr>
                        <a:t>Gateway</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buNone/>
                      </a:pPr>
                      <a:r>
                        <a:rPr lang="en-US" sz="1200" dirty="0">
                          <a:solidFill>
                            <a:srgbClr val="1F2A24"/>
                          </a:solidFill>
                          <a:latin typeface="Calibri" pitchFamily="34" charset="0"/>
                          <a:ea typeface="Calibri" pitchFamily="34" charset="-122"/>
                          <a:cs typeface="Calibri" pitchFamily="34" charset="-120"/>
                        </a:rPr>
                        <a:t>GET /api/puntos-limpios y reportes con token</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marL="0" indent="0">
                        <a:buNone/>
                      </a:pPr>
                      <a:r>
                        <a:rPr lang="en-US" sz="1200" dirty="0">
                          <a:solidFill>
                            <a:srgbClr val="1F2A24"/>
                          </a:solidFill>
                          <a:latin typeface="Calibri" pitchFamily="34" charset="0"/>
                          <a:ea typeface="Calibri" pitchFamily="34" charset="-122"/>
                          <a:cs typeface="Calibri" pitchFamily="34" charset="-120"/>
                        </a:rPr>
                        <a:t>usuario1</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marL="0" indent="0">
                        <a:buNone/>
                      </a:pPr>
                      <a:r>
                        <a:rPr lang="en-US" sz="1200" b="1" dirty="0">
                          <a:solidFill>
                            <a:srgbClr val="2D6A4F"/>
                          </a:solidFill>
                          <a:latin typeface="Calibri" pitchFamily="34" charset="0"/>
                          <a:ea typeface="Calibri" pitchFamily="34" charset="-122"/>
                          <a:cs typeface="Calibri" pitchFamily="34" charset="-120"/>
                        </a:rPr>
                        <a:t>200</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marL="0" indent="0">
                        <a:buNone/>
                      </a:pPr>
                      <a:r>
                        <a:rPr lang="en-US" sz="1200" dirty="0">
                          <a:solidFill>
                            <a:srgbClr val="1F2A24"/>
                          </a:solidFill>
                          <a:latin typeface="Calibri" pitchFamily="34" charset="0"/>
                          <a:ea typeface="Calibri" pitchFamily="34" charset="-122"/>
                          <a:cs typeface="Calibri" pitchFamily="34" charset="-120"/>
                        </a:rPr>
                        <a:t>Backend</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7472">
                <a:tc>
                  <a:txBody>
                    <a:bodyPr/>
                    <a:lstStyle/>
                    <a:p>
                      <a:pPr marL="0" indent="0">
                        <a:buNone/>
                      </a:pPr>
                      <a:r>
                        <a:rPr lang="en-US" sz="1200" dirty="0">
                          <a:solidFill>
                            <a:srgbClr val="1F2A24"/>
                          </a:solidFill>
                          <a:latin typeface="Calibri" pitchFamily="34" charset="0"/>
                          <a:ea typeface="Calibri" pitchFamily="34" charset="-122"/>
                          <a:cs typeface="Calibri" pitchFamily="34" charset="-120"/>
                        </a:rPr>
                        <a:t>POST / PUT / DELETE puntos limpios</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marL="0" indent="0">
                        <a:buNone/>
                      </a:pPr>
                      <a:r>
                        <a:rPr lang="en-US" sz="1200" dirty="0">
                          <a:solidFill>
                            <a:srgbClr val="1F2A24"/>
                          </a:solidFill>
                          <a:latin typeface="Calibri" pitchFamily="34" charset="0"/>
                          <a:ea typeface="Calibri" pitchFamily="34" charset="-122"/>
                          <a:cs typeface="Calibri" pitchFamily="34" charset="-120"/>
                        </a:rPr>
                        <a:t>usuario1 (sin rol)</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marL="0" indent="0">
                        <a:buNone/>
                      </a:pPr>
                      <a:r>
                        <a:rPr lang="en-US" sz="1200" b="1" dirty="0">
                          <a:solidFill>
                            <a:srgbClr val="C0392B"/>
                          </a:solidFill>
                          <a:latin typeface="Calibri" pitchFamily="34" charset="0"/>
                          <a:ea typeface="Calibri" pitchFamily="34" charset="-122"/>
                          <a:cs typeface="Calibri" pitchFamily="34" charset="-120"/>
                        </a:rPr>
                        <a:t>403</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marL="0" indent="0">
                        <a:buNone/>
                      </a:pPr>
                      <a:r>
                        <a:rPr lang="en-US" sz="1200" dirty="0">
                          <a:solidFill>
                            <a:srgbClr val="1F2A24"/>
                          </a:solidFill>
                          <a:latin typeface="Calibri" pitchFamily="34" charset="0"/>
                          <a:ea typeface="Calibri" pitchFamily="34" charset="-122"/>
                          <a:cs typeface="Calibri" pitchFamily="34" charset="-120"/>
                        </a:rPr>
                        <a:t>Backend</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7472">
                <a:tc>
                  <a:txBody>
                    <a:bodyPr/>
                    <a:lstStyle/>
                    <a:p>
                      <a:pPr marL="0" indent="0">
                        <a:buNone/>
                      </a:pPr>
                      <a:r>
                        <a:rPr lang="en-US" sz="1200" dirty="0">
                          <a:solidFill>
                            <a:srgbClr val="1F2A24"/>
                          </a:solidFill>
                          <a:latin typeface="Calibri" pitchFamily="34" charset="0"/>
                          <a:ea typeface="Calibri" pitchFamily="34" charset="-122"/>
                          <a:cs typeface="Calibri" pitchFamily="34" charset="-120"/>
                        </a:rPr>
                        <a:t>POST / PUT / DELETE puntos limpios</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marL="0" indent="0">
                        <a:buNone/>
                      </a:pPr>
                      <a:r>
                        <a:rPr lang="en-US" sz="1200" dirty="0">
                          <a:solidFill>
                            <a:srgbClr val="1F2A24"/>
                          </a:solidFill>
                          <a:latin typeface="Calibri" pitchFamily="34" charset="0"/>
                          <a:ea typeface="Calibri" pitchFamily="34" charset="-122"/>
                          <a:cs typeface="Calibri" pitchFamily="34" charset="-120"/>
                        </a:rPr>
                        <a:t>encargado1</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marL="0" indent="0">
                        <a:buNone/>
                      </a:pPr>
                      <a:r>
                        <a:rPr lang="en-US" sz="1200" b="1" dirty="0">
                          <a:solidFill>
                            <a:srgbClr val="2D6A4F"/>
                          </a:solidFill>
                          <a:latin typeface="Calibri" pitchFamily="34" charset="0"/>
                          <a:ea typeface="Calibri" pitchFamily="34" charset="-122"/>
                          <a:cs typeface="Calibri" pitchFamily="34" charset="-120"/>
                        </a:rPr>
                        <a:t>201 / 200 / 204</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marL="0" indent="0">
                        <a:buNone/>
                      </a:pPr>
                      <a:r>
                        <a:rPr lang="en-US" sz="1200" dirty="0">
                          <a:solidFill>
                            <a:srgbClr val="1F2A24"/>
                          </a:solidFill>
                          <a:latin typeface="Calibri" pitchFamily="34" charset="0"/>
                          <a:ea typeface="Calibri" pitchFamily="34" charset="-122"/>
                          <a:cs typeface="Calibri" pitchFamily="34" charset="-120"/>
                        </a:rPr>
                        <a:t>Backend</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47472">
                <a:tc>
                  <a:txBody>
                    <a:bodyPr/>
                    <a:lstStyle/>
                    <a:p>
                      <a:pPr marL="0" indent="0">
                        <a:buNone/>
                      </a:pPr>
                      <a:r>
                        <a:rPr lang="en-US" sz="1200" dirty="0">
                          <a:solidFill>
                            <a:srgbClr val="1F2A24"/>
                          </a:solidFill>
                          <a:latin typeface="Calibri" pitchFamily="34" charset="0"/>
                          <a:ea typeface="Calibri" pitchFamily="34" charset="-122"/>
                          <a:cs typeface="Calibri" pitchFamily="34" charset="-120"/>
                        </a:rPr>
                        <a:t>POST reporte con token</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marL="0" indent="0">
                        <a:buNone/>
                      </a:pPr>
                      <a:r>
                        <a:rPr lang="en-US" sz="1200" dirty="0">
                          <a:solidFill>
                            <a:srgbClr val="1F2A24"/>
                          </a:solidFill>
                          <a:latin typeface="Calibri" pitchFamily="34" charset="0"/>
                          <a:ea typeface="Calibri" pitchFamily="34" charset="-122"/>
                          <a:cs typeface="Calibri" pitchFamily="34" charset="-120"/>
                        </a:rPr>
                        <a:t>encargado1</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marL="0" indent="0">
                        <a:buNone/>
                      </a:pPr>
                      <a:r>
                        <a:rPr lang="en-US" sz="1200" b="1" dirty="0">
                          <a:solidFill>
                            <a:srgbClr val="2D6A4F"/>
                          </a:solidFill>
                          <a:latin typeface="Calibri" pitchFamily="34" charset="0"/>
                          <a:ea typeface="Calibri" pitchFamily="34" charset="-122"/>
                          <a:cs typeface="Calibri" pitchFamily="34" charset="-120"/>
                        </a:rPr>
                        <a:t>201</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marL="0" indent="0">
                        <a:buNone/>
                      </a:pPr>
                      <a:r>
                        <a:rPr lang="en-US" sz="1200" dirty="0">
                          <a:solidFill>
                            <a:srgbClr val="1F2A24"/>
                          </a:solidFill>
                          <a:latin typeface="Calibri" pitchFamily="34" charset="0"/>
                          <a:ea typeface="Calibri" pitchFamily="34" charset="-122"/>
                          <a:cs typeface="Calibri" pitchFamily="34" charset="-120"/>
                        </a:rPr>
                        <a:t>Backend</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47472">
                <a:tc>
                  <a:txBody>
                    <a:bodyPr/>
                    <a:lstStyle/>
                    <a:p>
                      <a:pPr marL="0" indent="0">
                        <a:buNone/>
                      </a:pPr>
                      <a:r>
                        <a:rPr lang="en-US" sz="1200" dirty="0">
                          <a:solidFill>
                            <a:srgbClr val="1F2A24"/>
                          </a:solidFill>
                          <a:latin typeface="Calibri" pitchFamily="34" charset="0"/>
                          <a:ea typeface="Calibri" pitchFamily="34" charset="-122"/>
                          <a:cs typeface="Calibri" pitchFamily="34" charset="-120"/>
                        </a:rPr>
                        <a:t>DELETE de un id inexistente</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marL="0" indent="0">
                        <a:buNone/>
                      </a:pPr>
                      <a:r>
                        <a:rPr lang="en-US" sz="1200" dirty="0">
                          <a:solidFill>
                            <a:srgbClr val="1F2A24"/>
                          </a:solidFill>
                          <a:latin typeface="Calibri" pitchFamily="34" charset="0"/>
                          <a:ea typeface="Calibri" pitchFamily="34" charset="-122"/>
                          <a:cs typeface="Calibri" pitchFamily="34" charset="-120"/>
                        </a:rPr>
                        <a:t>encargado1</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marL="0" indent="0">
                        <a:buNone/>
                      </a:pPr>
                      <a:r>
                        <a:rPr lang="en-US" sz="1200" b="1" dirty="0">
                          <a:solidFill>
                            <a:srgbClr val="C0392B"/>
                          </a:solidFill>
                          <a:latin typeface="Calibri" pitchFamily="34" charset="0"/>
                          <a:ea typeface="Calibri" pitchFamily="34" charset="-122"/>
                          <a:cs typeface="Calibri" pitchFamily="34" charset="-120"/>
                        </a:rPr>
                        <a:t>404</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marL="0" indent="0">
                        <a:buNone/>
                      </a:pPr>
                      <a:r>
                        <a:rPr lang="en-US" sz="1200" dirty="0">
                          <a:solidFill>
                            <a:srgbClr val="1F2A24"/>
                          </a:solidFill>
                          <a:latin typeface="Calibri" pitchFamily="34" charset="0"/>
                          <a:ea typeface="Calibri" pitchFamily="34" charset="-122"/>
                          <a:cs typeface="Calibri" pitchFamily="34" charset="-120"/>
                        </a:rPr>
                        <a:t>Backend</a:t>
                      </a:r>
                      <a:endParaRPr lang="en-US" sz="1200" dirty="0">
                        <a:latin typeface="Calibri" charset="0"/>
                        <a:ea typeface="Calibri" charset="0"/>
                        <a:cs typeface="Calibri" charset="0"/>
                      </a:endParaRPr>
                    </a:p>
                  </a:txBody>
                  <a:tcP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4" name="Text 1"/>
          <p:cNvSpPr txBox="1"/>
          <p:nvPr/>
        </p:nvSpPr>
        <p:spPr>
          <a:xfrm>
            <a:off x="411480" y="4434840"/>
            <a:ext cx="8321040" cy="365760"/>
          </a:xfrm>
          <a:prstGeom prst="rect">
            <a:avLst/>
          </a:prstGeom>
          <a:noFill/>
          <a:ln/>
        </p:spPr>
        <p:txBody>
          <a:bodyPr wrap="square" lIns="0" tIns="0" rIns="0" bIns="0" rtlCol="0" anchor="ctr"/>
          <a:lstStyle/>
          <a:p>
            <a:pPr marL="0" indent="0">
              <a:buNone/>
            </a:pPr>
            <a:r>
              <a:rPr lang="en-US" sz="1100" dirty="0">
                <a:solidFill>
                  <a:srgbClr val="5C6B63"/>
                </a:solidFill>
                <a:latin typeface="Calibri" pitchFamily="34" charset="0"/>
                <a:ea typeface="Calibri" pitchFamily="34" charset="-122"/>
                <a:cs typeface="Calibri" pitchFamily="34" charset="-120"/>
              </a:rPr>
              <a:t>Probado desde el navegador en producción, a través del API Gateway. Detalle y script reproducible en docs/evidencia/ del repositorio.</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14342B"/>
                </a:solidFill>
                <a:latin typeface="Calibri" pitchFamily="34" charset="0"/>
                <a:ea typeface="Calibri" pitchFamily="34" charset="-122"/>
                <a:cs typeface="Calibri" pitchFamily="34" charset="-120"/>
              </a:rPr>
              <a:t>Despliegue en AWS</a:t>
            </a:r>
            <a:endParaRPr lang="en-US" sz="3000" dirty="0"/>
          </a:p>
        </p:txBody>
      </p:sp>
      <p:sp>
        <p:nvSpPr>
          <p:cNvPr id="3" name="Text 1"/>
          <p:cNvSpPr txBox="1"/>
          <p:nvPr/>
        </p:nvSpPr>
        <p:spPr>
          <a:xfrm>
            <a:off x="457200" y="1097280"/>
            <a:ext cx="2560320" cy="914400"/>
          </a:xfrm>
          <a:prstGeom prst="rect">
            <a:avLst/>
          </a:prstGeom>
          <a:noFill/>
          <a:ln/>
        </p:spPr>
        <p:txBody>
          <a:bodyPr wrap="square" lIns="0" tIns="0" rIns="0" bIns="0" rtlCol="0" anchor="ctr"/>
          <a:lstStyle/>
          <a:p>
            <a:pPr marL="0" indent="0">
              <a:buNone/>
            </a:pPr>
            <a:r>
              <a:rPr lang="en-US" sz="6000" b="1" dirty="0">
                <a:solidFill>
                  <a:srgbClr val="2D6A4F"/>
                </a:solidFill>
                <a:latin typeface="Calibri" pitchFamily="34" charset="0"/>
                <a:ea typeface="Calibri" pitchFamily="34" charset="-122"/>
                <a:cs typeface="Calibri" pitchFamily="34" charset="-120"/>
              </a:rPr>
              <a:t>2</a:t>
            </a:r>
            <a:endParaRPr lang="en-US" sz="6000" dirty="0"/>
          </a:p>
        </p:txBody>
      </p:sp>
      <p:sp>
        <p:nvSpPr>
          <p:cNvPr id="4" name="Text 2"/>
          <p:cNvSpPr txBox="1"/>
          <p:nvPr/>
        </p:nvSpPr>
        <p:spPr>
          <a:xfrm>
            <a:off x="457200" y="2011680"/>
            <a:ext cx="2560320" cy="640080"/>
          </a:xfrm>
          <a:prstGeom prst="rect">
            <a:avLst/>
          </a:prstGeom>
          <a:noFill/>
          <a:ln/>
        </p:spPr>
        <p:txBody>
          <a:bodyPr wrap="square" lIns="0" tIns="0" rIns="0" bIns="0" rtlCol="0" anchor="ctr"/>
          <a:lstStyle/>
          <a:p>
            <a:pPr marL="0" indent="0">
              <a:buNone/>
            </a:pPr>
            <a:r>
              <a:rPr lang="en-US" sz="1300" dirty="0">
                <a:solidFill>
                  <a:srgbClr val="5C6B63"/>
                </a:solidFill>
                <a:latin typeface="Calibri" pitchFamily="34" charset="0"/>
                <a:ea typeface="Calibri" pitchFamily="34" charset="-122"/>
                <a:cs typeface="Calibri" pitchFamily="34" charset="-120"/>
              </a:rPr>
              <a:t>instancias EC2</a:t>
            </a:r>
            <a:endParaRPr lang="en-US" sz="1300" dirty="0"/>
          </a:p>
          <a:p>
            <a:pPr marL="0" indent="0">
              <a:buNone/>
            </a:pPr>
            <a:r>
              <a:rPr lang="en-US" sz="1300" dirty="0">
                <a:solidFill>
                  <a:srgbClr val="5C6B63"/>
                </a:solidFill>
                <a:latin typeface="Calibri" pitchFamily="34" charset="0"/>
                <a:ea typeface="Calibri" pitchFamily="34" charset="-122"/>
                <a:cs typeface="Calibri" pitchFamily="34" charset="-120"/>
              </a:rPr>
              <a:t>(frontend y backend)</a:t>
            </a:r>
            <a:endParaRPr lang="en-US" sz="1300" dirty="0"/>
          </a:p>
        </p:txBody>
      </p:sp>
      <p:sp>
        <p:nvSpPr>
          <p:cNvPr id="5" name="Text 3"/>
          <p:cNvSpPr txBox="1"/>
          <p:nvPr/>
        </p:nvSpPr>
        <p:spPr>
          <a:xfrm>
            <a:off x="3246120" y="1097280"/>
            <a:ext cx="2560320" cy="914400"/>
          </a:xfrm>
          <a:prstGeom prst="rect">
            <a:avLst/>
          </a:prstGeom>
          <a:noFill/>
          <a:ln/>
        </p:spPr>
        <p:txBody>
          <a:bodyPr wrap="square" lIns="0" tIns="0" rIns="0" bIns="0" rtlCol="0" anchor="ctr"/>
          <a:lstStyle/>
          <a:p>
            <a:pPr marL="0" indent="0">
              <a:buNone/>
            </a:pPr>
            <a:r>
              <a:rPr lang="en-US" sz="6000" b="1" dirty="0">
                <a:solidFill>
                  <a:srgbClr val="2D6A4F"/>
                </a:solidFill>
                <a:latin typeface="Calibri" pitchFamily="34" charset="0"/>
                <a:ea typeface="Calibri" pitchFamily="34" charset="-122"/>
                <a:cs typeface="Calibri" pitchFamily="34" charset="-120"/>
              </a:rPr>
              <a:t>3</a:t>
            </a:r>
            <a:endParaRPr lang="en-US" sz="6000" dirty="0"/>
          </a:p>
        </p:txBody>
      </p:sp>
      <p:sp>
        <p:nvSpPr>
          <p:cNvPr id="6" name="Text 4"/>
          <p:cNvSpPr txBox="1"/>
          <p:nvPr/>
        </p:nvSpPr>
        <p:spPr>
          <a:xfrm>
            <a:off x="3246120" y="2011680"/>
            <a:ext cx="2560320" cy="640080"/>
          </a:xfrm>
          <a:prstGeom prst="rect">
            <a:avLst/>
          </a:prstGeom>
          <a:noFill/>
          <a:ln/>
        </p:spPr>
        <p:txBody>
          <a:bodyPr wrap="square" lIns="0" tIns="0" rIns="0" bIns="0" rtlCol="0" anchor="ctr"/>
          <a:lstStyle/>
          <a:p>
            <a:pPr marL="0" indent="0">
              <a:buNone/>
            </a:pPr>
            <a:r>
              <a:rPr lang="en-US" sz="1300" dirty="0">
                <a:solidFill>
                  <a:srgbClr val="5C6B63"/>
                </a:solidFill>
                <a:latin typeface="Calibri" pitchFamily="34" charset="0"/>
                <a:ea typeface="Calibri" pitchFamily="34" charset="-122"/>
                <a:cs typeface="Calibri" pitchFamily="34" charset="-120"/>
              </a:rPr>
              <a:t>contenedores Docker</a:t>
            </a:r>
            <a:endParaRPr lang="en-US" sz="1300" dirty="0"/>
          </a:p>
          <a:p>
            <a:pPr marL="0" indent="0">
              <a:buNone/>
            </a:pPr>
            <a:r>
              <a:rPr lang="en-US" sz="1300" dirty="0">
                <a:solidFill>
                  <a:srgbClr val="5C6B63"/>
                </a:solidFill>
                <a:latin typeface="Calibri" pitchFamily="34" charset="0"/>
                <a:ea typeface="Calibri" pitchFamily="34" charset="-122"/>
                <a:cs typeface="Calibri" pitchFamily="34" charset="-120"/>
              </a:rPr>
              <a:t>(nginx, Spring, PostgreSQL)</a:t>
            </a:r>
            <a:endParaRPr lang="en-US" sz="1300" dirty="0"/>
          </a:p>
        </p:txBody>
      </p:sp>
      <p:sp>
        <p:nvSpPr>
          <p:cNvPr id="7" name="Text 5"/>
          <p:cNvSpPr txBox="1"/>
          <p:nvPr/>
        </p:nvSpPr>
        <p:spPr>
          <a:xfrm>
            <a:off x="6035040" y="1097280"/>
            <a:ext cx="2560320" cy="914400"/>
          </a:xfrm>
          <a:prstGeom prst="rect">
            <a:avLst/>
          </a:prstGeom>
          <a:noFill/>
          <a:ln/>
        </p:spPr>
        <p:txBody>
          <a:bodyPr wrap="square" lIns="0" tIns="0" rIns="0" bIns="0" rtlCol="0" anchor="ctr"/>
          <a:lstStyle/>
          <a:p>
            <a:pPr marL="0" indent="0">
              <a:buNone/>
            </a:pPr>
            <a:r>
              <a:rPr lang="en-US" sz="6000" b="1" dirty="0">
                <a:solidFill>
                  <a:srgbClr val="F4A261"/>
                </a:solidFill>
                <a:latin typeface="Calibri" pitchFamily="34" charset="0"/>
                <a:ea typeface="Calibri" pitchFamily="34" charset="-122"/>
                <a:cs typeface="Calibri" pitchFamily="34" charset="-120"/>
              </a:rPr>
              <a:t>0</a:t>
            </a:r>
            <a:endParaRPr lang="en-US" sz="6000" dirty="0"/>
          </a:p>
        </p:txBody>
      </p:sp>
      <p:sp>
        <p:nvSpPr>
          <p:cNvPr id="8" name="Text 6"/>
          <p:cNvSpPr txBox="1"/>
          <p:nvPr/>
        </p:nvSpPr>
        <p:spPr>
          <a:xfrm>
            <a:off x="6035040" y="2011680"/>
            <a:ext cx="2560320" cy="640080"/>
          </a:xfrm>
          <a:prstGeom prst="rect">
            <a:avLst/>
          </a:prstGeom>
          <a:noFill/>
          <a:ln/>
        </p:spPr>
        <p:txBody>
          <a:bodyPr wrap="square" lIns="0" tIns="0" rIns="0" bIns="0" rtlCol="0" anchor="ctr"/>
          <a:lstStyle/>
          <a:p>
            <a:pPr marL="0" indent="0">
              <a:buNone/>
            </a:pPr>
            <a:r>
              <a:rPr lang="en-US" sz="1300" dirty="0">
                <a:solidFill>
                  <a:srgbClr val="5C6B63"/>
                </a:solidFill>
                <a:latin typeface="Calibri" pitchFamily="34" charset="0"/>
                <a:ea typeface="Calibri" pitchFamily="34" charset="-122"/>
                <a:cs typeface="Calibri" pitchFamily="34" charset="-120"/>
              </a:rPr>
              <a:t>pasos manuales al</a:t>
            </a:r>
            <a:endParaRPr lang="en-US" sz="1300" dirty="0"/>
          </a:p>
          <a:p>
            <a:pPr marL="0" indent="0">
              <a:buNone/>
            </a:pPr>
            <a:r>
              <a:rPr lang="en-US" sz="1300" dirty="0">
                <a:solidFill>
                  <a:srgbClr val="5C6B63"/>
                </a:solidFill>
                <a:latin typeface="Calibri" pitchFamily="34" charset="0"/>
                <a:ea typeface="Calibri" pitchFamily="34" charset="-122"/>
                <a:cs typeface="Calibri" pitchFamily="34" charset="-120"/>
              </a:rPr>
              <a:t>reiniciar el laboratorio</a:t>
            </a:r>
            <a:endParaRPr lang="en-US" sz="1300" dirty="0"/>
          </a:p>
        </p:txBody>
      </p:sp>
      <p:sp>
        <p:nvSpPr>
          <p:cNvPr id="9" name="Shape 7"/>
          <p:cNvSpPr/>
          <p:nvPr/>
        </p:nvSpPr>
        <p:spPr>
          <a:xfrm>
            <a:off x="457200" y="2926080"/>
            <a:ext cx="502920" cy="502920"/>
          </a:xfrm>
          <a:prstGeom prst="ellipse">
            <a:avLst/>
          </a:prstGeom>
          <a:solidFill>
            <a:srgbClr val="E8F5EE"/>
          </a:solidFill>
          <a:ln w="12700">
            <a:solidFill>
              <a:srgbClr val="E8F5EE"/>
            </a:solidFill>
            <a:prstDash val="solid"/>
          </a:ln>
        </p:spPr>
        <p:txBody>
          <a:bodyPr/>
          <a:lstStyle/>
          <a:p>
            <a:endParaRPr lang="es-CL"/>
          </a:p>
        </p:txBody>
      </p:sp>
      <p:pic>
        <p:nvPicPr>
          <p:cNvPr id="10" name="Image 0" descr="preencoded.png"/>
          <p:cNvPicPr>
            <a:picLocks noChangeAspect="1"/>
          </p:cNvPicPr>
          <p:nvPr/>
        </p:nvPicPr>
        <p:blipFill>
          <a:blip r:embed="rId3"/>
          <a:stretch>
            <a:fillRect/>
          </a:stretch>
        </p:blipFill>
        <p:spPr>
          <a:xfrm>
            <a:off x="577901" y="3046781"/>
            <a:ext cx="261518" cy="261518"/>
          </a:xfrm>
          <a:prstGeom prst="rect">
            <a:avLst/>
          </a:prstGeom>
        </p:spPr>
      </p:pic>
      <p:sp>
        <p:nvSpPr>
          <p:cNvPr id="11" name="Text 8"/>
          <p:cNvSpPr txBox="1"/>
          <p:nvPr/>
        </p:nvSpPr>
        <p:spPr>
          <a:xfrm>
            <a:off x="1097280" y="2907792"/>
            <a:ext cx="3383280" cy="292608"/>
          </a:xfrm>
          <a:prstGeom prst="rect">
            <a:avLst/>
          </a:prstGeom>
          <a:noFill/>
          <a:ln/>
        </p:spPr>
        <p:txBody>
          <a:bodyPr wrap="square" lIns="0" tIns="0" rIns="0" bIns="0" rtlCol="0" anchor="ctr"/>
          <a:lstStyle/>
          <a:p>
            <a:pPr marL="0" indent="0">
              <a:buNone/>
            </a:pPr>
            <a:r>
              <a:rPr lang="en-US" sz="1300" b="1" dirty="0">
                <a:solidFill>
                  <a:srgbClr val="14342B"/>
                </a:solidFill>
                <a:latin typeface="Calibri" pitchFamily="34" charset="0"/>
                <a:ea typeface="Calibri" pitchFamily="34" charset="-122"/>
                <a:cs typeface="Calibri" pitchFamily="34" charset="-120"/>
              </a:rPr>
              <a:t>Contenedores con reinicio automático</a:t>
            </a:r>
            <a:endParaRPr lang="en-US" sz="1300" dirty="0"/>
          </a:p>
        </p:txBody>
      </p:sp>
      <p:sp>
        <p:nvSpPr>
          <p:cNvPr id="12" name="Text 9"/>
          <p:cNvSpPr txBox="1"/>
          <p:nvPr/>
        </p:nvSpPr>
        <p:spPr>
          <a:xfrm>
            <a:off x="1097280" y="3200400"/>
            <a:ext cx="3383280" cy="411480"/>
          </a:xfrm>
          <a:prstGeom prst="rect">
            <a:avLst/>
          </a:prstGeom>
          <a:noFill/>
          <a:ln/>
        </p:spPr>
        <p:txBody>
          <a:bodyPr wrap="square" lIns="0" tIns="0" rIns="0" bIns="0" rtlCol="0" anchor="t"/>
          <a:lstStyle/>
          <a:p>
            <a:pPr marL="0" indent="0">
              <a:buNone/>
            </a:pPr>
            <a:r>
              <a:rPr lang="en-US" sz="1100" dirty="0">
                <a:solidFill>
                  <a:srgbClr val="1F2A24"/>
                </a:solidFill>
                <a:latin typeface="Calibri" pitchFamily="34" charset="0"/>
                <a:ea typeface="Calibri" pitchFamily="34" charset="-122"/>
                <a:cs typeface="Calibri" pitchFamily="34" charset="-120"/>
              </a:rPr>
              <a:t>Arrancan solos con la instancia (restart unless-stopped).</a:t>
            </a:r>
            <a:endParaRPr lang="en-US" sz="1100" dirty="0"/>
          </a:p>
        </p:txBody>
      </p:sp>
      <p:sp>
        <p:nvSpPr>
          <p:cNvPr id="13" name="Shape 10"/>
          <p:cNvSpPr/>
          <p:nvPr/>
        </p:nvSpPr>
        <p:spPr>
          <a:xfrm>
            <a:off x="4663440" y="2926080"/>
            <a:ext cx="502920" cy="502920"/>
          </a:xfrm>
          <a:prstGeom prst="ellipse">
            <a:avLst/>
          </a:prstGeom>
          <a:solidFill>
            <a:srgbClr val="E8F5EE"/>
          </a:solidFill>
          <a:ln w="12700">
            <a:solidFill>
              <a:srgbClr val="E8F5EE"/>
            </a:solidFill>
            <a:prstDash val="solid"/>
          </a:ln>
        </p:spPr>
        <p:txBody>
          <a:bodyPr/>
          <a:lstStyle/>
          <a:p>
            <a:endParaRPr lang="es-CL"/>
          </a:p>
        </p:txBody>
      </p:sp>
      <p:pic>
        <p:nvPicPr>
          <p:cNvPr id="14" name="Image 1" descr="preencoded.png"/>
          <p:cNvPicPr>
            <a:picLocks noChangeAspect="1"/>
          </p:cNvPicPr>
          <p:nvPr/>
        </p:nvPicPr>
        <p:blipFill>
          <a:blip r:embed="rId4"/>
          <a:stretch>
            <a:fillRect/>
          </a:stretch>
        </p:blipFill>
        <p:spPr>
          <a:xfrm>
            <a:off x="4784141" y="3046781"/>
            <a:ext cx="261518" cy="261518"/>
          </a:xfrm>
          <a:prstGeom prst="rect">
            <a:avLst/>
          </a:prstGeom>
        </p:spPr>
      </p:pic>
      <p:sp>
        <p:nvSpPr>
          <p:cNvPr id="15" name="Text 11"/>
          <p:cNvSpPr txBox="1"/>
          <p:nvPr/>
        </p:nvSpPr>
        <p:spPr>
          <a:xfrm>
            <a:off x="5303520" y="2907792"/>
            <a:ext cx="3383280" cy="292608"/>
          </a:xfrm>
          <a:prstGeom prst="rect">
            <a:avLst/>
          </a:prstGeom>
          <a:noFill/>
          <a:ln/>
        </p:spPr>
        <p:txBody>
          <a:bodyPr wrap="square" lIns="0" tIns="0" rIns="0" bIns="0" rtlCol="0" anchor="ctr"/>
          <a:lstStyle/>
          <a:p>
            <a:pPr marL="0" indent="0">
              <a:buNone/>
            </a:pPr>
            <a:r>
              <a:rPr lang="en-US" sz="1300" b="1" dirty="0">
                <a:solidFill>
                  <a:srgbClr val="14342B"/>
                </a:solidFill>
                <a:latin typeface="Calibri" pitchFamily="34" charset="0"/>
                <a:ea typeface="Calibri" pitchFamily="34" charset="-122"/>
                <a:cs typeface="Calibri" pitchFamily="34" charset="-120"/>
              </a:rPr>
              <a:t>Datos persistentes</a:t>
            </a:r>
            <a:endParaRPr lang="en-US" sz="1300" dirty="0"/>
          </a:p>
        </p:txBody>
      </p:sp>
      <p:sp>
        <p:nvSpPr>
          <p:cNvPr id="16" name="Text 12"/>
          <p:cNvSpPr txBox="1"/>
          <p:nvPr/>
        </p:nvSpPr>
        <p:spPr>
          <a:xfrm>
            <a:off x="5303520" y="3200400"/>
            <a:ext cx="3383280" cy="411480"/>
          </a:xfrm>
          <a:prstGeom prst="rect">
            <a:avLst/>
          </a:prstGeom>
          <a:noFill/>
          <a:ln/>
        </p:spPr>
        <p:txBody>
          <a:bodyPr wrap="square" lIns="0" tIns="0" rIns="0" bIns="0" rtlCol="0" anchor="t"/>
          <a:lstStyle/>
          <a:p>
            <a:pPr marL="0" indent="0">
              <a:buNone/>
            </a:pPr>
            <a:r>
              <a:rPr lang="en-US" sz="1100" dirty="0">
                <a:solidFill>
                  <a:srgbClr val="1F2A24"/>
                </a:solidFill>
                <a:latin typeface="Calibri" pitchFamily="34" charset="0"/>
                <a:ea typeface="Calibri" pitchFamily="34" charset="-122"/>
                <a:cs typeface="Calibri" pitchFamily="34" charset="-120"/>
              </a:rPr>
              <a:t>PostgreSQL con volumen, en una red interna; el puerto no se expone.</a:t>
            </a:r>
            <a:endParaRPr lang="en-US" sz="1100" dirty="0"/>
          </a:p>
        </p:txBody>
      </p:sp>
      <p:sp>
        <p:nvSpPr>
          <p:cNvPr id="17" name="Shape 13"/>
          <p:cNvSpPr/>
          <p:nvPr/>
        </p:nvSpPr>
        <p:spPr>
          <a:xfrm>
            <a:off x="457200" y="3794760"/>
            <a:ext cx="502920" cy="502920"/>
          </a:xfrm>
          <a:prstGeom prst="ellipse">
            <a:avLst/>
          </a:prstGeom>
          <a:solidFill>
            <a:srgbClr val="E8F5EE"/>
          </a:solidFill>
          <a:ln w="12700">
            <a:solidFill>
              <a:srgbClr val="E8F5EE"/>
            </a:solidFill>
            <a:prstDash val="solid"/>
          </a:ln>
        </p:spPr>
        <p:txBody>
          <a:bodyPr/>
          <a:lstStyle/>
          <a:p>
            <a:endParaRPr lang="es-CL"/>
          </a:p>
        </p:txBody>
      </p:sp>
      <p:pic>
        <p:nvPicPr>
          <p:cNvPr id="18" name="Image 2" descr="preencoded.png"/>
          <p:cNvPicPr>
            <a:picLocks noChangeAspect="1"/>
          </p:cNvPicPr>
          <p:nvPr/>
        </p:nvPicPr>
        <p:blipFill>
          <a:blip r:embed="rId5"/>
          <a:stretch>
            <a:fillRect/>
          </a:stretch>
        </p:blipFill>
        <p:spPr>
          <a:xfrm>
            <a:off x="577901" y="3915461"/>
            <a:ext cx="261518" cy="261518"/>
          </a:xfrm>
          <a:prstGeom prst="rect">
            <a:avLst/>
          </a:prstGeom>
        </p:spPr>
      </p:pic>
      <p:sp>
        <p:nvSpPr>
          <p:cNvPr id="19" name="Text 14"/>
          <p:cNvSpPr txBox="1"/>
          <p:nvPr/>
        </p:nvSpPr>
        <p:spPr>
          <a:xfrm>
            <a:off x="1097280" y="3776472"/>
            <a:ext cx="3383280" cy="292608"/>
          </a:xfrm>
          <a:prstGeom prst="rect">
            <a:avLst/>
          </a:prstGeom>
          <a:noFill/>
          <a:ln/>
        </p:spPr>
        <p:txBody>
          <a:bodyPr wrap="square" lIns="0" tIns="0" rIns="0" bIns="0" rtlCol="0" anchor="ctr"/>
          <a:lstStyle/>
          <a:p>
            <a:pPr marL="0" indent="0">
              <a:buNone/>
            </a:pPr>
            <a:r>
              <a:rPr lang="en-US" sz="1300" b="1" dirty="0">
                <a:solidFill>
                  <a:srgbClr val="14342B"/>
                </a:solidFill>
                <a:latin typeface="Calibri" pitchFamily="34" charset="0"/>
                <a:ea typeface="Calibri" pitchFamily="34" charset="-122"/>
                <a:cs typeface="Calibri" pitchFamily="34" charset="-120"/>
              </a:rPr>
              <a:t>DNS dinámico</a:t>
            </a:r>
            <a:endParaRPr lang="en-US" sz="1300" dirty="0"/>
          </a:p>
        </p:txBody>
      </p:sp>
      <p:sp>
        <p:nvSpPr>
          <p:cNvPr id="20" name="Text 15"/>
          <p:cNvSpPr txBox="1"/>
          <p:nvPr/>
        </p:nvSpPr>
        <p:spPr>
          <a:xfrm>
            <a:off x="1097280" y="4069080"/>
            <a:ext cx="3383280" cy="411480"/>
          </a:xfrm>
          <a:prstGeom prst="rect">
            <a:avLst/>
          </a:prstGeom>
          <a:noFill/>
          <a:ln/>
        </p:spPr>
        <p:txBody>
          <a:bodyPr wrap="square" lIns="0" tIns="0" rIns="0" bIns="0" rtlCol="0" anchor="t"/>
          <a:lstStyle/>
          <a:p>
            <a:pPr marL="0" indent="0">
              <a:buNone/>
            </a:pPr>
            <a:r>
              <a:rPr lang="en-US" sz="1100" dirty="0">
                <a:solidFill>
                  <a:srgbClr val="1F2A24"/>
                </a:solidFill>
                <a:latin typeface="Calibri" pitchFamily="34" charset="0"/>
                <a:ea typeface="Calibri" pitchFamily="34" charset="-122"/>
                <a:cs typeface="Calibri" pitchFamily="34" charset="-120"/>
              </a:rPr>
              <a:t>Cada instancia actualiza su registro en Cloudflare al arrancar.</a:t>
            </a:r>
            <a:endParaRPr lang="en-US" sz="1100" dirty="0"/>
          </a:p>
        </p:txBody>
      </p:sp>
      <p:sp>
        <p:nvSpPr>
          <p:cNvPr id="21" name="Shape 16"/>
          <p:cNvSpPr/>
          <p:nvPr/>
        </p:nvSpPr>
        <p:spPr>
          <a:xfrm>
            <a:off x="4663440" y="3794760"/>
            <a:ext cx="502920" cy="502920"/>
          </a:xfrm>
          <a:prstGeom prst="ellipse">
            <a:avLst/>
          </a:prstGeom>
          <a:solidFill>
            <a:srgbClr val="E8F5EE"/>
          </a:solidFill>
          <a:ln w="12700">
            <a:solidFill>
              <a:srgbClr val="E8F5EE"/>
            </a:solidFill>
            <a:prstDash val="solid"/>
          </a:ln>
        </p:spPr>
        <p:txBody>
          <a:bodyPr/>
          <a:lstStyle/>
          <a:p>
            <a:endParaRPr lang="es-CL"/>
          </a:p>
        </p:txBody>
      </p:sp>
      <p:pic>
        <p:nvPicPr>
          <p:cNvPr id="22" name="Image 3" descr="preencoded.png"/>
          <p:cNvPicPr>
            <a:picLocks noChangeAspect="1"/>
          </p:cNvPicPr>
          <p:nvPr/>
        </p:nvPicPr>
        <p:blipFill>
          <a:blip r:embed="rId6"/>
          <a:stretch>
            <a:fillRect/>
          </a:stretch>
        </p:blipFill>
        <p:spPr>
          <a:xfrm>
            <a:off x="4784141" y="3915461"/>
            <a:ext cx="261518" cy="261518"/>
          </a:xfrm>
          <a:prstGeom prst="rect">
            <a:avLst/>
          </a:prstGeom>
        </p:spPr>
      </p:pic>
      <p:sp>
        <p:nvSpPr>
          <p:cNvPr id="23" name="Text 17"/>
          <p:cNvSpPr txBox="1"/>
          <p:nvPr/>
        </p:nvSpPr>
        <p:spPr>
          <a:xfrm>
            <a:off x="5303520" y="3776472"/>
            <a:ext cx="3383280" cy="292608"/>
          </a:xfrm>
          <a:prstGeom prst="rect">
            <a:avLst/>
          </a:prstGeom>
          <a:noFill/>
          <a:ln/>
        </p:spPr>
        <p:txBody>
          <a:bodyPr wrap="square" lIns="0" tIns="0" rIns="0" bIns="0" rtlCol="0" anchor="ctr"/>
          <a:lstStyle/>
          <a:p>
            <a:pPr marL="0" indent="0">
              <a:buNone/>
            </a:pPr>
            <a:r>
              <a:rPr lang="en-US" sz="1300" b="1" dirty="0">
                <a:solidFill>
                  <a:srgbClr val="14342B"/>
                </a:solidFill>
                <a:latin typeface="Calibri" pitchFamily="34" charset="0"/>
                <a:ea typeface="Calibri" pitchFamily="34" charset="-122"/>
                <a:cs typeface="Calibri" pitchFamily="34" charset="-120"/>
              </a:rPr>
              <a:t>HTTPS real</a:t>
            </a:r>
            <a:endParaRPr lang="en-US" sz="1300" dirty="0"/>
          </a:p>
        </p:txBody>
      </p:sp>
      <p:sp>
        <p:nvSpPr>
          <p:cNvPr id="24" name="Text 18"/>
          <p:cNvSpPr txBox="1"/>
          <p:nvPr/>
        </p:nvSpPr>
        <p:spPr>
          <a:xfrm>
            <a:off x="5303520" y="4069080"/>
            <a:ext cx="3383280" cy="411480"/>
          </a:xfrm>
          <a:prstGeom prst="rect">
            <a:avLst/>
          </a:prstGeom>
          <a:noFill/>
          <a:ln/>
        </p:spPr>
        <p:txBody>
          <a:bodyPr wrap="square" lIns="0" tIns="0" rIns="0" bIns="0" rtlCol="0" anchor="t"/>
          <a:lstStyle/>
          <a:p>
            <a:pPr marL="0" indent="0">
              <a:buNone/>
            </a:pPr>
            <a:r>
              <a:rPr lang="en-US" sz="1100" dirty="0">
                <a:solidFill>
                  <a:srgbClr val="1F2A24"/>
                </a:solidFill>
                <a:latin typeface="Calibri" pitchFamily="34" charset="0"/>
                <a:ea typeface="Calibri" pitchFamily="34" charset="-122"/>
                <a:cs typeface="Calibri" pitchFamily="34" charset="-120"/>
              </a:rPr>
              <a:t>Certificado de Let's Encrypt; ningún secreto en el repositorio.</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5EE"/>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14342B"/>
                </a:solidFill>
                <a:latin typeface="Calibri" pitchFamily="34" charset="0"/>
                <a:ea typeface="Calibri" pitchFamily="34" charset="-122"/>
                <a:cs typeface="Calibri" pitchFamily="34" charset="-120"/>
              </a:rPr>
              <a:t>Desafíos resueltos</a:t>
            </a:r>
            <a:endParaRPr lang="en-US" sz="3000" dirty="0"/>
          </a:p>
        </p:txBody>
      </p:sp>
      <p:sp>
        <p:nvSpPr>
          <p:cNvPr id="3" name="Shape 1"/>
          <p:cNvSpPr/>
          <p:nvPr/>
        </p:nvSpPr>
        <p:spPr>
          <a:xfrm>
            <a:off x="457200" y="1097280"/>
            <a:ext cx="3931920" cy="1627632"/>
          </a:xfrm>
          <a:prstGeom prst="roundRect">
            <a:avLst>
              <a:gd name="adj" fmla="val 5618"/>
            </a:avLst>
          </a:prstGeom>
          <a:solidFill>
            <a:srgbClr val="FFFFFF"/>
          </a:solidFill>
          <a:ln w="12700">
            <a:solidFill>
              <a:srgbClr val="FFFFFF"/>
            </a:solidFill>
            <a:prstDash val="solid"/>
          </a:ln>
          <a:effectLst>
            <a:outerShdw blurRad="76200" dist="25400" dir="5400000" algn="bl" rotWithShape="0">
              <a:srgbClr val="000000">
                <a:alpha val="15000"/>
              </a:srgbClr>
            </a:outerShdw>
          </a:effectLst>
        </p:spPr>
        <p:txBody>
          <a:bodyPr/>
          <a:lstStyle/>
          <a:p>
            <a:endParaRPr lang="es-CL"/>
          </a:p>
        </p:txBody>
      </p:sp>
      <p:sp>
        <p:nvSpPr>
          <p:cNvPr id="4" name="Shape 2"/>
          <p:cNvSpPr/>
          <p:nvPr/>
        </p:nvSpPr>
        <p:spPr>
          <a:xfrm>
            <a:off x="685800" y="1325880"/>
            <a:ext cx="548640" cy="548640"/>
          </a:xfrm>
          <a:prstGeom prst="ellipse">
            <a:avLst/>
          </a:prstGeom>
          <a:solidFill>
            <a:srgbClr val="F4A261"/>
          </a:solidFill>
          <a:ln w="12700">
            <a:solidFill>
              <a:srgbClr val="F4A261"/>
            </a:solidFill>
            <a:prstDash val="solid"/>
          </a:ln>
        </p:spPr>
        <p:txBody>
          <a:bodyPr/>
          <a:lstStyle/>
          <a:p>
            <a:endParaRPr lang="es-CL"/>
          </a:p>
        </p:txBody>
      </p:sp>
      <p:pic>
        <p:nvPicPr>
          <p:cNvPr id="5" name="Image 0" descr="preencoded.png"/>
          <p:cNvPicPr>
            <a:picLocks noChangeAspect="1"/>
          </p:cNvPicPr>
          <p:nvPr/>
        </p:nvPicPr>
        <p:blipFill>
          <a:blip r:embed="rId3"/>
          <a:stretch>
            <a:fillRect/>
          </a:stretch>
        </p:blipFill>
        <p:spPr>
          <a:xfrm>
            <a:off x="817474" y="1457554"/>
            <a:ext cx="285293" cy="285293"/>
          </a:xfrm>
          <a:prstGeom prst="rect">
            <a:avLst/>
          </a:prstGeom>
        </p:spPr>
      </p:pic>
      <p:sp>
        <p:nvSpPr>
          <p:cNvPr id="6" name="Text 3"/>
          <p:cNvSpPr txBox="1"/>
          <p:nvPr/>
        </p:nvSpPr>
        <p:spPr>
          <a:xfrm>
            <a:off x="1417320" y="1325880"/>
            <a:ext cx="2788920" cy="347472"/>
          </a:xfrm>
          <a:prstGeom prst="rect">
            <a:avLst/>
          </a:prstGeom>
          <a:noFill/>
          <a:ln/>
        </p:spPr>
        <p:txBody>
          <a:bodyPr wrap="square" lIns="0" tIns="0" rIns="0" bIns="0" rtlCol="0" anchor="ctr"/>
          <a:lstStyle/>
          <a:p>
            <a:pPr marL="0" indent="0">
              <a:buNone/>
            </a:pPr>
            <a:r>
              <a:rPr lang="en-US" sz="1500" b="1" dirty="0">
                <a:solidFill>
                  <a:srgbClr val="14342B"/>
                </a:solidFill>
                <a:latin typeface="Calibri" pitchFamily="34" charset="0"/>
                <a:ea typeface="Calibri" pitchFamily="34" charset="-122"/>
                <a:cs typeface="Calibri" pitchFamily="34" charset="-120"/>
              </a:rPr>
              <a:t>Tokens v1 y audience</a:t>
            </a:r>
            <a:endParaRPr lang="en-US" sz="1500" dirty="0"/>
          </a:p>
        </p:txBody>
      </p:sp>
      <p:sp>
        <p:nvSpPr>
          <p:cNvPr id="7" name="Text 4"/>
          <p:cNvSpPr txBox="1"/>
          <p:nvPr/>
        </p:nvSpPr>
        <p:spPr>
          <a:xfrm>
            <a:off x="1417320" y="1691640"/>
            <a:ext cx="2788920" cy="914400"/>
          </a:xfrm>
          <a:prstGeom prst="rect">
            <a:avLst/>
          </a:prstGeom>
          <a:noFill/>
          <a:ln/>
        </p:spPr>
        <p:txBody>
          <a:bodyPr wrap="square" lIns="0" tIns="0" rIns="0" bIns="0" rtlCol="0" anchor="t"/>
          <a:lstStyle/>
          <a:p>
            <a:pPr marL="0" indent="0">
              <a:buNone/>
            </a:pPr>
            <a:r>
              <a:rPr lang="en-US" sz="1150" dirty="0">
                <a:solidFill>
                  <a:srgbClr val="1F2A24"/>
                </a:solidFill>
                <a:latin typeface="Calibri" pitchFamily="34" charset="0"/>
                <a:ea typeface="Calibri" pitchFamily="34" charset="-122"/>
                <a:cs typeface="Calibri" pitchFamily="34" charset="-120"/>
              </a:rPr>
              <a:t>Entra emitía tokens v1 para la API propia; se forzó v2 en el manifiesto. En v2 el aud es el Client ID sin "api://".</a:t>
            </a:r>
            <a:endParaRPr lang="en-US" sz="1150" dirty="0"/>
          </a:p>
        </p:txBody>
      </p:sp>
      <p:sp>
        <p:nvSpPr>
          <p:cNvPr id="8" name="Shape 5"/>
          <p:cNvSpPr/>
          <p:nvPr/>
        </p:nvSpPr>
        <p:spPr>
          <a:xfrm>
            <a:off x="4663440" y="1097280"/>
            <a:ext cx="3931920" cy="1627632"/>
          </a:xfrm>
          <a:prstGeom prst="roundRect">
            <a:avLst>
              <a:gd name="adj" fmla="val 5618"/>
            </a:avLst>
          </a:prstGeom>
          <a:solidFill>
            <a:srgbClr val="FFFFFF"/>
          </a:solidFill>
          <a:ln w="12700">
            <a:solidFill>
              <a:srgbClr val="FFFFFF"/>
            </a:solidFill>
            <a:prstDash val="solid"/>
          </a:ln>
          <a:effectLst>
            <a:outerShdw blurRad="76200" dist="25400" dir="5400000" algn="bl" rotWithShape="0">
              <a:srgbClr val="000000">
                <a:alpha val="15000"/>
              </a:srgbClr>
            </a:outerShdw>
          </a:effectLst>
        </p:spPr>
        <p:txBody>
          <a:bodyPr/>
          <a:lstStyle/>
          <a:p>
            <a:endParaRPr lang="es-CL"/>
          </a:p>
        </p:txBody>
      </p:sp>
      <p:sp>
        <p:nvSpPr>
          <p:cNvPr id="9" name="Shape 6"/>
          <p:cNvSpPr/>
          <p:nvPr/>
        </p:nvSpPr>
        <p:spPr>
          <a:xfrm>
            <a:off x="4892040" y="1325880"/>
            <a:ext cx="548640" cy="548640"/>
          </a:xfrm>
          <a:prstGeom prst="ellipse">
            <a:avLst/>
          </a:prstGeom>
          <a:solidFill>
            <a:srgbClr val="F4A261"/>
          </a:solidFill>
          <a:ln w="12700">
            <a:solidFill>
              <a:srgbClr val="F4A261"/>
            </a:solidFill>
            <a:prstDash val="solid"/>
          </a:ln>
        </p:spPr>
        <p:txBody>
          <a:bodyPr/>
          <a:lstStyle/>
          <a:p>
            <a:endParaRPr lang="es-CL"/>
          </a:p>
        </p:txBody>
      </p:sp>
      <p:pic>
        <p:nvPicPr>
          <p:cNvPr id="10" name="Image 1" descr="preencoded.png"/>
          <p:cNvPicPr>
            <a:picLocks noChangeAspect="1"/>
          </p:cNvPicPr>
          <p:nvPr/>
        </p:nvPicPr>
        <p:blipFill>
          <a:blip r:embed="rId4"/>
          <a:stretch>
            <a:fillRect/>
          </a:stretch>
        </p:blipFill>
        <p:spPr>
          <a:xfrm>
            <a:off x="5023714" y="1457554"/>
            <a:ext cx="285293" cy="285293"/>
          </a:xfrm>
          <a:prstGeom prst="rect">
            <a:avLst/>
          </a:prstGeom>
        </p:spPr>
      </p:pic>
      <p:sp>
        <p:nvSpPr>
          <p:cNvPr id="11" name="Text 7"/>
          <p:cNvSpPr txBox="1"/>
          <p:nvPr/>
        </p:nvSpPr>
        <p:spPr>
          <a:xfrm>
            <a:off x="5623560" y="1325880"/>
            <a:ext cx="2788920" cy="347472"/>
          </a:xfrm>
          <a:prstGeom prst="rect">
            <a:avLst/>
          </a:prstGeom>
          <a:noFill/>
          <a:ln/>
        </p:spPr>
        <p:txBody>
          <a:bodyPr wrap="square" lIns="0" tIns="0" rIns="0" bIns="0" rtlCol="0" anchor="ctr"/>
          <a:lstStyle/>
          <a:p>
            <a:pPr marL="0" indent="0">
              <a:buNone/>
            </a:pPr>
            <a:r>
              <a:rPr lang="en-US" sz="1500" b="1" dirty="0">
                <a:solidFill>
                  <a:srgbClr val="14342B"/>
                </a:solidFill>
                <a:latin typeface="Calibri" pitchFamily="34" charset="0"/>
                <a:ea typeface="Calibri" pitchFamily="34" charset="-122"/>
                <a:cs typeface="Calibri" pitchFamily="34" charset="-120"/>
              </a:rPr>
              <a:t>MSAL necesita HTTPS</a:t>
            </a:r>
            <a:endParaRPr lang="en-US" sz="1500" dirty="0"/>
          </a:p>
        </p:txBody>
      </p:sp>
      <p:sp>
        <p:nvSpPr>
          <p:cNvPr id="12" name="Text 8"/>
          <p:cNvSpPr txBox="1"/>
          <p:nvPr/>
        </p:nvSpPr>
        <p:spPr>
          <a:xfrm>
            <a:off x="5623560" y="1691640"/>
            <a:ext cx="2788920" cy="914400"/>
          </a:xfrm>
          <a:prstGeom prst="rect">
            <a:avLst/>
          </a:prstGeom>
          <a:noFill/>
          <a:ln/>
        </p:spPr>
        <p:txBody>
          <a:bodyPr wrap="square" lIns="0" tIns="0" rIns="0" bIns="0" rtlCol="0" anchor="t"/>
          <a:lstStyle/>
          <a:p>
            <a:pPr marL="0" indent="0">
              <a:buNone/>
            </a:pPr>
            <a:r>
              <a:rPr lang="en-US" sz="1150" dirty="0">
                <a:solidFill>
                  <a:srgbClr val="1F2A24"/>
                </a:solidFill>
                <a:latin typeface="Calibri" pitchFamily="34" charset="0"/>
                <a:ea typeface="Calibri" pitchFamily="34" charset="-122"/>
                <a:cs typeface="Calibri" pitchFamily="34" charset="-120"/>
              </a:rPr>
              <a:t>Por HTTP en una IP pública la app quedaba en blanco: crypto.subtle solo existe en un contexto seguro.</a:t>
            </a:r>
            <a:endParaRPr lang="en-US" sz="1150" dirty="0"/>
          </a:p>
        </p:txBody>
      </p:sp>
      <p:sp>
        <p:nvSpPr>
          <p:cNvPr id="13" name="Shape 9"/>
          <p:cNvSpPr/>
          <p:nvPr/>
        </p:nvSpPr>
        <p:spPr>
          <a:xfrm>
            <a:off x="457200" y="2907792"/>
            <a:ext cx="3931920" cy="1627632"/>
          </a:xfrm>
          <a:prstGeom prst="roundRect">
            <a:avLst>
              <a:gd name="adj" fmla="val 5618"/>
            </a:avLst>
          </a:prstGeom>
          <a:solidFill>
            <a:srgbClr val="FFFFFF"/>
          </a:solidFill>
          <a:ln w="12700">
            <a:solidFill>
              <a:srgbClr val="FFFFFF"/>
            </a:solidFill>
            <a:prstDash val="solid"/>
          </a:ln>
          <a:effectLst>
            <a:outerShdw blurRad="76200" dist="25400" dir="5400000" algn="bl" rotWithShape="0">
              <a:srgbClr val="000000">
                <a:alpha val="15000"/>
              </a:srgbClr>
            </a:outerShdw>
          </a:effectLst>
        </p:spPr>
        <p:txBody>
          <a:bodyPr/>
          <a:lstStyle/>
          <a:p>
            <a:endParaRPr lang="es-CL"/>
          </a:p>
        </p:txBody>
      </p:sp>
      <p:sp>
        <p:nvSpPr>
          <p:cNvPr id="14" name="Shape 10"/>
          <p:cNvSpPr/>
          <p:nvPr/>
        </p:nvSpPr>
        <p:spPr>
          <a:xfrm>
            <a:off x="685800" y="3136392"/>
            <a:ext cx="548640" cy="548640"/>
          </a:xfrm>
          <a:prstGeom prst="ellipse">
            <a:avLst/>
          </a:prstGeom>
          <a:solidFill>
            <a:srgbClr val="F4A261"/>
          </a:solidFill>
          <a:ln w="12700">
            <a:solidFill>
              <a:srgbClr val="F4A261"/>
            </a:solidFill>
            <a:prstDash val="solid"/>
          </a:ln>
        </p:spPr>
        <p:txBody>
          <a:bodyPr/>
          <a:lstStyle/>
          <a:p>
            <a:endParaRPr lang="es-CL"/>
          </a:p>
        </p:txBody>
      </p:sp>
      <p:pic>
        <p:nvPicPr>
          <p:cNvPr id="15" name="Image 2" descr="preencoded.png"/>
          <p:cNvPicPr>
            <a:picLocks noChangeAspect="1"/>
          </p:cNvPicPr>
          <p:nvPr/>
        </p:nvPicPr>
        <p:blipFill>
          <a:blip r:embed="rId5"/>
          <a:stretch>
            <a:fillRect/>
          </a:stretch>
        </p:blipFill>
        <p:spPr>
          <a:xfrm>
            <a:off x="817474" y="3268066"/>
            <a:ext cx="285293" cy="285293"/>
          </a:xfrm>
          <a:prstGeom prst="rect">
            <a:avLst/>
          </a:prstGeom>
        </p:spPr>
      </p:pic>
      <p:sp>
        <p:nvSpPr>
          <p:cNvPr id="16" name="Text 11"/>
          <p:cNvSpPr txBox="1"/>
          <p:nvPr/>
        </p:nvSpPr>
        <p:spPr>
          <a:xfrm>
            <a:off x="1417320" y="3136392"/>
            <a:ext cx="2788920" cy="347472"/>
          </a:xfrm>
          <a:prstGeom prst="rect">
            <a:avLst/>
          </a:prstGeom>
          <a:noFill/>
          <a:ln/>
        </p:spPr>
        <p:txBody>
          <a:bodyPr wrap="square" lIns="0" tIns="0" rIns="0" bIns="0" rtlCol="0" anchor="ctr"/>
          <a:lstStyle/>
          <a:p>
            <a:pPr marL="0" indent="0">
              <a:buNone/>
            </a:pPr>
            <a:r>
              <a:rPr lang="en-US" sz="1500" b="1" dirty="0">
                <a:solidFill>
                  <a:srgbClr val="14342B"/>
                </a:solidFill>
                <a:latin typeface="Calibri" pitchFamily="34" charset="0"/>
                <a:ea typeface="Calibri" pitchFamily="34" charset="-122"/>
                <a:cs typeface="Calibri" pitchFamily="34" charset="-120"/>
              </a:rPr>
              <a:t>Contenido mixto</a:t>
            </a:r>
            <a:endParaRPr lang="en-US" sz="1500" dirty="0"/>
          </a:p>
        </p:txBody>
      </p:sp>
      <p:sp>
        <p:nvSpPr>
          <p:cNvPr id="17" name="Text 12"/>
          <p:cNvSpPr txBox="1"/>
          <p:nvPr/>
        </p:nvSpPr>
        <p:spPr>
          <a:xfrm>
            <a:off x="1417320" y="3502152"/>
            <a:ext cx="2788920" cy="914400"/>
          </a:xfrm>
          <a:prstGeom prst="rect">
            <a:avLst/>
          </a:prstGeom>
          <a:noFill/>
          <a:ln/>
        </p:spPr>
        <p:txBody>
          <a:bodyPr wrap="square" lIns="0" tIns="0" rIns="0" bIns="0" rtlCol="0" anchor="t"/>
          <a:lstStyle/>
          <a:p>
            <a:pPr marL="0" indent="0">
              <a:buNone/>
            </a:pPr>
            <a:r>
              <a:rPr lang="en-US" sz="1150" dirty="0">
                <a:solidFill>
                  <a:srgbClr val="1F2A24"/>
                </a:solidFill>
                <a:latin typeface="Calibri" pitchFamily="34" charset="0"/>
                <a:ea typeface="Calibri" pitchFamily="34" charset="-122"/>
                <a:cs typeface="Calibri" pitchFamily="34" charset="-120"/>
              </a:rPr>
              <a:t>Un frontend HTTPS no puede llamar a un backend HTTP: el API Gateway aporta el HTTPS hacia el backend.</a:t>
            </a:r>
            <a:endParaRPr lang="en-US" sz="1150" dirty="0"/>
          </a:p>
        </p:txBody>
      </p:sp>
      <p:sp>
        <p:nvSpPr>
          <p:cNvPr id="18" name="Shape 13"/>
          <p:cNvSpPr/>
          <p:nvPr/>
        </p:nvSpPr>
        <p:spPr>
          <a:xfrm>
            <a:off x="4663440" y="2907792"/>
            <a:ext cx="3931920" cy="1627632"/>
          </a:xfrm>
          <a:prstGeom prst="roundRect">
            <a:avLst>
              <a:gd name="adj" fmla="val 5618"/>
            </a:avLst>
          </a:prstGeom>
          <a:solidFill>
            <a:srgbClr val="FFFFFF"/>
          </a:solidFill>
          <a:ln w="12700">
            <a:solidFill>
              <a:srgbClr val="FFFFFF"/>
            </a:solidFill>
            <a:prstDash val="solid"/>
          </a:ln>
          <a:effectLst>
            <a:outerShdw blurRad="76200" dist="25400" dir="5400000" algn="bl" rotWithShape="0">
              <a:srgbClr val="000000">
                <a:alpha val="15000"/>
              </a:srgbClr>
            </a:outerShdw>
          </a:effectLst>
        </p:spPr>
        <p:txBody>
          <a:bodyPr/>
          <a:lstStyle/>
          <a:p>
            <a:endParaRPr lang="es-CL"/>
          </a:p>
        </p:txBody>
      </p:sp>
      <p:sp>
        <p:nvSpPr>
          <p:cNvPr id="19" name="Shape 14"/>
          <p:cNvSpPr/>
          <p:nvPr/>
        </p:nvSpPr>
        <p:spPr>
          <a:xfrm>
            <a:off x="4892040" y="3136392"/>
            <a:ext cx="548640" cy="548640"/>
          </a:xfrm>
          <a:prstGeom prst="ellipse">
            <a:avLst/>
          </a:prstGeom>
          <a:solidFill>
            <a:srgbClr val="F4A261"/>
          </a:solidFill>
          <a:ln w="12700">
            <a:solidFill>
              <a:srgbClr val="F4A261"/>
            </a:solidFill>
            <a:prstDash val="solid"/>
          </a:ln>
        </p:spPr>
        <p:txBody>
          <a:bodyPr/>
          <a:lstStyle/>
          <a:p>
            <a:endParaRPr lang="es-CL"/>
          </a:p>
        </p:txBody>
      </p:sp>
      <p:pic>
        <p:nvPicPr>
          <p:cNvPr id="20" name="Image 3" descr="preencoded.png"/>
          <p:cNvPicPr>
            <a:picLocks noChangeAspect="1"/>
          </p:cNvPicPr>
          <p:nvPr/>
        </p:nvPicPr>
        <p:blipFill>
          <a:blip r:embed="rId6"/>
          <a:stretch>
            <a:fillRect/>
          </a:stretch>
        </p:blipFill>
        <p:spPr>
          <a:xfrm>
            <a:off x="5023714" y="3268066"/>
            <a:ext cx="285293" cy="285293"/>
          </a:xfrm>
          <a:prstGeom prst="rect">
            <a:avLst/>
          </a:prstGeom>
        </p:spPr>
      </p:pic>
      <p:sp>
        <p:nvSpPr>
          <p:cNvPr id="21" name="Text 15"/>
          <p:cNvSpPr txBox="1"/>
          <p:nvPr/>
        </p:nvSpPr>
        <p:spPr>
          <a:xfrm>
            <a:off x="5623560" y="3136392"/>
            <a:ext cx="2788920" cy="347472"/>
          </a:xfrm>
          <a:prstGeom prst="rect">
            <a:avLst/>
          </a:prstGeom>
          <a:noFill/>
          <a:ln/>
        </p:spPr>
        <p:txBody>
          <a:bodyPr wrap="square" lIns="0" tIns="0" rIns="0" bIns="0" rtlCol="0" anchor="ctr"/>
          <a:lstStyle/>
          <a:p>
            <a:pPr marL="0" indent="0">
              <a:buNone/>
            </a:pPr>
            <a:r>
              <a:rPr lang="en-US" sz="1500" b="1" dirty="0">
                <a:solidFill>
                  <a:srgbClr val="14342B"/>
                </a:solidFill>
                <a:latin typeface="Calibri" pitchFamily="34" charset="0"/>
                <a:ea typeface="Calibri" pitchFamily="34" charset="-122"/>
                <a:cs typeface="Calibri" pitchFamily="34" charset="-120"/>
              </a:rPr>
              <a:t>Preflight y ANY</a:t>
            </a:r>
            <a:endParaRPr lang="en-US" sz="1500" dirty="0"/>
          </a:p>
        </p:txBody>
      </p:sp>
      <p:sp>
        <p:nvSpPr>
          <p:cNvPr id="22" name="Text 16"/>
          <p:cNvSpPr txBox="1"/>
          <p:nvPr/>
        </p:nvSpPr>
        <p:spPr>
          <a:xfrm>
            <a:off x="5623560" y="3502152"/>
            <a:ext cx="2788920" cy="914400"/>
          </a:xfrm>
          <a:prstGeom prst="rect">
            <a:avLst/>
          </a:prstGeom>
          <a:noFill/>
          <a:ln/>
        </p:spPr>
        <p:txBody>
          <a:bodyPr wrap="square" lIns="0" tIns="0" rIns="0" bIns="0" rtlCol="0" anchor="t"/>
          <a:lstStyle/>
          <a:p>
            <a:pPr marL="0" indent="0">
              <a:buNone/>
            </a:pPr>
            <a:r>
              <a:rPr lang="en-US" sz="1150" dirty="0">
                <a:solidFill>
                  <a:srgbClr val="1F2A24"/>
                </a:solidFill>
                <a:latin typeface="Calibri" pitchFamily="34" charset="0"/>
                <a:ea typeface="Calibri" pitchFamily="34" charset="-122"/>
                <a:cs typeface="Calibri" pitchFamily="34" charset="-120"/>
              </a:rPr>
              <a:t>La ruta ANY capturaba el OPTIONS sin token y el authorizer lo rechazaba: se usaron métodos explícitos.</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342B"/>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Demo en vivo</a:t>
            </a:r>
            <a:endParaRPr lang="en-US" sz="3600" dirty="0"/>
          </a:p>
        </p:txBody>
      </p:sp>
      <p:sp>
        <p:nvSpPr>
          <p:cNvPr id="3" name="Shape 1"/>
          <p:cNvSpPr/>
          <p:nvPr/>
        </p:nvSpPr>
        <p:spPr>
          <a:xfrm>
            <a:off x="457200" y="1325880"/>
            <a:ext cx="502920" cy="502920"/>
          </a:xfrm>
          <a:prstGeom prst="ellipse">
            <a:avLst/>
          </a:prstGeom>
          <a:solidFill>
            <a:srgbClr val="52B788"/>
          </a:solidFill>
          <a:ln w="12700">
            <a:solidFill>
              <a:srgbClr val="52B788"/>
            </a:solidFill>
            <a:prstDash val="solid"/>
          </a:ln>
        </p:spPr>
        <p:txBody>
          <a:bodyPr/>
          <a:lstStyle/>
          <a:p>
            <a:endParaRPr lang="es-CL"/>
          </a:p>
        </p:txBody>
      </p:sp>
      <p:sp>
        <p:nvSpPr>
          <p:cNvPr id="4" name="Text 2"/>
          <p:cNvSpPr txBox="1"/>
          <p:nvPr/>
        </p:nvSpPr>
        <p:spPr>
          <a:xfrm>
            <a:off x="457200" y="1325880"/>
            <a:ext cx="502920" cy="502920"/>
          </a:xfrm>
          <a:prstGeom prst="rect">
            <a:avLst/>
          </a:prstGeom>
          <a:noFill/>
          <a:ln/>
        </p:spPr>
        <p:txBody>
          <a:bodyPr wrap="square" lIns="0" tIns="0" rIns="0" bIns="0" rtlCol="0" anchor="ctr"/>
          <a:lstStyle/>
          <a:p>
            <a:pPr marL="0" indent="0" algn="ctr">
              <a:buNone/>
            </a:pPr>
            <a:r>
              <a:rPr lang="en-US" sz="1600" b="1" dirty="0">
                <a:solidFill>
                  <a:srgbClr val="14342B"/>
                </a:solidFill>
                <a:latin typeface="Calibri" pitchFamily="34" charset="0"/>
                <a:ea typeface="Calibri" pitchFamily="34" charset="-122"/>
                <a:cs typeface="Calibri" pitchFamily="34" charset="-120"/>
              </a:rPr>
              <a:t>1</a:t>
            </a:r>
            <a:endParaRPr lang="en-US" sz="1600" dirty="0"/>
          </a:p>
        </p:txBody>
      </p:sp>
      <p:sp>
        <p:nvSpPr>
          <p:cNvPr id="5" name="Text 3"/>
          <p:cNvSpPr txBox="1"/>
          <p:nvPr/>
        </p:nvSpPr>
        <p:spPr>
          <a:xfrm>
            <a:off x="1143000" y="1280160"/>
            <a:ext cx="3383280" cy="64008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Consola AWS: API Gateway, rutas, authorizer y CORS</a:t>
            </a:r>
            <a:endParaRPr lang="en-US" sz="1400" dirty="0"/>
          </a:p>
        </p:txBody>
      </p:sp>
      <p:sp>
        <p:nvSpPr>
          <p:cNvPr id="6" name="Shape 4"/>
          <p:cNvSpPr/>
          <p:nvPr/>
        </p:nvSpPr>
        <p:spPr>
          <a:xfrm>
            <a:off x="4663440" y="1325880"/>
            <a:ext cx="502920" cy="502920"/>
          </a:xfrm>
          <a:prstGeom prst="ellipse">
            <a:avLst/>
          </a:prstGeom>
          <a:solidFill>
            <a:srgbClr val="52B788"/>
          </a:solidFill>
          <a:ln w="12700">
            <a:solidFill>
              <a:srgbClr val="52B788"/>
            </a:solidFill>
            <a:prstDash val="solid"/>
          </a:ln>
        </p:spPr>
        <p:txBody>
          <a:bodyPr/>
          <a:lstStyle/>
          <a:p>
            <a:endParaRPr lang="es-CL"/>
          </a:p>
        </p:txBody>
      </p:sp>
      <p:sp>
        <p:nvSpPr>
          <p:cNvPr id="7" name="Text 5"/>
          <p:cNvSpPr txBox="1"/>
          <p:nvPr/>
        </p:nvSpPr>
        <p:spPr>
          <a:xfrm>
            <a:off x="4663440" y="1325880"/>
            <a:ext cx="502920" cy="502920"/>
          </a:xfrm>
          <a:prstGeom prst="rect">
            <a:avLst/>
          </a:prstGeom>
          <a:noFill/>
          <a:ln/>
        </p:spPr>
        <p:txBody>
          <a:bodyPr wrap="square" lIns="0" tIns="0" rIns="0" bIns="0" rtlCol="0" anchor="ctr"/>
          <a:lstStyle/>
          <a:p>
            <a:pPr marL="0" indent="0" algn="ctr">
              <a:buNone/>
            </a:pPr>
            <a:r>
              <a:rPr lang="en-US" sz="1600" b="1" dirty="0">
                <a:solidFill>
                  <a:srgbClr val="14342B"/>
                </a:solidFill>
                <a:latin typeface="Calibri" pitchFamily="34" charset="0"/>
                <a:ea typeface="Calibri" pitchFamily="34" charset="-122"/>
                <a:cs typeface="Calibri" pitchFamily="34" charset="-120"/>
              </a:rPr>
              <a:t>2</a:t>
            </a:r>
            <a:endParaRPr lang="en-US" sz="1600" dirty="0"/>
          </a:p>
        </p:txBody>
      </p:sp>
      <p:sp>
        <p:nvSpPr>
          <p:cNvPr id="8" name="Text 6"/>
          <p:cNvSpPr txBox="1"/>
          <p:nvPr/>
        </p:nvSpPr>
        <p:spPr>
          <a:xfrm>
            <a:off x="5349240" y="1280160"/>
            <a:ext cx="3383280" cy="64008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Entra ID: App Registration, scopes, rol y usuarios</a:t>
            </a:r>
            <a:endParaRPr lang="en-US" sz="1400" dirty="0"/>
          </a:p>
        </p:txBody>
      </p:sp>
      <p:sp>
        <p:nvSpPr>
          <p:cNvPr id="9" name="Shape 7"/>
          <p:cNvSpPr/>
          <p:nvPr/>
        </p:nvSpPr>
        <p:spPr>
          <a:xfrm>
            <a:off x="457200" y="2423160"/>
            <a:ext cx="502920" cy="502920"/>
          </a:xfrm>
          <a:prstGeom prst="ellipse">
            <a:avLst/>
          </a:prstGeom>
          <a:solidFill>
            <a:srgbClr val="52B788"/>
          </a:solidFill>
          <a:ln w="12700">
            <a:solidFill>
              <a:srgbClr val="52B788"/>
            </a:solidFill>
            <a:prstDash val="solid"/>
          </a:ln>
        </p:spPr>
        <p:txBody>
          <a:bodyPr/>
          <a:lstStyle/>
          <a:p>
            <a:endParaRPr lang="es-CL"/>
          </a:p>
        </p:txBody>
      </p:sp>
      <p:sp>
        <p:nvSpPr>
          <p:cNvPr id="10" name="Text 8"/>
          <p:cNvSpPr txBox="1"/>
          <p:nvPr/>
        </p:nvSpPr>
        <p:spPr>
          <a:xfrm>
            <a:off x="457200" y="2423160"/>
            <a:ext cx="502920" cy="502920"/>
          </a:xfrm>
          <a:prstGeom prst="rect">
            <a:avLst/>
          </a:prstGeom>
          <a:noFill/>
          <a:ln/>
        </p:spPr>
        <p:txBody>
          <a:bodyPr wrap="square" lIns="0" tIns="0" rIns="0" bIns="0" rtlCol="0" anchor="ctr"/>
          <a:lstStyle/>
          <a:p>
            <a:pPr marL="0" indent="0" algn="ctr">
              <a:buNone/>
            </a:pPr>
            <a:r>
              <a:rPr lang="en-US" sz="1600" b="1" dirty="0">
                <a:solidFill>
                  <a:srgbClr val="14342B"/>
                </a:solidFill>
                <a:latin typeface="Calibri" pitchFamily="34" charset="0"/>
                <a:ea typeface="Calibri" pitchFamily="34" charset="-122"/>
                <a:cs typeface="Calibri" pitchFamily="34" charset="-120"/>
              </a:rPr>
              <a:t>3</a:t>
            </a:r>
            <a:endParaRPr lang="en-US" sz="1600" dirty="0"/>
          </a:p>
        </p:txBody>
      </p:sp>
      <p:sp>
        <p:nvSpPr>
          <p:cNvPr id="11" name="Text 9"/>
          <p:cNvSpPr txBox="1"/>
          <p:nvPr/>
        </p:nvSpPr>
        <p:spPr>
          <a:xfrm>
            <a:off x="1143000" y="2377440"/>
            <a:ext cx="3383280" cy="64008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Login con PKCE: code_challenge, state y nonce en la URL</a:t>
            </a:r>
            <a:endParaRPr lang="en-US" sz="1400" dirty="0"/>
          </a:p>
        </p:txBody>
      </p:sp>
      <p:sp>
        <p:nvSpPr>
          <p:cNvPr id="12" name="Shape 10"/>
          <p:cNvSpPr/>
          <p:nvPr/>
        </p:nvSpPr>
        <p:spPr>
          <a:xfrm>
            <a:off x="4663440" y="2423160"/>
            <a:ext cx="502920" cy="502920"/>
          </a:xfrm>
          <a:prstGeom prst="ellipse">
            <a:avLst/>
          </a:prstGeom>
          <a:solidFill>
            <a:srgbClr val="52B788"/>
          </a:solidFill>
          <a:ln w="12700">
            <a:solidFill>
              <a:srgbClr val="52B788"/>
            </a:solidFill>
            <a:prstDash val="solid"/>
          </a:ln>
        </p:spPr>
        <p:txBody>
          <a:bodyPr/>
          <a:lstStyle/>
          <a:p>
            <a:endParaRPr lang="es-CL"/>
          </a:p>
        </p:txBody>
      </p:sp>
      <p:sp>
        <p:nvSpPr>
          <p:cNvPr id="13" name="Text 11"/>
          <p:cNvSpPr txBox="1"/>
          <p:nvPr/>
        </p:nvSpPr>
        <p:spPr>
          <a:xfrm>
            <a:off x="4663440" y="2423160"/>
            <a:ext cx="502920" cy="502920"/>
          </a:xfrm>
          <a:prstGeom prst="rect">
            <a:avLst/>
          </a:prstGeom>
          <a:noFill/>
          <a:ln/>
        </p:spPr>
        <p:txBody>
          <a:bodyPr wrap="square" lIns="0" tIns="0" rIns="0" bIns="0" rtlCol="0" anchor="ctr"/>
          <a:lstStyle/>
          <a:p>
            <a:pPr marL="0" indent="0" algn="ctr">
              <a:buNone/>
            </a:pPr>
            <a:r>
              <a:rPr lang="en-US" sz="1600" b="1" dirty="0">
                <a:solidFill>
                  <a:srgbClr val="14342B"/>
                </a:solidFill>
                <a:latin typeface="Calibri" pitchFamily="34" charset="0"/>
                <a:ea typeface="Calibri" pitchFamily="34" charset="-122"/>
                <a:cs typeface="Calibri" pitchFamily="34" charset="-120"/>
              </a:rPr>
              <a:t>4</a:t>
            </a:r>
            <a:endParaRPr lang="en-US" sz="1600" dirty="0"/>
          </a:p>
        </p:txBody>
      </p:sp>
      <p:sp>
        <p:nvSpPr>
          <p:cNvPr id="14" name="Text 12"/>
          <p:cNvSpPr txBox="1"/>
          <p:nvPr/>
        </p:nvSpPr>
        <p:spPr>
          <a:xfrm>
            <a:off x="5349240" y="2377440"/>
            <a:ext cx="3383280" cy="64008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La app consume la API a través del Gateway (pestaña Red)</a:t>
            </a:r>
            <a:endParaRPr lang="en-US" sz="1400" dirty="0"/>
          </a:p>
        </p:txBody>
      </p:sp>
      <p:sp>
        <p:nvSpPr>
          <p:cNvPr id="15" name="Shape 13"/>
          <p:cNvSpPr/>
          <p:nvPr/>
        </p:nvSpPr>
        <p:spPr>
          <a:xfrm>
            <a:off x="457200" y="3520440"/>
            <a:ext cx="502920" cy="502920"/>
          </a:xfrm>
          <a:prstGeom prst="ellipse">
            <a:avLst/>
          </a:prstGeom>
          <a:solidFill>
            <a:srgbClr val="52B788"/>
          </a:solidFill>
          <a:ln w="12700">
            <a:solidFill>
              <a:srgbClr val="52B788"/>
            </a:solidFill>
            <a:prstDash val="solid"/>
          </a:ln>
        </p:spPr>
        <p:txBody>
          <a:bodyPr/>
          <a:lstStyle/>
          <a:p>
            <a:endParaRPr lang="es-CL"/>
          </a:p>
        </p:txBody>
      </p:sp>
      <p:sp>
        <p:nvSpPr>
          <p:cNvPr id="16" name="Text 14"/>
          <p:cNvSpPr txBox="1"/>
          <p:nvPr/>
        </p:nvSpPr>
        <p:spPr>
          <a:xfrm>
            <a:off x="457200" y="3520440"/>
            <a:ext cx="502920" cy="502920"/>
          </a:xfrm>
          <a:prstGeom prst="rect">
            <a:avLst/>
          </a:prstGeom>
          <a:noFill/>
          <a:ln/>
        </p:spPr>
        <p:txBody>
          <a:bodyPr wrap="square" lIns="0" tIns="0" rIns="0" bIns="0" rtlCol="0" anchor="ctr"/>
          <a:lstStyle/>
          <a:p>
            <a:pPr marL="0" indent="0" algn="ctr">
              <a:buNone/>
            </a:pPr>
            <a:r>
              <a:rPr lang="en-US" sz="1600" b="1" dirty="0">
                <a:solidFill>
                  <a:srgbClr val="14342B"/>
                </a:solidFill>
                <a:latin typeface="Calibri" pitchFamily="34" charset="0"/>
                <a:ea typeface="Calibri" pitchFamily="34" charset="-122"/>
                <a:cs typeface="Calibri" pitchFamily="34" charset="-120"/>
              </a:rPr>
              <a:t>5</a:t>
            </a:r>
            <a:endParaRPr lang="en-US" sz="1600" dirty="0"/>
          </a:p>
        </p:txBody>
      </p:sp>
      <p:sp>
        <p:nvSpPr>
          <p:cNvPr id="17" name="Text 15"/>
          <p:cNvSpPr txBox="1"/>
          <p:nvPr/>
        </p:nvSpPr>
        <p:spPr>
          <a:xfrm>
            <a:off x="1143000" y="3474720"/>
            <a:ext cx="3383280" cy="64008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Matriz 200 / 401 / 403 en vivo con el script</a:t>
            </a:r>
            <a:endParaRPr lang="en-US" sz="1400" dirty="0"/>
          </a:p>
        </p:txBody>
      </p:sp>
      <p:sp>
        <p:nvSpPr>
          <p:cNvPr id="18" name="Shape 16"/>
          <p:cNvSpPr/>
          <p:nvPr/>
        </p:nvSpPr>
        <p:spPr>
          <a:xfrm>
            <a:off x="4663440" y="3520440"/>
            <a:ext cx="502920" cy="502920"/>
          </a:xfrm>
          <a:prstGeom prst="ellipse">
            <a:avLst/>
          </a:prstGeom>
          <a:solidFill>
            <a:srgbClr val="52B788"/>
          </a:solidFill>
          <a:ln w="12700">
            <a:solidFill>
              <a:srgbClr val="52B788"/>
            </a:solidFill>
            <a:prstDash val="solid"/>
          </a:ln>
        </p:spPr>
        <p:txBody>
          <a:bodyPr/>
          <a:lstStyle/>
          <a:p>
            <a:endParaRPr lang="es-CL"/>
          </a:p>
        </p:txBody>
      </p:sp>
      <p:sp>
        <p:nvSpPr>
          <p:cNvPr id="19" name="Text 17"/>
          <p:cNvSpPr txBox="1"/>
          <p:nvPr/>
        </p:nvSpPr>
        <p:spPr>
          <a:xfrm>
            <a:off x="4663440" y="3520440"/>
            <a:ext cx="502920" cy="502920"/>
          </a:xfrm>
          <a:prstGeom prst="rect">
            <a:avLst/>
          </a:prstGeom>
          <a:noFill/>
          <a:ln/>
        </p:spPr>
        <p:txBody>
          <a:bodyPr wrap="square" lIns="0" tIns="0" rIns="0" bIns="0" rtlCol="0" anchor="ctr"/>
          <a:lstStyle/>
          <a:p>
            <a:pPr marL="0" indent="0" algn="ctr">
              <a:buNone/>
            </a:pPr>
            <a:r>
              <a:rPr lang="en-US" sz="1600" b="1" dirty="0">
                <a:solidFill>
                  <a:srgbClr val="14342B"/>
                </a:solidFill>
                <a:latin typeface="Calibri" pitchFamily="34" charset="0"/>
                <a:ea typeface="Calibri" pitchFamily="34" charset="-122"/>
                <a:cs typeface="Calibri" pitchFamily="34" charset="-120"/>
              </a:rPr>
              <a:t>6</a:t>
            </a:r>
            <a:endParaRPr lang="en-US" sz="1600" dirty="0"/>
          </a:p>
        </p:txBody>
      </p:sp>
      <p:sp>
        <p:nvSpPr>
          <p:cNvPr id="20" name="Text 18"/>
          <p:cNvSpPr txBox="1"/>
          <p:nvPr/>
        </p:nvSpPr>
        <p:spPr>
          <a:xfrm>
            <a:off x="5349240" y="3474720"/>
            <a:ext cx="3383280" cy="64008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Instancias EC2 activas y dominio con HTTPS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342B"/>
        </a:solidFill>
        <a:effectLst/>
      </p:bgPr>
    </p:bg>
    <p:spTree>
      <p:nvGrpSpPr>
        <p:cNvPr id="1" name=""/>
        <p:cNvGrpSpPr/>
        <p:nvPr/>
      </p:nvGrpSpPr>
      <p:grpSpPr>
        <a:xfrm>
          <a:off x="0" y="0"/>
          <a:ext cx="0" cy="0"/>
          <a:chOff x="0" y="0"/>
          <a:chExt cx="0" cy="0"/>
        </a:xfrm>
      </p:grpSpPr>
      <p:sp>
        <p:nvSpPr>
          <p:cNvPr id="2" name="Shape 0"/>
          <p:cNvSpPr/>
          <p:nvPr/>
        </p:nvSpPr>
        <p:spPr>
          <a:xfrm>
            <a:off x="4069080" y="822960"/>
            <a:ext cx="1005840" cy="1005840"/>
          </a:xfrm>
          <a:prstGeom prst="ellipse">
            <a:avLst/>
          </a:prstGeom>
          <a:solidFill>
            <a:srgbClr val="52B788"/>
          </a:solidFill>
          <a:ln w="12700">
            <a:solidFill>
              <a:srgbClr val="52B788"/>
            </a:solidFill>
            <a:prstDash val="solid"/>
          </a:ln>
        </p:spPr>
        <p:txBody>
          <a:bodyPr/>
          <a:lstStyle/>
          <a:p>
            <a:endParaRPr lang="es-CL"/>
          </a:p>
        </p:txBody>
      </p:sp>
      <p:pic>
        <p:nvPicPr>
          <p:cNvPr id="3" name="Image 0" descr="preencoded.png"/>
          <p:cNvPicPr>
            <a:picLocks noChangeAspect="1"/>
          </p:cNvPicPr>
          <p:nvPr/>
        </p:nvPicPr>
        <p:blipFill>
          <a:blip r:embed="rId3"/>
          <a:stretch>
            <a:fillRect/>
          </a:stretch>
        </p:blipFill>
        <p:spPr>
          <a:xfrm>
            <a:off x="4310482" y="1064362"/>
            <a:ext cx="523037" cy="523037"/>
          </a:xfrm>
          <a:prstGeom prst="rect">
            <a:avLst/>
          </a:prstGeom>
        </p:spPr>
      </p:pic>
      <p:sp>
        <p:nvSpPr>
          <p:cNvPr id="4" name="Text 1"/>
          <p:cNvSpPr txBox="1"/>
          <p:nvPr/>
        </p:nvSpPr>
        <p:spPr>
          <a:xfrm>
            <a:off x="457200" y="2011680"/>
            <a:ext cx="8229600" cy="822960"/>
          </a:xfrm>
          <a:prstGeom prst="rect">
            <a:avLst/>
          </a:prstGeom>
          <a:noFill/>
          <a:ln/>
        </p:spPr>
        <p:txBody>
          <a:bodyPr wrap="square" lIns="0" tIns="0" rIns="0" bIns="0"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Gracias</a:t>
            </a:r>
            <a:endParaRPr lang="en-US" sz="4400" dirty="0"/>
          </a:p>
        </p:txBody>
      </p:sp>
      <p:sp>
        <p:nvSpPr>
          <p:cNvPr id="5" name="Text 2"/>
          <p:cNvSpPr txBox="1"/>
          <p:nvPr/>
        </p:nvSpPr>
        <p:spPr>
          <a:xfrm>
            <a:off x="457200" y="2788920"/>
            <a:ext cx="8229600" cy="548640"/>
          </a:xfrm>
          <a:prstGeom prst="rect">
            <a:avLst/>
          </a:prstGeom>
          <a:noFill/>
          <a:ln/>
        </p:spPr>
        <p:txBody>
          <a:bodyPr wrap="square" lIns="0" tIns="0" rIns="0" bIns="0" rtlCol="0" anchor="ctr"/>
          <a:lstStyle/>
          <a:p>
            <a:pPr marL="0" indent="0" algn="ctr">
              <a:buNone/>
            </a:pPr>
            <a:r>
              <a:rPr lang="en-US" sz="2200" dirty="0">
                <a:solidFill>
                  <a:srgbClr val="52B788"/>
                </a:solidFill>
                <a:latin typeface="Calibri" pitchFamily="34" charset="0"/>
                <a:ea typeface="Calibri" pitchFamily="34" charset="-122"/>
                <a:cs typeface="Calibri" pitchFamily="34" charset="-120"/>
              </a:rPr>
              <a:t>¿Preguntas?</a:t>
            </a:r>
            <a:endParaRPr lang="en-US" sz="2200" dirty="0"/>
          </a:p>
        </p:txBody>
      </p:sp>
      <p:sp>
        <p:nvSpPr>
          <p:cNvPr id="6" name="Text 3"/>
          <p:cNvSpPr txBox="1"/>
          <p:nvPr/>
        </p:nvSpPr>
        <p:spPr>
          <a:xfrm>
            <a:off x="457200" y="4023360"/>
            <a:ext cx="8229600" cy="365760"/>
          </a:xfrm>
          <a:prstGeom prst="rect">
            <a:avLst/>
          </a:prstGeom>
          <a:noFill/>
          <a:ln/>
        </p:spPr>
        <p:txBody>
          <a:bodyPr wrap="square" lIns="0" tIns="0" rIns="0" bIns="0" rtlCol="0" anchor="ctr"/>
          <a:lstStyle/>
          <a:p>
            <a:pPr marL="0" indent="0" algn="ctr">
              <a:buNone/>
            </a:pPr>
            <a:r>
              <a:rPr lang="en-US" sz="1200" dirty="0">
                <a:solidFill>
                  <a:srgbClr val="E8F5EE"/>
                </a:solidFill>
                <a:latin typeface="Calibri" pitchFamily="34" charset="0"/>
                <a:ea typeface="Calibri" pitchFamily="34" charset="-122"/>
                <a:cs typeface="Calibri" pitchFamily="34" charset="-120"/>
              </a:rPr>
              <a:t>https://ecopunto.larraguibel.dev · github.com/jhonnylarry/dsy1107-ep1-ecopunto</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TotalTime>
  <Words>2854</Words>
  <Application>Microsoft Macintosh PowerPoint</Application>
  <PresentationFormat>Presentación en pantalla (16:9)</PresentationFormat>
  <Paragraphs>203</Paragraphs>
  <Slides>12</Slides>
  <Notes>12</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12</vt:i4>
      </vt:variant>
    </vt:vector>
  </HeadingPairs>
  <TitlesOfParts>
    <vt:vector size="15"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EcoPunto · Arquitectura cloud segura</dc:title>
  <dc:subject>PptxGenJS Presentation</dc:subject>
  <dc:creator>Jonathan Larraguibel</dc:creator>
  <cp:lastModifiedBy>JONATHAN BRANDON LARRAGUIBEL MEDINA</cp:lastModifiedBy>
  <cp:revision>2</cp:revision>
  <dcterms:created xsi:type="dcterms:W3CDTF">2026-09-22T03:20:56Z</dcterms:created>
  <dcterms:modified xsi:type="dcterms:W3CDTF">2026-09-22T04:14:26Z</dcterms:modified>
</cp:coreProperties>
</file>