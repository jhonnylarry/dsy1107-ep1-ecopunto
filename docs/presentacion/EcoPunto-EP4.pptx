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icio" id="{c7eabbaa-8871-1d1a-52e0-4f5ec5ecfab8}">
          <p14:sldIdLst>
            <p14:sldId id="256"/>
          </p14:sldIdLst>
        </p14:section>
        <p14:section name="Solución" id="{ca5f3b70-b1c9-cc53-6de4-050749cbbe11}">
          <p14:sldIdLst>
            <p14:sldId id="257"/>
            <p14:sldId id="258"/>
            <p14:sldId id="259"/>
          </p14:sldIdLst>
        </p14:section>
        <p14:section name="Mensajería" id="{7f45d3bf-37af-5aa3-d43f-e0c612195bf9}">
          <p14:sldIdLst>
            <p14:sldId id="260"/>
            <p14:sldId id="261"/>
            <p14:sldId id="262"/>
            <p14:sldId id="263"/>
            <p14:sldId id="264"/>
          </p14:sldIdLst>
        </p14:section>
        <p14:section name="Demo" id="{1db1f029-6fbf-0276-3b45-0eb076c4d163}">
          <p14:sldIdLst>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Soy Jonathan Larraguibel. En esta etapa agregué mensajería asíncrona con RabbitMQ a EcoPunto. Más que mostrar lo que configuré, voy a explicar por qué tomé cada decisión.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Decisión: qué es asíncrono y qué no.
El criterio fue simple: lo que el usuario necesita ver en ese momento es síncrono, y sus consecuencias son asíncronas. Crear un reporte es síncrono, porque el vecino necesita saber que quedó guardado. Avisar a los encargados, sumar estadísticas y generar el ticket son consecuencias: si las hiciera en la misma petición, el usuario esperaría más y, si un servicio estuviera caído, el reporte fallaría. Por eso viajan como mensajes. Además, agregué un administrador de RabbitMQ para el rol ADMIN.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Decisiones: Gateway como única entrada, frontend separado, docker compose y una base por servicio.
Aquí está cada pieza y dónde corre.
Todo pasa por el API Gateway: el frontend conoce una sola URL y el token se valida antes de llegar a la máquina.
El frontend va en su propia t3.micro, porque solo entrega archivos estáticos; si el backend se satura, la página sigue cargando.
El backend corre con docker compose en una t3.medium: ocho contenedores. Consideré ECS o Kubernetes, pero para el alcance del curso compose me da red interna, reinicio automático y arranque ordenado con mucha menos complejidad.
Y cada microservicio tiene su propia base, para que ninguno dependa de las tablas de otro. Las dos instancias tienen Elastic IP, así el dominio no cambia al reiniciar el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Decisiones: identidad delegada, App Roles y validación en dos capas.
No programé login ni guardo contraseñas: lo delego en Entra ID, que ya trae MFA y recuperación de cuenta. Uso App Roles porque el rol llega directo en el token. Y el token se valida en dos capas: el Gateway responde 401 si es falso, y cada servicio aplica el rol con 403. Lo hice así porque los puertos de la EC2 son alcanzables desde internet: si alguien se salta el Gateway, el servicio igual lo frena.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Decisiones: topic para eventos, direct para tareas y una DLQ por cola.
Elegí el exchange según el tipo de mensaje.
• Los eventos son hechos que interesan a varios, así que usé topic. Estadísticas se suscribe a reporte.* y recibe cualquier evento nuevo sin tocar el productor. Descarté fanout porque obliga a todos a recibir todo.
• Las tareas son órdenes para un solo responsable, así que usé direct, en un exchange aparte.
Cada cola tiene su propia DLQ, para saber qué servicio falló. Y los nombres salen del application.yml, porque una routing key mal escrita pierde el mensaje en silencio.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Decisión: publicar después del commit, con confirmación.
El evento se publica recién después del commit: si lo publicara antes y el guardado fallara, los demás recibirían un reporte que no existe. Uso publisher confirms para saber que RabbitMQ lo recibió, y mandatory para que me devuelva lo que no calce con ninguna cola. La limitación: si el broker está caído justo después del commit, el evento queda en el log; la mejora sería el patrón *outbox*.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Decisiones: ACK manual, clasificar errores, nunca reencolar e idempotencia.
En los consumidores:
• ACK manual, después de guardar: si el servicio se cae a mitad de camino, el mensaje se vuelve a entregar.
• Dos tipos de error: un JSON inválido nunca se arregla reintentando y va directo a la DLQ; una base caída sí, así que reintento tres veces.
• Nunca reencolar, porque un mensaje que siempre falla crearía un bucle infinito. Al final va a la DLQ con el header x-death.
• Idempotencia: un mensaje puede llegar dos veces, así que cada consumidor guarda su id. Un reporte nunca genera dos tickets.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Decisiones: colas quorum y por qué 2 nodos aquí y 3 en producción.
El clúster evita que el broker sea un punto único de falla. Usé colas quorum porque replican cada mensaje en los dos nodos, y son el tipo recomendado en RabbitMQ 4, que eliminó las colas espejadas. La limitación: una cola quorum necesita mayoría. Con dos nodos, si cae uno, las colas se detienen sin perder datos. La pauta pide dos; en producción usaría tres, en máquinas distintas, porque si cae uno, los otros dos siguen siendo mayoría.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
Decisiones: servicio aparte y validación estricta.
La administración del broker está en un microservicio aparte: es una responsabilidad delicada, así que queda aislada y solo para ADMIN, y el backend no expone nada que pueda borrar una cola. Valido los nombres —ni vacíos ni con el prefijo reservado amq.— y registro cada operación con el correo del usuario.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15 s)
1. API Gateway: rutas, authorizer entra-jwt y CORS.
2. Entra ID: usuarios del tenant y App Roles.
3. JWT: /api/tickets sin token → 401; fetch con token inventado → 401; encargado1 en Tickets con la pestaña Red → 200 vía execute-api con Authorization: Bearer; usuario1 → 403.
4. Flujo: crear reporte (logs PUBLISH, ACK), pasar a revisión (TICKET), resolver, estadísticas.
5. Falla: {esto no es json en ecopunto.tareas → DLQ con x-death; docker stop/start ecopunto-ms-tickets.
6. Clúster: docker compose ps, nodos, colas quorum con DLQ, exchanges topic y direct.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En resumen: hice asíncrono solo lo que no necesita respuesta inmediata; elegí topic para hechos y direct para tareas; publico después del commit y con confirmación; confirmo los mensajes solo después de procesarlos, sin bucles y sin duplicados; y repliqué el broker en un clúster, sabiendo que en producción usaría tres nodos. Gracias, quedo atento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LARA">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UAVE">
    <p:bg>
      <p:bgPr>
        <a:solidFill>
          <a:srgbClr val="E8F5EE"/>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SCURA">
    <p:bg>
      <p:bgPr>
        <a:solidFill>
          <a:srgbClr val="1434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1097280"/>
            <a:ext cx="1005840" cy="1005840"/>
          </a:xfrm>
          <a:prstGeom prst="ellipse">
            <a:avLst/>
          </a:prstGeom>
          <a:solidFill>
            <a:srgbClr val="52B788"/>
          </a:solidFill>
          <a:ln w="12700">
            <a:solidFill>
              <a:srgbClr val="52B788"/>
            </a:solidFill>
            <a:prstDash val="solid"/>
          </a:ln>
        </p:spPr>
      </p:sp>
      <p:pic>
        <p:nvPicPr>
          <p:cNvPr id="3" name="Image 0" descr="preencoded.png">    </p:cNvPr>
          <p:cNvPicPr>
            <a:picLocks noChangeAspect="1"/>
          </p:cNvPicPr>
          <p:nvPr/>
        </p:nvPicPr>
        <p:blipFill>
          <a:blip r:embed="rId1"/>
          <a:stretch>
            <a:fillRect/>
          </a:stretch>
        </p:blipFill>
        <p:spPr>
          <a:xfrm>
            <a:off x="790042" y="1338682"/>
            <a:ext cx="523037" cy="523037"/>
          </a:xfrm>
          <a:prstGeom prst="rect">
            <a:avLst/>
          </a:prstGeom>
        </p:spPr>
      </p:pic>
      <p:sp>
        <p:nvSpPr>
          <p:cNvPr id="4" name="Text 1"/>
          <p:cNvSpPr txBox="1"/>
          <p:nvPr/>
        </p:nvSpPr>
        <p:spPr>
          <a:xfrm>
            <a:off x="1783080" y="1051560"/>
            <a:ext cx="6858000" cy="82296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EcoPunto</a:t>
            </a:r>
            <a:endParaRPr lang="en-US" sz="4800" dirty="0"/>
          </a:p>
        </p:txBody>
      </p:sp>
      <p:sp>
        <p:nvSpPr>
          <p:cNvPr id="5" name="Text 2"/>
          <p:cNvSpPr txBox="1"/>
          <p:nvPr/>
        </p:nvSpPr>
        <p:spPr>
          <a:xfrm>
            <a:off x="1783080" y="1874520"/>
            <a:ext cx="6858000" cy="731520"/>
          </a:xfrm>
          <a:prstGeom prst="rect">
            <a:avLst/>
          </a:prstGeom>
          <a:noFill/>
          <a:ln/>
        </p:spPr>
        <p:txBody>
          <a:bodyPr wrap="square" lIns="0" tIns="0" rIns="0" bIns="0" rtlCol="0" anchor="t"/>
          <a:lstStyle/>
          <a:p>
            <a:pPr indent="0" marL="0">
              <a:buNone/>
            </a:pPr>
            <a:r>
              <a:rPr lang="en-US" sz="1800" dirty="0">
                <a:solidFill>
                  <a:srgbClr val="E8F5EE"/>
                </a:solidFill>
                <a:latin typeface="Calibri" pitchFamily="34" charset="0"/>
                <a:ea typeface="Calibri" pitchFamily="34" charset="-122"/>
                <a:cs typeface="Calibri" pitchFamily="34" charset="-120"/>
              </a:rPr>
              <a:t>Mensajería asíncrona con RabbitMQ: clúster de 2 nodos, colas con DLQ y microservicios en AWS</a:t>
            </a:r>
            <a:endParaRPr lang="en-US" sz="1800" dirty="0"/>
          </a:p>
        </p:txBody>
      </p:sp>
      <p:sp>
        <p:nvSpPr>
          <p:cNvPr id="6" name="Text 3"/>
          <p:cNvSpPr txBox="1"/>
          <p:nvPr/>
        </p:nvSpPr>
        <p:spPr>
          <a:xfrm>
            <a:off x="548640" y="3566160"/>
            <a:ext cx="8046720" cy="914400"/>
          </a:xfrm>
          <a:prstGeom prst="rect">
            <a:avLst/>
          </a:prstGeom>
          <a:noFill/>
          <a:ln/>
        </p:spPr>
        <p:txBody>
          <a:bodyPr wrap="square" lIns="0" tIns="0" rIns="0" bIns="0" rtlCol="0" anchor="t"/>
          <a:lstStyle/>
          <a:p>
            <a:pPr indent="0" marL="0">
              <a:buNone/>
            </a:pPr>
            <a:r>
              <a:rPr lang="en-US" sz="1400" b="1" dirty="0">
                <a:solidFill>
                  <a:srgbClr val="52B788"/>
                </a:solidFill>
                <a:latin typeface="Calibri" pitchFamily="34" charset="0"/>
                <a:ea typeface="Calibri" pitchFamily="34" charset="-122"/>
                <a:cs typeface="Calibri" pitchFamily="34" charset="-120"/>
              </a:rPr>
              <a:t>Jonathan Larraguibel</a:t>
            </a:r>
            <a:endParaRPr lang="en-US" sz="1400" dirty="0"/>
          </a:p>
          <a:p>
            <a:pPr indent="0" marL="0">
              <a:buNone/>
            </a:pPr>
            <a:r>
              <a:rPr lang="en-US" sz="1400" dirty="0">
                <a:solidFill>
                  <a:srgbClr val="52B788"/>
                </a:solidFill>
                <a:latin typeface="Calibri" pitchFamily="34" charset="0"/>
                <a:ea typeface="Calibri" pitchFamily="34" charset="-122"/>
                <a:cs typeface="Calibri" pitchFamily="34" charset="-120"/>
              </a:rPr>
              <a:t>DSY1107 · Desarrollo Cloud Native I · Sección 002D</a:t>
            </a:r>
            <a:endParaRPr lang="en-US" sz="1400" dirty="0"/>
          </a:p>
          <a:p>
            <a:pPr indent="0" marL="0">
              <a:buNone/>
            </a:pPr>
            <a:r>
              <a:rPr lang="en-US" sz="1400" dirty="0">
                <a:solidFill>
                  <a:srgbClr val="52B788"/>
                </a:solidFill>
                <a:latin typeface="Calibri" pitchFamily="34" charset="0"/>
                <a:ea typeface="Calibri" pitchFamily="34" charset="-122"/>
                <a:cs typeface="Calibri" pitchFamily="34" charset="-120"/>
              </a:rPr>
              <a:t>Evaluación Parcial 4</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ítulo"/>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14342B"/>
                </a:solidFill>
                <a:latin typeface="Calibri" pitchFamily="34" charset="0"/>
                <a:ea typeface="Calibri" pitchFamily="34" charset="-122"/>
                <a:cs typeface="Calibri" pitchFamily="34" charset="-120"/>
              </a:rPr>
              <a:t>Qué agregamos en esta etapa</a:t>
            </a:r>
            <a:endParaRPr lang="en-US" sz="3000" dirty="0"/>
          </a:p>
        </p:txBody>
      </p:sp>
      <p:sp>
        <p:nvSpPr>
          <p:cNvPr id="3" name="Shape 1"/>
          <p:cNvSpPr/>
          <p:nvPr/>
        </p:nvSpPr>
        <p:spPr>
          <a:xfrm>
            <a:off x="457200" y="1234440"/>
            <a:ext cx="2560320" cy="3200400"/>
          </a:xfrm>
          <a:prstGeom prst="roundRect">
            <a:avLst>
              <a:gd name="adj" fmla="val 4286"/>
            </a:avLst>
          </a:prstGeom>
          <a:solidFill>
            <a:srgbClr val="E8F5EE"/>
          </a:solidFill>
          <a:ln w="12700">
            <a:solidFill>
              <a:srgbClr val="E8F5EE"/>
            </a:solidFill>
            <a:prstDash val="solid"/>
          </a:ln>
        </p:spPr>
      </p:sp>
      <p:sp>
        <p:nvSpPr>
          <p:cNvPr id="4" name="Shape 2"/>
          <p:cNvSpPr/>
          <p:nvPr/>
        </p:nvSpPr>
        <p:spPr>
          <a:xfrm>
            <a:off x="731520" y="1508760"/>
            <a:ext cx="731520" cy="731520"/>
          </a:xfrm>
          <a:prstGeom prst="ellipse">
            <a:avLst/>
          </a:prstGeom>
          <a:solidFill>
            <a:srgbClr val="2D6A4F"/>
          </a:solidFill>
          <a:ln w="12700">
            <a:solidFill>
              <a:srgbClr val="2D6A4F"/>
            </a:solidFill>
            <a:prstDash val="solid"/>
          </a:ln>
        </p:spPr>
      </p:sp>
      <p:pic>
        <p:nvPicPr>
          <p:cNvPr id="5" name="Image 0" descr="preencoded.png">    </p:cNvPr>
          <p:cNvPicPr>
            <a:picLocks noChangeAspect="1"/>
          </p:cNvPicPr>
          <p:nvPr/>
        </p:nvPicPr>
        <p:blipFill>
          <a:blip r:embed="rId1"/>
          <a:stretch>
            <a:fillRect/>
          </a:stretch>
        </p:blipFill>
        <p:spPr>
          <a:xfrm>
            <a:off x="907085" y="1684325"/>
            <a:ext cx="380390" cy="380390"/>
          </a:xfrm>
          <a:prstGeom prst="rect">
            <a:avLst/>
          </a:prstGeom>
        </p:spPr>
      </p:pic>
      <p:sp>
        <p:nvSpPr>
          <p:cNvPr id="6" name="Text 3"/>
          <p:cNvSpPr txBox="1"/>
          <p:nvPr/>
        </p:nvSpPr>
        <p:spPr>
          <a:xfrm>
            <a:off x="731520" y="2423160"/>
            <a:ext cx="2103120" cy="640080"/>
          </a:xfrm>
          <a:prstGeom prst="rect">
            <a:avLst/>
          </a:prstGeom>
          <a:noFill/>
          <a:ln/>
        </p:spPr>
        <p:txBody>
          <a:bodyPr wrap="square" lIns="0" tIns="0" rIns="0" bIns="0" rtlCol="0" anchor="t"/>
          <a:lstStyle/>
          <a:p>
            <a:pPr indent="0" marL="0">
              <a:buNone/>
            </a:pPr>
            <a:r>
              <a:rPr lang="en-US" sz="1700" b="1" dirty="0">
                <a:solidFill>
                  <a:srgbClr val="14342B"/>
                </a:solidFill>
                <a:latin typeface="Calibri" pitchFamily="34" charset="0"/>
                <a:ea typeface="Calibri" pitchFamily="34" charset="-122"/>
                <a:cs typeface="Calibri" pitchFamily="34" charset="-120"/>
              </a:rPr>
              <a:t>Eventos de reportes</a:t>
            </a:r>
            <a:endParaRPr lang="en-US" sz="1700" dirty="0"/>
          </a:p>
        </p:txBody>
      </p:sp>
      <p:sp>
        <p:nvSpPr>
          <p:cNvPr id="7" name="Text 4"/>
          <p:cNvSpPr txBox="1"/>
          <p:nvPr/>
        </p:nvSpPr>
        <p:spPr>
          <a:xfrm>
            <a:off x="731520" y="3108960"/>
            <a:ext cx="2057400" cy="1234440"/>
          </a:xfrm>
          <a:prstGeom prst="rect">
            <a:avLst/>
          </a:prstGeom>
          <a:noFill/>
          <a:ln/>
        </p:spPr>
        <p:txBody>
          <a:bodyPr wrap="square" lIns="0" tIns="0" rIns="0" bIns="0" rtlCol="0" anchor="t"/>
          <a:lstStyle/>
          <a:p>
            <a:pPr indent="0" marL="0">
              <a:buNone/>
            </a:pPr>
            <a:r>
              <a:rPr lang="en-US" sz="1300" dirty="0">
                <a:solidFill>
                  <a:srgbClr val="1F2A24"/>
                </a:solidFill>
                <a:latin typeface="Calibri" pitchFamily="34" charset="0"/>
                <a:ea typeface="Calibri" pitchFamily="34" charset="-122"/>
                <a:cs typeface="Calibri" pitchFamily="34" charset="-120"/>
              </a:rPr>
              <a:t>Cada cambio en un reporte se publica en un exchange topic; notificaciones y estadísticas lo procesan por su cuenta.</a:t>
            </a:r>
            <a:endParaRPr lang="en-US" sz="1300" dirty="0"/>
          </a:p>
        </p:txBody>
      </p:sp>
      <p:sp>
        <p:nvSpPr>
          <p:cNvPr id="8" name="Shape 5"/>
          <p:cNvSpPr/>
          <p:nvPr/>
        </p:nvSpPr>
        <p:spPr>
          <a:xfrm>
            <a:off x="3246120" y="1234440"/>
            <a:ext cx="2560320" cy="3200400"/>
          </a:xfrm>
          <a:prstGeom prst="roundRect">
            <a:avLst>
              <a:gd name="adj" fmla="val 4286"/>
            </a:avLst>
          </a:prstGeom>
          <a:solidFill>
            <a:srgbClr val="E8F5EE"/>
          </a:solidFill>
          <a:ln w="12700">
            <a:solidFill>
              <a:srgbClr val="E8F5EE"/>
            </a:solidFill>
            <a:prstDash val="solid"/>
          </a:ln>
        </p:spPr>
      </p:sp>
      <p:sp>
        <p:nvSpPr>
          <p:cNvPr id="9" name="Shape 6"/>
          <p:cNvSpPr/>
          <p:nvPr/>
        </p:nvSpPr>
        <p:spPr>
          <a:xfrm>
            <a:off x="3520440" y="1508760"/>
            <a:ext cx="731520" cy="731520"/>
          </a:xfrm>
          <a:prstGeom prst="ellipse">
            <a:avLst/>
          </a:prstGeom>
          <a:solidFill>
            <a:srgbClr val="2D6A4F"/>
          </a:solidFill>
          <a:ln w="12700">
            <a:solidFill>
              <a:srgbClr val="2D6A4F"/>
            </a:solidFill>
            <a:prstDash val="solid"/>
          </a:ln>
        </p:spPr>
      </p:sp>
      <p:pic>
        <p:nvPicPr>
          <p:cNvPr id="10" name="Image 1" descr="preencoded.png">    </p:cNvPr>
          <p:cNvPicPr>
            <a:picLocks noChangeAspect="1"/>
          </p:cNvPicPr>
          <p:nvPr/>
        </p:nvPicPr>
        <p:blipFill>
          <a:blip r:embed="rId2"/>
          <a:stretch>
            <a:fillRect/>
          </a:stretch>
        </p:blipFill>
        <p:spPr>
          <a:xfrm>
            <a:off x="3696005" y="1684325"/>
            <a:ext cx="380390" cy="380390"/>
          </a:xfrm>
          <a:prstGeom prst="rect">
            <a:avLst/>
          </a:prstGeom>
        </p:spPr>
      </p:pic>
      <p:sp>
        <p:nvSpPr>
          <p:cNvPr id="11" name="Text 7"/>
          <p:cNvSpPr txBox="1"/>
          <p:nvPr/>
        </p:nvSpPr>
        <p:spPr>
          <a:xfrm>
            <a:off x="3520440" y="2423160"/>
            <a:ext cx="2103120" cy="640080"/>
          </a:xfrm>
          <a:prstGeom prst="rect">
            <a:avLst/>
          </a:prstGeom>
          <a:noFill/>
          <a:ln/>
        </p:spPr>
        <p:txBody>
          <a:bodyPr wrap="square" lIns="0" tIns="0" rIns="0" bIns="0" rtlCol="0" anchor="t"/>
          <a:lstStyle/>
          <a:p>
            <a:pPr indent="0" marL="0">
              <a:buNone/>
            </a:pPr>
            <a:r>
              <a:rPr lang="en-US" sz="1700" b="1" dirty="0">
                <a:solidFill>
                  <a:srgbClr val="14342B"/>
                </a:solidFill>
                <a:latin typeface="Calibri" pitchFamily="34" charset="0"/>
                <a:ea typeface="Calibri" pitchFamily="34" charset="-122"/>
                <a:cs typeface="Calibri" pitchFamily="34" charset="-120"/>
              </a:rPr>
              <a:t>Tickets de mantención</a:t>
            </a:r>
            <a:endParaRPr lang="en-US" sz="1700" dirty="0"/>
          </a:p>
        </p:txBody>
      </p:sp>
      <p:sp>
        <p:nvSpPr>
          <p:cNvPr id="12" name="Text 8"/>
          <p:cNvSpPr txBox="1"/>
          <p:nvPr/>
        </p:nvSpPr>
        <p:spPr>
          <a:xfrm>
            <a:off x="3520440" y="3108960"/>
            <a:ext cx="2057400" cy="1234440"/>
          </a:xfrm>
          <a:prstGeom prst="rect">
            <a:avLst/>
          </a:prstGeom>
          <a:noFill/>
          <a:ln/>
        </p:spPr>
        <p:txBody>
          <a:bodyPr wrap="square" lIns="0" tIns="0" rIns="0" bIns="0" rtlCol="0" anchor="t"/>
          <a:lstStyle/>
          <a:p>
            <a:pPr indent="0" marL="0">
              <a:buNone/>
            </a:pPr>
            <a:r>
              <a:rPr lang="en-US" sz="1300" dirty="0">
                <a:solidFill>
                  <a:srgbClr val="1F2A24"/>
                </a:solidFill>
                <a:latin typeface="Calibri" pitchFamily="34" charset="0"/>
                <a:ea typeface="Calibri" pitchFamily="34" charset="-122"/>
                <a:cs typeface="Calibri" pitchFamily="34" charset="-120"/>
              </a:rPr>
              <a:t>Al pasar un reporte a revisión se envía una tarea por un exchange direct y ms-tickets genera el ticket.</a:t>
            </a:r>
            <a:endParaRPr lang="en-US" sz="1300" dirty="0"/>
          </a:p>
        </p:txBody>
      </p:sp>
      <p:sp>
        <p:nvSpPr>
          <p:cNvPr id="13" name="Shape 9"/>
          <p:cNvSpPr/>
          <p:nvPr/>
        </p:nvSpPr>
        <p:spPr>
          <a:xfrm>
            <a:off x="6035040" y="1234440"/>
            <a:ext cx="2560320" cy="3200400"/>
          </a:xfrm>
          <a:prstGeom prst="roundRect">
            <a:avLst>
              <a:gd name="adj" fmla="val 4286"/>
            </a:avLst>
          </a:prstGeom>
          <a:solidFill>
            <a:srgbClr val="E8F5EE"/>
          </a:solidFill>
          <a:ln w="12700">
            <a:solidFill>
              <a:srgbClr val="E8F5EE"/>
            </a:solidFill>
            <a:prstDash val="solid"/>
          </a:ln>
        </p:spPr>
      </p:sp>
      <p:sp>
        <p:nvSpPr>
          <p:cNvPr id="14" name="Shape 10"/>
          <p:cNvSpPr/>
          <p:nvPr/>
        </p:nvSpPr>
        <p:spPr>
          <a:xfrm>
            <a:off x="6309360" y="1508760"/>
            <a:ext cx="731520" cy="731520"/>
          </a:xfrm>
          <a:prstGeom prst="ellipse">
            <a:avLst/>
          </a:prstGeom>
          <a:solidFill>
            <a:srgbClr val="2D6A4F"/>
          </a:solidFill>
          <a:ln w="12700">
            <a:solidFill>
              <a:srgbClr val="2D6A4F"/>
            </a:solidFill>
            <a:prstDash val="solid"/>
          </a:ln>
        </p:spPr>
      </p:sp>
      <p:pic>
        <p:nvPicPr>
          <p:cNvPr id="15" name="Image 2" descr="preencoded.png">    </p:cNvPr>
          <p:cNvPicPr>
            <a:picLocks noChangeAspect="1"/>
          </p:cNvPicPr>
          <p:nvPr/>
        </p:nvPicPr>
        <p:blipFill>
          <a:blip r:embed="rId3"/>
          <a:stretch>
            <a:fillRect/>
          </a:stretch>
        </p:blipFill>
        <p:spPr>
          <a:xfrm>
            <a:off x="6484925" y="1684325"/>
            <a:ext cx="380390" cy="380390"/>
          </a:xfrm>
          <a:prstGeom prst="rect">
            <a:avLst/>
          </a:prstGeom>
        </p:spPr>
      </p:pic>
      <p:sp>
        <p:nvSpPr>
          <p:cNvPr id="16" name="Text 11"/>
          <p:cNvSpPr txBox="1"/>
          <p:nvPr/>
        </p:nvSpPr>
        <p:spPr>
          <a:xfrm>
            <a:off x="6309360" y="2423160"/>
            <a:ext cx="2103120" cy="640080"/>
          </a:xfrm>
          <a:prstGeom prst="rect">
            <a:avLst/>
          </a:prstGeom>
          <a:noFill/>
          <a:ln/>
        </p:spPr>
        <p:txBody>
          <a:bodyPr wrap="square" lIns="0" tIns="0" rIns="0" bIns="0" rtlCol="0" anchor="t"/>
          <a:lstStyle/>
          <a:p>
            <a:pPr indent="0" marL="0">
              <a:buNone/>
            </a:pPr>
            <a:r>
              <a:rPr lang="en-US" sz="1700" b="1" dirty="0">
                <a:solidFill>
                  <a:srgbClr val="14342B"/>
                </a:solidFill>
                <a:latin typeface="Calibri" pitchFamily="34" charset="0"/>
                <a:ea typeface="Calibri" pitchFamily="34" charset="-122"/>
                <a:cs typeface="Calibri" pitchFamily="34" charset="-120"/>
              </a:rPr>
              <a:t>Administrar RabbitMQ</a:t>
            </a:r>
            <a:endParaRPr lang="en-US" sz="1700" dirty="0"/>
          </a:p>
        </p:txBody>
      </p:sp>
      <p:sp>
        <p:nvSpPr>
          <p:cNvPr id="17" name="Text 12"/>
          <p:cNvSpPr txBox="1"/>
          <p:nvPr/>
        </p:nvSpPr>
        <p:spPr>
          <a:xfrm>
            <a:off x="6309360" y="3108960"/>
            <a:ext cx="2057400" cy="1234440"/>
          </a:xfrm>
          <a:prstGeom prst="rect">
            <a:avLst/>
          </a:prstGeom>
          <a:noFill/>
          <a:ln/>
        </p:spPr>
        <p:txBody>
          <a:bodyPr wrap="square" lIns="0" tIns="0" rIns="0" bIns="0" rtlCol="0" anchor="t"/>
          <a:lstStyle/>
          <a:p>
            <a:pPr indent="0" marL="0">
              <a:buNone/>
            </a:pPr>
            <a:r>
              <a:rPr lang="en-US" sz="1300" dirty="0">
                <a:solidFill>
                  <a:srgbClr val="1F2A24"/>
                </a:solidFill>
                <a:latin typeface="Calibri" pitchFamily="34" charset="0"/>
                <a:ea typeface="Calibri" pitchFamily="34" charset="-122"/>
                <a:cs typeface="Calibri" pitchFamily="34" charset="-120"/>
              </a:rPr>
              <a:t>Un microservicio y una página, solo para el rol ADMIN, crean y eliminan colas, exchanges y bindings.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ítulo"/>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14342B"/>
                </a:solidFill>
                <a:latin typeface="Calibri" pitchFamily="34" charset="0"/>
                <a:ea typeface="Calibri" pitchFamily="34" charset="-122"/>
                <a:cs typeface="Calibri" pitchFamily="34" charset="-120"/>
              </a:rPr>
              <a:t>Arquitectura y despliegue en AWS</a:t>
            </a:r>
            <a:endParaRPr lang="en-US" sz="3000" dirty="0"/>
          </a:p>
        </p:txBody>
      </p:sp>
      <p:sp>
        <p:nvSpPr>
          <p:cNvPr id="3" name="Shape 1"/>
          <p:cNvSpPr/>
          <p:nvPr/>
        </p:nvSpPr>
        <p:spPr>
          <a:xfrm>
            <a:off x="320040" y="1097280"/>
            <a:ext cx="1371600" cy="868680"/>
          </a:xfrm>
          <a:prstGeom prst="roundRect">
            <a:avLst>
              <a:gd name="adj" fmla="val 12632"/>
            </a:avLst>
          </a:prstGeom>
          <a:solidFill>
            <a:srgbClr val="FFFFFF"/>
          </a:solidFill>
          <a:ln w="12700">
            <a:solidFill>
              <a:srgbClr val="D5E8DD"/>
            </a:solidFill>
            <a:prstDash val="solid"/>
          </a:ln>
        </p:spPr>
      </p:sp>
      <p:sp>
        <p:nvSpPr>
          <p:cNvPr id="4" name="Shape 2"/>
          <p:cNvSpPr/>
          <p:nvPr/>
        </p:nvSpPr>
        <p:spPr>
          <a:xfrm>
            <a:off x="411480" y="1207008"/>
            <a:ext cx="365760" cy="365760"/>
          </a:xfrm>
          <a:prstGeom prst="ellipse">
            <a:avLst/>
          </a:prstGeom>
          <a:solidFill>
            <a:srgbClr val="2D6A4F"/>
          </a:solidFill>
          <a:ln w="12700">
            <a:solidFill>
              <a:srgbClr val="2D6A4F"/>
            </a:solidFill>
            <a:prstDash val="solid"/>
          </a:ln>
        </p:spPr>
      </p:sp>
      <p:pic>
        <p:nvPicPr>
          <p:cNvPr id="5" name="Image 0" descr="preencoded.png">    </p:cNvPr>
          <p:cNvPicPr>
            <a:picLocks noChangeAspect="1"/>
          </p:cNvPicPr>
          <p:nvPr/>
        </p:nvPicPr>
        <p:blipFill>
          <a:blip r:embed="rId1"/>
          <a:stretch>
            <a:fillRect/>
          </a:stretch>
        </p:blipFill>
        <p:spPr>
          <a:xfrm>
            <a:off x="499262" y="1294790"/>
            <a:ext cx="190195" cy="190195"/>
          </a:xfrm>
          <a:prstGeom prst="rect">
            <a:avLst/>
          </a:prstGeom>
        </p:spPr>
      </p:pic>
      <p:sp>
        <p:nvSpPr>
          <p:cNvPr id="6" name="Text 3"/>
          <p:cNvSpPr txBox="1"/>
          <p:nvPr/>
        </p:nvSpPr>
        <p:spPr>
          <a:xfrm>
            <a:off x="850392" y="1188720"/>
            <a:ext cx="768096" cy="274320"/>
          </a:xfrm>
          <a:prstGeom prst="rect">
            <a:avLst/>
          </a:prstGeom>
          <a:noFill/>
          <a:ln/>
        </p:spPr>
        <p:txBody>
          <a:bodyPr wrap="square" lIns="0" tIns="0" rIns="0" bIns="0" rtlCol="0" anchor="ctr"/>
          <a:lstStyle/>
          <a:p>
            <a:pPr indent="0" marL="0">
              <a:buNone/>
            </a:pPr>
            <a:r>
              <a:rPr lang="en-US" sz="1150" b="1" dirty="0">
                <a:solidFill>
                  <a:srgbClr val="14342B"/>
                </a:solidFill>
                <a:latin typeface="Calibri" pitchFamily="34" charset="0"/>
                <a:ea typeface="Calibri" pitchFamily="34" charset="-122"/>
                <a:cs typeface="Calibri" pitchFamily="34" charset="-120"/>
              </a:rPr>
              <a:t>Usuario</a:t>
            </a:r>
            <a:endParaRPr lang="en-US" sz="1150" dirty="0"/>
          </a:p>
        </p:txBody>
      </p:sp>
      <p:sp>
        <p:nvSpPr>
          <p:cNvPr id="7" name="Text 4"/>
          <p:cNvSpPr txBox="1"/>
          <p:nvPr/>
        </p:nvSpPr>
        <p:spPr>
          <a:xfrm>
            <a:off x="429768" y="1627632"/>
            <a:ext cx="1170432" cy="283464"/>
          </a:xfrm>
          <a:prstGeom prst="rect">
            <a:avLst/>
          </a:prstGeom>
          <a:noFill/>
          <a:ln/>
        </p:spPr>
        <p:txBody>
          <a:bodyPr wrap="square" lIns="0" tIns="0" rIns="0" bIns="0" rtlCol="0" anchor="t"/>
          <a:lstStyle/>
          <a:p>
            <a:pPr indent="0" marL="0">
              <a:buNone/>
            </a:pPr>
            <a:r>
              <a:rPr lang="en-US" sz="950" dirty="0">
                <a:solidFill>
                  <a:srgbClr val="5C6B63"/>
                </a:solidFill>
                <a:latin typeface="Calibri" pitchFamily="34" charset="0"/>
                <a:ea typeface="Calibri" pitchFamily="34" charset="-122"/>
                <a:cs typeface="Calibri" pitchFamily="34" charset="-120"/>
              </a:rPr>
              <a:t>navegador web</a:t>
            </a:r>
            <a:endParaRPr lang="en-US" sz="950" dirty="0"/>
          </a:p>
        </p:txBody>
      </p:sp>
      <p:sp>
        <p:nvSpPr>
          <p:cNvPr id="8" name="Shape 5"/>
          <p:cNvSpPr/>
          <p:nvPr/>
        </p:nvSpPr>
        <p:spPr>
          <a:xfrm>
            <a:off x="320040" y="2194560"/>
            <a:ext cx="1371600" cy="1097280"/>
          </a:xfrm>
          <a:prstGeom prst="roundRect">
            <a:avLst>
              <a:gd name="adj" fmla="val 10000"/>
            </a:avLst>
          </a:prstGeom>
          <a:solidFill>
            <a:srgbClr val="14342B"/>
          </a:solidFill>
          <a:ln w="12700">
            <a:solidFill>
              <a:srgbClr val="14342B"/>
            </a:solidFill>
            <a:prstDash val="solid"/>
          </a:ln>
        </p:spPr>
      </p:sp>
      <p:sp>
        <p:nvSpPr>
          <p:cNvPr id="9" name="Shape 6"/>
          <p:cNvSpPr/>
          <p:nvPr/>
        </p:nvSpPr>
        <p:spPr>
          <a:xfrm>
            <a:off x="411480" y="2304288"/>
            <a:ext cx="365760" cy="365760"/>
          </a:xfrm>
          <a:prstGeom prst="ellipse">
            <a:avLst/>
          </a:prstGeom>
          <a:solidFill>
            <a:srgbClr val="52B788"/>
          </a:solidFill>
          <a:ln w="12700">
            <a:solidFill>
              <a:srgbClr val="52B788"/>
            </a:solidFill>
            <a:prstDash val="solid"/>
          </a:ln>
        </p:spPr>
      </p:sp>
      <p:pic>
        <p:nvPicPr>
          <p:cNvPr id="10" name="Image 1" descr="preencoded.png">    </p:cNvPr>
          <p:cNvPicPr>
            <a:picLocks noChangeAspect="1"/>
          </p:cNvPicPr>
          <p:nvPr/>
        </p:nvPicPr>
        <p:blipFill>
          <a:blip r:embed="rId2"/>
          <a:stretch>
            <a:fillRect/>
          </a:stretch>
        </p:blipFill>
        <p:spPr>
          <a:xfrm>
            <a:off x="499262" y="2392070"/>
            <a:ext cx="190195" cy="190195"/>
          </a:xfrm>
          <a:prstGeom prst="rect">
            <a:avLst/>
          </a:prstGeom>
        </p:spPr>
      </p:pic>
      <p:sp>
        <p:nvSpPr>
          <p:cNvPr id="11" name="Text 7"/>
          <p:cNvSpPr txBox="1"/>
          <p:nvPr/>
        </p:nvSpPr>
        <p:spPr>
          <a:xfrm>
            <a:off x="850392" y="2286000"/>
            <a:ext cx="768096" cy="2743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Entra ID</a:t>
            </a:r>
            <a:endParaRPr lang="en-US" sz="1150" dirty="0"/>
          </a:p>
        </p:txBody>
      </p:sp>
      <p:sp>
        <p:nvSpPr>
          <p:cNvPr id="12" name="Text 8"/>
          <p:cNvSpPr txBox="1"/>
          <p:nvPr/>
        </p:nvSpPr>
        <p:spPr>
          <a:xfrm>
            <a:off x="429768" y="2724912"/>
            <a:ext cx="1170432" cy="512064"/>
          </a:xfrm>
          <a:prstGeom prst="rect">
            <a:avLst/>
          </a:prstGeom>
          <a:noFill/>
          <a:ln/>
        </p:spPr>
        <p:txBody>
          <a:bodyPr wrap="square" lIns="0" tIns="0" rIns="0" bIns="0" rtlCol="0" anchor="t"/>
          <a:lstStyle/>
          <a:p>
            <a:pPr indent="0" marL="0">
              <a:buNone/>
            </a:pPr>
            <a:r>
              <a:rPr lang="en-US" sz="950" dirty="0">
                <a:solidFill>
                  <a:srgbClr val="E8F5EE"/>
                </a:solidFill>
                <a:latin typeface="Calibri" pitchFamily="34" charset="0"/>
                <a:ea typeface="Calibri" pitchFamily="34" charset="-122"/>
                <a:cs typeface="Calibri" pitchFamily="34" charset="-120"/>
              </a:rPr>
              <a:t>IDaaS · login OIDC + PKCE · roles ENCARGADO / ADMIN</a:t>
            </a:r>
            <a:endParaRPr lang="en-US" sz="950" dirty="0"/>
          </a:p>
        </p:txBody>
      </p:sp>
      <p:sp>
        <p:nvSpPr>
          <p:cNvPr id="13" name="Shape 9"/>
          <p:cNvSpPr/>
          <p:nvPr/>
        </p:nvSpPr>
        <p:spPr>
          <a:xfrm>
            <a:off x="320040" y="3520440"/>
            <a:ext cx="1371600" cy="1005840"/>
          </a:xfrm>
          <a:prstGeom prst="roundRect">
            <a:avLst>
              <a:gd name="adj" fmla="val 10909"/>
            </a:avLst>
          </a:prstGeom>
          <a:solidFill>
            <a:srgbClr val="FFFFFF"/>
          </a:solidFill>
          <a:ln w="12700">
            <a:solidFill>
              <a:srgbClr val="D5E8DD"/>
            </a:solidFill>
            <a:prstDash val="solid"/>
          </a:ln>
        </p:spPr>
      </p:sp>
      <p:sp>
        <p:nvSpPr>
          <p:cNvPr id="14" name="Shape 10"/>
          <p:cNvSpPr/>
          <p:nvPr/>
        </p:nvSpPr>
        <p:spPr>
          <a:xfrm>
            <a:off x="411480" y="3630168"/>
            <a:ext cx="365760" cy="365760"/>
          </a:xfrm>
          <a:prstGeom prst="ellipse">
            <a:avLst/>
          </a:prstGeom>
          <a:solidFill>
            <a:srgbClr val="2D6A4F"/>
          </a:solidFill>
          <a:ln w="12700">
            <a:solidFill>
              <a:srgbClr val="2D6A4F"/>
            </a:solidFill>
            <a:prstDash val="solid"/>
          </a:ln>
        </p:spPr>
      </p:sp>
      <p:pic>
        <p:nvPicPr>
          <p:cNvPr id="15" name="Image 2" descr="preencoded.png">    </p:cNvPr>
          <p:cNvPicPr>
            <a:picLocks noChangeAspect="1"/>
          </p:cNvPicPr>
          <p:nvPr/>
        </p:nvPicPr>
        <p:blipFill>
          <a:blip r:embed="rId3"/>
          <a:stretch>
            <a:fillRect/>
          </a:stretch>
        </p:blipFill>
        <p:spPr>
          <a:xfrm>
            <a:off x="499262" y="3717950"/>
            <a:ext cx="190195" cy="190195"/>
          </a:xfrm>
          <a:prstGeom prst="rect">
            <a:avLst/>
          </a:prstGeom>
        </p:spPr>
      </p:pic>
      <p:sp>
        <p:nvSpPr>
          <p:cNvPr id="16" name="Text 11"/>
          <p:cNvSpPr txBox="1"/>
          <p:nvPr/>
        </p:nvSpPr>
        <p:spPr>
          <a:xfrm>
            <a:off x="850392" y="3611880"/>
            <a:ext cx="768096" cy="274320"/>
          </a:xfrm>
          <a:prstGeom prst="rect">
            <a:avLst/>
          </a:prstGeom>
          <a:noFill/>
          <a:ln/>
        </p:spPr>
        <p:txBody>
          <a:bodyPr wrap="square" lIns="0" tIns="0" rIns="0" bIns="0" rtlCol="0" anchor="ctr"/>
          <a:lstStyle/>
          <a:p>
            <a:pPr indent="0" marL="0">
              <a:buNone/>
            </a:pPr>
            <a:r>
              <a:rPr lang="en-US" sz="1150" b="1" dirty="0">
                <a:solidFill>
                  <a:srgbClr val="14342B"/>
                </a:solidFill>
                <a:latin typeface="Calibri" pitchFamily="34" charset="0"/>
                <a:ea typeface="Calibri" pitchFamily="34" charset="-122"/>
                <a:cs typeface="Calibri" pitchFamily="34" charset="-120"/>
              </a:rPr>
              <a:t>Cloudflare</a:t>
            </a:r>
            <a:endParaRPr lang="en-US" sz="1150" dirty="0"/>
          </a:p>
        </p:txBody>
      </p:sp>
      <p:sp>
        <p:nvSpPr>
          <p:cNvPr id="17" name="Text 12"/>
          <p:cNvSpPr txBox="1"/>
          <p:nvPr/>
        </p:nvSpPr>
        <p:spPr>
          <a:xfrm>
            <a:off x="429768" y="4050792"/>
            <a:ext cx="1170432" cy="420624"/>
          </a:xfrm>
          <a:prstGeom prst="rect">
            <a:avLst/>
          </a:prstGeom>
          <a:noFill/>
          <a:ln/>
        </p:spPr>
        <p:txBody>
          <a:bodyPr wrap="square" lIns="0" tIns="0" rIns="0" bIns="0" rtlCol="0" anchor="t"/>
          <a:lstStyle/>
          <a:p>
            <a:pPr indent="0" marL="0">
              <a:buNone/>
            </a:pPr>
            <a:r>
              <a:rPr lang="en-US" sz="950" dirty="0">
                <a:solidFill>
                  <a:srgbClr val="5C6B63"/>
                </a:solidFill>
                <a:latin typeface="Calibri" pitchFamily="34" charset="0"/>
                <a:ea typeface="Calibri" pitchFamily="34" charset="-122"/>
                <a:cs typeface="Calibri" pitchFamily="34" charset="-120"/>
              </a:rPr>
              <a:t>DNS: ecopunto y ecopunto-api → Elastic IP</a:t>
            </a:r>
            <a:endParaRPr lang="en-US" sz="950" dirty="0"/>
          </a:p>
        </p:txBody>
      </p:sp>
      <p:sp>
        <p:nvSpPr>
          <p:cNvPr id="18" name="Shape 13"/>
          <p:cNvSpPr/>
          <p:nvPr/>
        </p:nvSpPr>
        <p:spPr>
          <a:xfrm>
            <a:off x="1874520" y="1005840"/>
            <a:ext cx="6949440" cy="3611880"/>
          </a:xfrm>
          <a:prstGeom prst="roundRect">
            <a:avLst>
              <a:gd name="adj" fmla="val 2025"/>
            </a:avLst>
          </a:prstGeom>
          <a:solidFill>
            <a:srgbClr val="F7FBF9"/>
          </a:solidFill>
          <a:ln w="15875">
            <a:solidFill>
              <a:srgbClr val="2D6A4F"/>
            </a:solidFill>
            <a:prstDash val="solid"/>
          </a:ln>
        </p:spPr>
      </p:sp>
      <p:sp>
        <p:nvSpPr>
          <p:cNvPr id="19" name="Text 14"/>
          <p:cNvSpPr txBox="1"/>
          <p:nvPr/>
        </p:nvSpPr>
        <p:spPr>
          <a:xfrm>
            <a:off x="2011680" y="1051560"/>
            <a:ext cx="2743200" cy="228600"/>
          </a:xfrm>
          <a:prstGeom prst="rect">
            <a:avLst/>
          </a:prstGeom>
          <a:noFill/>
          <a:ln/>
        </p:spPr>
        <p:txBody>
          <a:bodyPr wrap="square" lIns="0" tIns="0" rIns="0" bIns="0" rtlCol="0" anchor="t"/>
          <a:lstStyle/>
          <a:p>
            <a:pPr indent="0" marL="0">
              <a:buNone/>
            </a:pPr>
            <a:r>
              <a:rPr lang="en-US" sz="1000" b="1" dirty="0">
                <a:solidFill>
                  <a:srgbClr val="2D6A4F"/>
                </a:solidFill>
                <a:latin typeface="Calibri" pitchFamily="34" charset="0"/>
                <a:ea typeface="Calibri" pitchFamily="34" charset="-122"/>
                <a:cs typeface="Calibri" pitchFamily="34" charset="-120"/>
              </a:rPr>
              <a:t>AWS · us-east-1</a:t>
            </a:r>
            <a:endParaRPr lang="en-US" sz="1000" dirty="0"/>
          </a:p>
        </p:txBody>
      </p:sp>
      <p:sp>
        <p:nvSpPr>
          <p:cNvPr id="20" name="Shape 15"/>
          <p:cNvSpPr/>
          <p:nvPr/>
        </p:nvSpPr>
        <p:spPr>
          <a:xfrm>
            <a:off x="2011680" y="1325880"/>
            <a:ext cx="1554480" cy="960120"/>
          </a:xfrm>
          <a:prstGeom prst="roundRect">
            <a:avLst>
              <a:gd name="adj" fmla="val 11429"/>
            </a:avLst>
          </a:prstGeom>
          <a:solidFill>
            <a:srgbClr val="FFFFFF"/>
          </a:solidFill>
          <a:ln w="12700">
            <a:solidFill>
              <a:srgbClr val="D5E8DD"/>
            </a:solidFill>
            <a:prstDash val="solid"/>
          </a:ln>
        </p:spPr>
      </p:sp>
      <p:sp>
        <p:nvSpPr>
          <p:cNvPr id="21" name="Shape 16"/>
          <p:cNvSpPr/>
          <p:nvPr/>
        </p:nvSpPr>
        <p:spPr>
          <a:xfrm>
            <a:off x="2103120" y="1435608"/>
            <a:ext cx="365760" cy="365760"/>
          </a:xfrm>
          <a:prstGeom prst="ellipse">
            <a:avLst/>
          </a:prstGeom>
          <a:solidFill>
            <a:srgbClr val="2D6A4F"/>
          </a:solidFill>
          <a:ln w="12700">
            <a:solidFill>
              <a:srgbClr val="2D6A4F"/>
            </a:solidFill>
            <a:prstDash val="solid"/>
          </a:ln>
        </p:spPr>
      </p:sp>
      <p:pic>
        <p:nvPicPr>
          <p:cNvPr id="22" name="Image 3" descr="preencoded.png">    </p:cNvPr>
          <p:cNvPicPr>
            <a:picLocks noChangeAspect="1"/>
          </p:cNvPicPr>
          <p:nvPr/>
        </p:nvPicPr>
        <p:blipFill>
          <a:blip r:embed="rId4"/>
          <a:stretch>
            <a:fillRect/>
          </a:stretch>
        </p:blipFill>
        <p:spPr>
          <a:xfrm>
            <a:off x="2190902" y="1523390"/>
            <a:ext cx="190195" cy="190195"/>
          </a:xfrm>
          <a:prstGeom prst="rect">
            <a:avLst/>
          </a:prstGeom>
        </p:spPr>
      </p:pic>
      <p:sp>
        <p:nvSpPr>
          <p:cNvPr id="23" name="Text 17"/>
          <p:cNvSpPr txBox="1"/>
          <p:nvPr/>
        </p:nvSpPr>
        <p:spPr>
          <a:xfrm>
            <a:off x="2542032" y="1417320"/>
            <a:ext cx="950976" cy="274320"/>
          </a:xfrm>
          <a:prstGeom prst="rect">
            <a:avLst/>
          </a:prstGeom>
          <a:noFill/>
          <a:ln/>
        </p:spPr>
        <p:txBody>
          <a:bodyPr wrap="square" lIns="0" tIns="0" rIns="0" bIns="0" rtlCol="0" anchor="ctr"/>
          <a:lstStyle/>
          <a:p>
            <a:pPr indent="0" marL="0">
              <a:buNone/>
            </a:pPr>
            <a:r>
              <a:rPr lang="en-US" sz="1150" b="1" dirty="0">
                <a:solidFill>
                  <a:srgbClr val="14342B"/>
                </a:solidFill>
                <a:latin typeface="Calibri" pitchFamily="34" charset="0"/>
                <a:ea typeface="Calibri" pitchFamily="34" charset="-122"/>
                <a:cs typeface="Calibri" pitchFamily="34" charset="-120"/>
              </a:rPr>
              <a:t>EC2 frontend</a:t>
            </a:r>
            <a:endParaRPr lang="en-US" sz="1150" dirty="0"/>
          </a:p>
        </p:txBody>
      </p:sp>
      <p:sp>
        <p:nvSpPr>
          <p:cNvPr id="24" name="Text 18"/>
          <p:cNvSpPr txBox="1"/>
          <p:nvPr/>
        </p:nvSpPr>
        <p:spPr>
          <a:xfrm>
            <a:off x="2121408" y="1856232"/>
            <a:ext cx="1353312" cy="374904"/>
          </a:xfrm>
          <a:prstGeom prst="rect">
            <a:avLst/>
          </a:prstGeom>
          <a:noFill/>
          <a:ln/>
        </p:spPr>
        <p:txBody>
          <a:bodyPr wrap="square" lIns="0" tIns="0" rIns="0" bIns="0" rtlCol="0" anchor="t"/>
          <a:lstStyle/>
          <a:p>
            <a:pPr indent="0" marL="0">
              <a:buNone/>
            </a:pPr>
            <a:r>
              <a:rPr lang="en-US" sz="950" dirty="0">
                <a:solidFill>
                  <a:srgbClr val="5C6B63"/>
                </a:solidFill>
                <a:latin typeface="Calibri" pitchFamily="34" charset="0"/>
                <a:ea typeface="Calibri" pitchFamily="34" charset="-122"/>
                <a:cs typeface="Calibri" pitchFamily="34" charset="-120"/>
              </a:rPr>
              <a:t>t3.micro · nginx + Angular · HTTPS Let's Encrypt</a:t>
            </a:r>
            <a:endParaRPr lang="en-US" sz="950" dirty="0"/>
          </a:p>
        </p:txBody>
      </p:sp>
      <p:sp>
        <p:nvSpPr>
          <p:cNvPr id="25" name="Shape 19"/>
          <p:cNvSpPr/>
          <p:nvPr/>
        </p:nvSpPr>
        <p:spPr>
          <a:xfrm>
            <a:off x="2011680" y="2606040"/>
            <a:ext cx="1554480" cy="1874520"/>
          </a:xfrm>
          <a:prstGeom prst="roundRect">
            <a:avLst>
              <a:gd name="adj" fmla="val 7059"/>
            </a:avLst>
          </a:prstGeom>
          <a:solidFill>
            <a:srgbClr val="FFFFFF"/>
          </a:solidFill>
          <a:ln w="12700">
            <a:solidFill>
              <a:srgbClr val="D5E8DD"/>
            </a:solidFill>
            <a:prstDash val="solid"/>
          </a:ln>
        </p:spPr>
      </p:sp>
      <p:sp>
        <p:nvSpPr>
          <p:cNvPr id="26" name="Shape 20"/>
          <p:cNvSpPr/>
          <p:nvPr/>
        </p:nvSpPr>
        <p:spPr>
          <a:xfrm>
            <a:off x="2103120" y="2715768"/>
            <a:ext cx="365760" cy="365760"/>
          </a:xfrm>
          <a:prstGeom prst="ellipse">
            <a:avLst/>
          </a:prstGeom>
          <a:solidFill>
            <a:srgbClr val="2D6A4F"/>
          </a:solidFill>
          <a:ln w="12700">
            <a:solidFill>
              <a:srgbClr val="2D6A4F"/>
            </a:solidFill>
            <a:prstDash val="solid"/>
          </a:ln>
        </p:spPr>
      </p:sp>
      <p:pic>
        <p:nvPicPr>
          <p:cNvPr id="27" name="Image 4" descr="preencoded.png">    </p:cNvPr>
          <p:cNvPicPr>
            <a:picLocks noChangeAspect="1"/>
          </p:cNvPicPr>
          <p:nvPr/>
        </p:nvPicPr>
        <p:blipFill>
          <a:blip r:embed="rId5"/>
          <a:stretch>
            <a:fillRect/>
          </a:stretch>
        </p:blipFill>
        <p:spPr>
          <a:xfrm>
            <a:off x="2190902" y="2803550"/>
            <a:ext cx="190195" cy="190195"/>
          </a:xfrm>
          <a:prstGeom prst="rect">
            <a:avLst/>
          </a:prstGeom>
        </p:spPr>
      </p:pic>
      <p:sp>
        <p:nvSpPr>
          <p:cNvPr id="28" name="Text 21"/>
          <p:cNvSpPr txBox="1"/>
          <p:nvPr/>
        </p:nvSpPr>
        <p:spPr>
          <a:xfrm>
            <a:off x="2542032" y="2697480"/>
            <a:ext cx="950976" cy="274320"/>
          </a:xfrm>
          <a:prstGeom prst="rect">
            <a:avLst/>
          </a:prstGeom>
          <a:noFill/>
          <a:ln/>
        </p:spPr>
        <p:txBody>
          <a:bodyPr wrap="square" lIns="0" tIns="0" rIns="0" bIns="0" rtlCol="0" anchor="ctr"/>
          <a:lstStyle/>
          <a:p>
            <a:pPr indent="0" marL="0">
              <a:buNone/>
            </a:pPr>
            <a:r>
              <a:rPr lang="en-US" sz="1150" b="1" dirty="0">
                <a:solidFill>
                  <a:srgbClr val="14342B"/>
                </a:solidFill>
                <a:latin typeface="Calibri" pitchFamily="34" charset="0"/>
                <a:ea typeface="Calibri" pitchFamily="34" charset="-122"/>
                <a:cs typeface="Calibri" pitchFamily="34" charset="-120"/>
              </a:rPr>
              <a:t>API Gateway</a:t>
            </a:r>
            <a:endParaRPr lang="en-US" sz="1150" dirty="0"/>
          </a:p>
        </p:txBody>
      </p:sp>
      <p:sp>
        <p:nvSpPr>
          <p:cNvPr id="29" name="Text 22"/>
          <p:cNvSpPr txBox="1"/>
          <p:nvPr/>
        </p:nvSpPr>
        <p:spPr>
          <a:xfrm>
            <a:off x="2121408" y="3136392"/>
            <a:ext cx="1353312" cy="1289304"/>
          </a:xfrm>
          <a:prstGeom prst="rect">
            <a:avLst/>
          </a:prstGeom>
          <a:noFill/>
          <a:ln/>
        </p:spPr>
        <p:txBody>
          <a:bodyPr wrap="square" lIns="0" tIns="0" rIns="0" bIns="0" rtlCol="0" anchor="t"/>
          <a:lstStyle/>
          <a:p>
            <a:pPr indent="0" marL="0">
              <a:buNone/>
            </a:pPr>
            <a:r>
              <a:rPr lang="en-US" sz="950" dirty="0">
                <a:solidFill>
                  <a:srgbClr val="5C6B63"/>
                </a:solidFill>
                <a:latin typeface="Calibri" pitchFamily="34" charset="0"/>
                <a:ea typeface="Calibri" pitchFamily="34" charset="-122"/>
                <a:cs typeface="Calibri" pitchFamily="34" charset="-120"/>
              </a:rPr>
              <a:t>HTTP API · 12 rutas</a:t>
            </a:r>
            <a:endParaRPr lang="en-US" sz="950" dirty="0"/>
          </a:p>
          <a:p>
            <a:pPr indent="0" marL="0">
              <a:buNone/>
            </a:pPr>
            <a:endParaRPr lang="en-US" sz="950" dirty="0"/>
          </a:p>
          <a:p>
            <a:pPr indent="0" marL="0">
              <a:buNone/>
            </a:pPr>
            <a:r>
              <a:rPr lang="en-US" sz="950" dirty="0">
                <a:solidFill>
                  <a:srgbClr val="5C6B63"/>
                </a:solidFill>
                <a:latin typeface="Calibri" pitchFamily="34" charset="0"/>
                <a:ea typeface="Calibri" pitchFamily="34" charset="-122"/>
                <a:cs typeface="Calibri" pitchFamily="34" charset="-120"/>
              </a:rPr>
              <a:t>JWT authorizer (401)</a:t>
            </a:r>
            <a:endParaRPr lang="en-US" sz="950" dirty="0"/>
          </a:p>
          <a:p>
            <a:pPr indent="0" marL="0">
              <a:buNone/>
            </a:pPr>
            <a:r>
              <a:rPr lang="en-US" sz="950" dirty="0">
                <a:solidFill>
                  <a:srgbClr val="5C6B63"/>
                </a:solidFill>
                <a:latin typeface="Calibri" pitchFamily="34" charset="0"/>
                <a:ea typeface="Calibri" pitchFamily="34" charset="-122"/>
                <a:cs typeface="Calibri" pitchFamily="34" charset="-120"/>
              </a:rPr>
              <a:t>+ CORS</a:t>
            </a:r>
            <a:endParaRPr lang="en-US" sz="950" dirty="0"/>
          </a:p>
          <a:p>
            <a:pPr indent="0" marL="0">
              <a:buNone/>
            </a:pPr>
            <a:endParaRPr lang="en-US" sz="950" dirty="0"/>
          </a:p>
          <a:p>
            <a:pPr indent="0" marL="0">
              <a:buNone/>
            </a:pPr>
            <a:r>
              <a:rPr lang="en-US" sz="950" dirty="0">
                <a:solidFill>
                  <a:srgbClr val="5C6B63"/>
                </a:solidFill>
                <a:latin typeface="Calibri" pitchFamily="34" charset="0"/>
                <a:ea typeface="Calibri" pitchFamily="34" charset="-122"/>
                <a:cs typeface="Calibri" pitchFamily="34" charset="-120"/>
              </a:rPr>
              <a:t>enruta por puerto a cada microservicio</a:t>
            </a:r>
            <a:endParaRPr lang="en-US" sz="950" dirty="0"/>
          </a:p>
        </p:txBody>
      </p:sp>
      <p:sp>
        <p:nvSpPr>
          <p:cNvPr id="30" name="Shape 23"/>
          <p:cNvSpPr/>
          <p:nvPr/>
        </p:nvSpPr>
        <p:spPr>
          <a:xfrm>
            <a:off x="3749040" y="1325880"/>
            <a:ext cx="4937760" cy="3154680"/>
          </a:xfrm>
          <a:prstGeom prst="roundRect">
            <a:avLst>
              <a:gd name="adj" fmla="val 2319"/>
            </a:avLst>
          </a:prstGeom>
          <a:solidFill>
            <a:srgbClr val="FFFFFF"/>
          </a:solidFill>
          <a:ln w="15875">
            <a:solidFill>
              <a:srgbClr val="52B788"/>
            </a:solidFill>
            <a:prstDash val="dash"/>
          </a:ln>
        </p:spPr>
      </p:sp>
      <p:sp>
        <p:nvSpPr>
          <p:cNvPr id="31" name="Text 24"/>
          <p:cNvSpPr txBox="1"/>
          <p:nvPr/>
        </p:nvSpPr>
        <p:spPr>
          <a:xfrm>
            <a:off x="3858768" y="1371600"/>
            <a:ext cx="4754880" cy="228600"/>
          </a:xfrm>
          <a:prstGeom prst="rect">
            <a:avLst/>
          </a:prstGeom>
          <a:noFill/>
          <a:ln/>
        </p:spPr>
        <p:txBody>
          <a:bodyPr wrap="square" lIns="0" tIns="0" rIns="0" bIns="0" rtlCol="0" anchor="t"/>
          <a:lstStyle/>
          <a:p>
            <a:pPr indent="0" marL="0">
              <a:buNone/>
            </a:pPr>
            <a:r>
              <a:rPr lang="en-US" sz="1000" b="1" dirty="0">
                <a:solidFill>
                  <a:srgbClr val="2D6A4F"/>
                </a:solidFill>
                <a:latin typeface="Calibri" pitchFamily="34" charset="0"/>
                <a:ea typeface="Calibri" pitchFamily="34" charset="-122"/>
                <a:cs typeface="Calibri" pitchFamily="34" charset="-120"/>
              </a:rPr>
              <a:t>EC2 backend · t3.medium · docker compose · 8 contenedores</a:t>
            </a:r>
            <a:endParaRPr lang="en-US" sz="1000" dirty="0"/>
          </a:p>
        </p:txBody>
      </p:sp>
      <p:sp>
        <p:nvSpPr>
          <p:cNvPr id="32" name="Shape 25"/>
          <p:cNvSpPr/>
          <p:nvPr/>
        </p:nvSpPr>
        <p:spPr>
          <a:xfrm>
            <a:off x="3886200" y="1691640"/>
            <a:ext cx="1508760" cy="548640"/>
          </a:xfrm>
          <a:prstGeom prst="roundRect">
            <a:avLst>
              <a:gd name="adj" fmla="val 20000"/>
            </a:avLst>
          </a:prstGeom>
          <a:solidFill>
            <a:srgbClr val="E8F5EE"/>
          </a:solidFill>
          <a:ln w="12700">
            <a:solidFill>
              <a:srgbClr val="E8F5EE"/>
            </a:solidFill>
            <a:prstDash val="solid"/>
          </a:ln>
        </p:spPr>
      </p:sp>
      <p:sp>
        <p:nvSpPr>
          <p:cNvPr id="33" name="Text 26"/>
          <p:cNvSpPr txBox="1"/>
          <p:nvPr/>
        </p:nvSpPr>
        <p:spPr>
          <a:xfrm>
            <a:off x="3959352" y="1691640"/>
            <a:ext cx="1380744" cy="548640"/>
          </a:xfrm>
          <a:prstGeom prst="rect">
            <a:avLst/>
          </a:prstGeom>
          <a:noFill/>
          <a:ln/>
        </p:spPr>
        <p:txBody>
          <a:bodyPr wrap="square" lIns="0" tIns="0" rIns="0" bIns="0" rtlCol="0" anchor="ctr"/>
          <a:lstStyle/>
          <a:p>
            <a:pPr indent="0" marL="0">
              <a:buNone/>
            </a:pPr>
            <a:r>
              <a:rPr lang="en-US" sz="1100" b="1" dirty="0">
                <a:solidFill>
                  <a:srgbClr val="14342B"/>
                </a:solidFill>
                <a:latin typeface="Calibri" pitchFamily="34" charset="0"/>
                <a:ea typeface="Calibri" pitchFamily="34" charset="-122"/>
                <a:cs typeface="Calibri" pitchFamily="34" charset="-120"/>
              </a:rPr>
              <a:t>backend :8080</a:t>
            </a:r>
            <a:endParaRPr lang="en-US" sz="1100" dirty="0"/>
          </a:p>
          <a:p>
            <a:pPr indent="0" marL="0">
              <a:buNone/>
            </a:pPr>
            <a:r>
              <a:rPr lang="en-US" sz="950" dirty="0">
                <a:solidFill>
                  <a:srgbClr val="5C6B63"/>
                </a:solidFill>
                <a:latin typeface="Calibri" pitchFamily="34" charset="0"/>
                <a:ea typeface="Calibri" pitchFamily="34" charset="-122"/>
                <a:cs typeface="Calibri" pitchFamily="34" charset="-120"/>
              </a:rPr>
              <a:t>productor</a:t>
            </a:r>
            <a:endParaRPr lang="en-US" sz="1100" dirty="0"/>
          </a:p>
        </p:txBody>
      </p:sp>
      <p:sp>
        <p:nvSpPr>
          <p:cNvPr id="34" name="Shape 27"/>
          <p:cNvSpPr/>
          <p:nvPr/>
        </p:nvSpPr>
        <p:spPr>
          <a:xfrm>
            <a:off x="3886200" y="2377440"/>
            <a:ext cx="1508760" cy="548640"/>
          </a:xfrm>
          <a:prstGeom prst="roundRect">
            <a:avLst>
              <a:gd name="adj" fmla="val 20000"/>
            </a:avLst>
          </a:prstGeom>
          <a:solidFill>
            <a:srgbClr val="E8F5EE"/>
          </a:solidFill>
          <a:ln w="12700">
            <a:solidFill>
              <a:srgbClr val="E8F5EE"/>
            </a:solidFill>
            <a:prstDash val="solid"/>
          </a:ln>
        </p:spPr>
      </p:sp>
      <p:sp>
        <p:nvSpPr>
          <p:cNvPr id="35" name="Text 28"/>
          <p:cNvSpPr txBox="1"/>
          <p:nvPr/>
        </p:nvSpPr>
        <p:spPr>
          <a:xfrm>
            <a:off x="3959352" y="2377440"/>
            <a:ext cx="1380744" cy="548640"/>
          </a:xfrm>
          <a:prstGeom prst="rect">
            <a:avLst/>
          </a:prstGeom>
          <a:noFill/>
          <a:ln/>
        </p:spPr>
        <p:txBody>
          <a:bodyPr wrap="square" lIns="0" tIns="0" rIns="0" bIns="0" rtlCol="0" anchor="ctr"/>
          <a:lstStyle/>
          <a:p>
            <a:pPr indent="0" marL="0">
              <a:buNone/>
            </a:pPr>
            <a:r>
              <a:rPr lang="en-US" sz="1100" b="1" dirty="0">
                <a:solidFill>
                  <a:srgbClr val="14342B"/>
                </a:solidFill>
                <a:latin typeface="Calibri" pitchFamily="34" charset="0"/>
                <a:ea typeface="Calibri" pitchFamily="34" charset="-122"/>
                <a:cs typeface="Calibri" pitchFamily="34" charset="-120"/>
              </a:rPr>
              <a:t>ms-estadisticas :8082</a:t>
            </a:r>
            <a:endParaRPr lang="en-US" sz="1100" dirty="0"/>
          </a:p>
          <a:p>
            <a:pPr indent="0" marL="0">
              <a:buNone/>
            </a:pPr>
            <a:r>
              <a:rPr lang="en-US" sz="950" dirty="0">
                <a:solidFill>
                  <a:srgbClr val="5C6B63"/>
                </a:solidFill>
                <a:latin typeface="Calibri" pitchFamily="34" charset="0"/>
                <a:ea typeface="Calibri" pitchFamily="34" charset="-122"/>
                <a:cs typeface="Calibri" pitchFamily="34" charset="-120"/>
              </a:rPr>
              <a:t>consumidor</a:t>
            </a:r>
            <a:endParaRPr lang="en-US" sz="1100" dirty="0"/>
          </a:p>
        </p:txBody>
      </p:sp>
      <p:sp>
        <p:nvSpPr>
          <p:cNvPr id="36" name="Shape 29"/>
          <p:cNvSpPr/>
          <p:nvPr/>
        </p:nvSpPr>
        <p:spPr>
          <a:xfrm>
            <a:off x="3886200" y="3063240"/>
            <a:ext cx="1508760" cy="548640"/>
          </a:xfrm>
          <a:prstGeom prst="roundRect">
            <a:avLst>
              <a:gd name="adj" fmla="val 20000"/>
            </a:avLst>
          </a:prstGeom>
          <a:solidFill>
            <a:srgbClr val="E8F5EE"/>
          </a:solidFill>
          <a:ln w="12700">
            <a:solidFill>
              <a:srgbClr val="E8F5EE"/>
            </a:solidFill>
            <a:prstDash val="solid"/>
          </a:ln>
        </p:spPr>
      </p:sp>
      <p:sp>
        <p:nvSpPr>
          <p:cNvPr id="37" name="Text 30"/>
          <p:cNvSpPr txBox="1"/>
          <p:nvPr/>
        </p:nvSpPr>
        <p:spPr>
          <a:xfrm>
            <a:off x="3959352" y="3063240"/>
            <a:ext cx="1380744" cy="548640"/>
          </a:xfrm>
          <a:prstGeom prst="rect">
            <a:avLst/>
          </a:prstGeom>
          <a:noFill/>
          <a:ln/>
        </p:spPr>
        <p:txBody>
          <a:bodyPr wrap="square" lIns="0" tIns="0" rIns="0" bIns="0" rtlCol="0" anchor="ctr"/>
          <a:lstStyle/>
          <a:p>
            <a:pPr indent="0" marL="0">
              <a:buNone/>
            </a:pPr>
            <a:r>
              <a:rPr lang="en-US" sz="1100" b="1" dirty="0">
                <a:solidFill>
                  <a:srgbClr val="14342B"/>
                </a:solidFill>
                <a:latin typeface="Calibri" pitchFamily="34" charset="0"/>
                <a:ea typeface="Calibri" pitchFamily="34" charset="-122"/>
                <a:cs typeface="Calibri" pitchFamily="34" charset="-120"/>
              </a:rPr>
              <a:t>ms-tickets :8083</a:t>
            </a:r>
            <a:endParaRPr lang="en-US" sz="1100" dirty="0"/>
          </a:p>
          <a:p>
            <a:pPr indent="0" marL="0">
              <a:buNone/>
            </a:pPr>
            <a:r>
              <a:rPr lang="en-US" sz="950" dirty="0">
                <a:solidFill>
                  <a:srgbClr val="5C6B63"/>
                </a:solidFill>
                <a:latin typeface="Calibri" pitchFamily="34" charset="0"/>
                <a:ea typeface="Calibri" pitchFamily="34" charset="-122"/>
                <a:cs typeface="Calibri" pitchFamily="34" charset="-120"/>
              </a:rPr>
              <a:t>consumidor</a:t>
            </a:r>
            <a:endParaRPr lang="en-US" sz="1100" dirty="0"/>
          </a:p>
        </p:txBody>
      </p:sp>
      <p:sp>
        <p:nvSpPr>
          <p:cNvPr id="38" name="Shape 31"/>
          <p:cNvSpPr/>
          <p:nvPr/>
        </p:nvSpPr>
        <p:spPr>
          <a:xfrm>
            <a:off x="3886200" y="3749040"/>
            <a:ext cx="1508760" cy="548640"/>
          </a:xfrm>
          <a:prstGeom prst="roundRect">
            <a:avLst>
              <a:gd name="adj" fmla="val 20000"/>
            </a:avLst>
          </a:prstGeom>
          <a:solidFill>
            <a:srgbClr val="E8F5EE"/>
          </a:solidFill>
          <a:ln w="12700">
            <a:solidFill>
              <a:srgbClr val="E8F5EE"/>
            </a:solidFill>
            <a:prstDash val="solid"/>
          </a:ln>
        </p:spPr>
      </p:sp>
      <p:sp>
        <p:nvSpPr>
          <p:cNvPr id="39" name="Text 32"/>
          <p:cNvSpPr txBox="1"/>
          <p:nvPr/>
        </p:nvSpPr>
        <p:spPr>
          <a:xfrm>
            <a:off x="3959352" y="3749040"/>
            <a:ext cx="1380744" cy="548640"/>
          </a:xfrm>
          <a:prstGeom prst="rect">
            <a:avLst/>
          </a:prstGeom>
          <a:noFill/>
          <a:ln/>
        </p:spPr>
        <p:txBody>
          <a:bodyPr wrap="square" lIns="0" tIns="0" rIns="0" bIns="0" rtlCol="0" anchor="ctr"/>
          <a:lstStyle/>
          <a:p>
            <a:pPr indent="0" marL="0">
              <a:buNone/>
            </a:pPr>
            <a:r>
              <a:rPr lang="en-US" sz="1100" b="1" dirty="0">
                <a:solidFill>
                  <a:srgbClr val="14342B"/>
                </a:solidFill>
                <a:latin typeface="Calibri" pitchFamily="34" charset="0"/>
                <a:ea typeface="Calibri" pitchFamily="34" charset="-122"/>
                <a:cs typeface="Calibri" pitchFamily="34" charset="-120"/>
              </a:rPr>
              <a:t>ms-rabbit-admin :8084</a:t>
            </a:r>
            <a:endParaRPr lang="en-US" sz="1100" dirty="0"/>
          </a:p>
          <a:p>
            <a:pPr indent="0" marL="0">
              <a:buNone/>
            </a:pPr>
            <a:r>
              <a:rPr lang="en-US" sz="950" dirty="0">
                <a:solidFill>
                  <a:srgbClr val="5C6B63"/>
                </a:solidFill>
                <a:latin typeface="Calibri" pitchFamily="34" charset="0"/>
                <a:ea typeface="Calibri" pitchFamily="34" charset="-122"/>
                <a:cs typeface="Calibri" pitchFamily="34" charset="-120"/>
              </a:rPr>
              <a:t>administra el broker</a:t>
            </a:r>
            <a:endParaRPr lang="en-US" sz="1100" dirty="0"/>
          </a:p>
        </p:txBody>
      </p:sp>
      <p:sp>
        <p:nvSpPr>
          <p:cNvPr id="40" name="Shape 33"/>
          <p:cNvSpPr/>
          <p:nvPr/>
        </p:nvSpPr>
        <p:spPr>
          <a:xfrm>
            <a:off x="5577840" y="1691640"/>
            <a:ext cx="1691640" cy="2606040"/>
          </a:xfrm>
          <a:prstGeom prst="roundRect">
            <a:avLst>
              <a:gd name="adj" fmla="val 6486"/>
            </a:avLst>
          </a:prstGeom>
          <a:solidFill>
            <a:srgbClr val="14342B"/>
          </a:solidFill>
          <a:ln w="12700">
            <a:solidFill>
              <a:srgbClr val="14342B"/>
            </a:solidFill>
            <a:prstDash val="solid"/>
          </a:ln>
        </p:spPr>
      </p:sp>
      <p:sp>
        <p:nvSpPr>
          <p:cNvPr id="41" name="Text 34"/>
          <p:cNvSpPr txBox="1"/>
          <p:nvPr/>
        </p:nvSpPr>
        <p:spPr>
          <a:xfrm>
            <a:off x="5577840" y="1764792"/>
            <a:ext cx="1691640" cy="256032"/>
          </a:xfrm>
          <a:prstGeom prst="rect">
            <a:avLst/>
          </a:prstGeom>
          <a:noFill/>
          <a:ln/>
        </p:spPr>
        <p:txBody>
          <a:bodyPr wrap="square" lIns="0" tIns="0" rIns="0" bIns="0" rtlCol="0" anchor="t"/>
          <a:lstStyle/>
          <a:p>
            <a:pPr algn="ctr" indent="0" marL="0">
              <a:buNone/>
            </a:pPr>
            <a:r>
              <a:rPr lang="en-US" sz="1150" b="1" dirty="0">
                <a:solidFill>
                  <a:srgbClr val="FFFFFF"/>
                </a:solidFill>
                <a:latin typeface="Calibri" pitchFamily="34" charset="0"/>
                <a:ea typeface="Calibri" pitchFamily="34" charset="-122"/>
                <a:cs typeface="Calibri" pitchFamily="34" charset="-120"/>
              </a:rPr>
              <a:t>Clúster RabbitMQ</a:t>
            </a:r>
            <a:endParaRPr lang="en-US" sz="1150" dirty="0"/>
          </a:p>
        </p:txBody>
      </p:sp>
      <p:sp>
        <p:nvSpPr>
          <p:cNvPr id="42" name="Shape 35"/>
          <p:cNvSpPr/>
          <p:nvPr/>
        </p:nvSpPr>
        <p:spPr>
          <a:xfrm>
            <a:off x="5650992" y="2103120"/>
            <a:ext cx="749808" cy="658368"/>
          </a:xfrm>
          <a:prstGeom prst="roundRect">
            <a:avLst>
              <a:gd name="adj" fmla="val 16667"/>
            </a:avLst>
          </a:prstGeom>
          <a:solidFill>
            <a:srgbClr val="52B788"/>
          </a:solidFill>
          <a:ln w="12700">
            <a:solidFill>
              <a:srgbClr val="52B788"/>
            </a:solidFill>
            <a:prstDash val="solid"/>
          </a:ln>
        </p:spPr>
      </p:sp>
      <p:sp>
        <p:nvSpPr>
          <p:cNvPr id="43" name="Text 36"/>
          <p:cNvSpPr txBox="1"/>
          <p:nvPr/>
        </p:nvSpPr>
        <p:spPr>
          <a:xfrm>
            <a:off x="5650992" y="2103120"/>
            <a:ext cx="749808" cy="658368"/>
          </a:xfrm>
          <a:prstGeom prst="rect">
            <a:avLst/>
          </a:prstGeom>
          <a:noFill/>
          <a:ln/>
        </p:spPr>
        <p:txBody>
          <a:bodyPr wrap="square" lIns="0" tIns="0" rIns="0" bIns="0" rtlCol="0" anchor="ctr"/>
          <a:lstStyle/>
          <a:p>
            <a:pPr algn="ctr" indent="0" marL="0">
              <a:buNone/>
            </a:pPr>
            <a:r>
              <a:rPr lang="en-US" sz="1100" b="1" dirty="0">
                <a:solidFill>
                  <a:srgbClr val="14342B"/>
                </a:solidFill>
                <a:latin typeface="Calibri" pitchFamily="34" charset="0"/>
                <a:ea typeface="Calibri" pitchFamily="34" charset="-122"/>
                <a:cs typeface="Calibri" pitchFamily="34" charset="-120"/>
              </a:rPr>
              <a:t>rabbit1</a:t>
            </a:r>
            <a:endParaRPr lang="en-US" sz="1100" dirty="0"/>
          </a:p>
          <a:p>
            <a:pPr algn="ctr" indent="0" marL="0">
              <a:buNone/>
            </a:pPr>
            <a:r>
              <a:rPr lang="en-US" sz="750" dirty="0">
                <a:solidFill>
                  <a:srgbClr val="14342B"/>
                </a:solidFill>
                <a:latin typeface="Calibri" pitchFamily="34" charset="0"/>
                <a:ea typeface="Calibri" pitchFamily="34" charset="-122"/>
                <a:cs typeface="Calibri" pitchFamily="34" charset="-120"/>
              </a:rPr>
              <a:t>:5672 · :15672</a:t>
            </a:r>
            <a:endParaRPr lang="en-US" sz="1100" dirty="0"/>
          </a:p>
        </p:txBody>
      </p:sp>
      <p:sp>
        <p:nvSpPr>
          <p:cNvPr id="44" name="Shape 37"/>
          <p:cNvSpPr/>
          <p:nvPr/>
        </p:nvSpPr>
        <p:spPr>
          <a:xfrm>
            <a:off x="6455664" y="2103120"/>
            <a:ext cx="749808" cy="658368"/>
          </a:xfrm>
          <a:prstGeom prst="roundRect">
            <a:avLst>
              <a:gd name="adj" fmla="val 16667"/>
            </a:avLst>
          </a:prstGeom>
          <a:solidFill>
            <a:srgbClr val="52B788"/>
          </a:solidFill>
          <a:ln w="12700">
            <a:solidFill>
              <a:srgbClr val="52B788"/>
            </a:solidFill>
            <a:prstDash val="solid"/>
          </a:ln>
        </p:spPr>
      </p:sp>
      <p:sp>
        <p:nvSpPr>
          <p:cNvPr id="45" name="Text 38"/>
          <p:cNvSpPr txBox="1"/>
          <p:nvPr/>
        </p:nvSpPr>
        <p:spPr>
          <a:xfrm>
            <a:off x="6455664" y="2103120"/>
            <a:ext cx="749808" cy="658368"/>
          </a:xfrm>
          <a:prstGeom prst="rect">
            <a:avLst/>
          </a:prstGeom>
          <a:noFill/>
          <a:ln/>
        </p:spPr>
        <p:txBody>
          <a:bodyPr wrap="square" lIns="0" tIns="0" rIns="0" bIns="0" rtlCol="0" anchor="ctr"/>
          <a:lstStyle/>
          <a:p>
            <a:pPr algn="ctr" indent="0" marL="0">
              <a:buNone/>
            </a:pPr>
            <a:r>
              <a:rPr lang="en-US" sz="1100" b="1" dirty="0">
                <a:solidFill>
                  <a:srgbClr val="14342B"/>
                </a:solidFill>
                <a:latin typeface="Calibri" pitchFamily="34" charset="0"/>
                <a:ea typeface="Calibri" pitchFamily="34" charset="-122"/>
                <a:cs typeface="Calibri" pitchFamily="34" charset="-120"/>
              </a:rPr>
              <a:t>rabbit2</a:t>
            </a:r>
            <a:endParaRPr lang="en-US" sz="1100" dirty="0"/>
          </a:p>
          <a:p>
            <a:pPr algn="ctr" indent="0" marL="0">
              <a:buNone/>
            </a:pPr>
            <a:r>
              <a:rPr lang="en-US" sz="750" dirty="0">
                <a:solidFill>
                  <a:srgbClr val="14342B"/>
                </a:solidFill>
                <a:latin typeface="Calibri" pitchFamily="34" charset="0"/>
                <a:ea typeface="Calibri" pitchFamily="34" charset="-122"/>
                <a:cs typeface="Calibri" pitchFamily="34" charset="-120"/>
              </a:rPr>
              <a:t>:5673 · :15673</a:t>
            </a:r>
            <a:endParaRPr lang="en-US" sz="1100" dirty="0"/>
          </a:p>
        </p:txBody>
      </p:sp>
      <p:sp>
        <p:nvSpPr>
          <p:cNvPr id="46" name="Text 39"/>
          <p:cNvSpPr txBox="1"/>
          <p:nvPr/>
        </p:nvSpPr>
        <p:spPr>
          <a:xfrm>
            <a:off x="5623560" y="2926080"/>
            <a:ext cx="1600200" cy="1234440"/>
          </a:xfrm>
          <a:prstGeom prst="rect">
            <a:avLst/>
          </a:prstGeom>
          <a:noFill/>
          <a:ln/>
        </p:spPr>
        <p:txBody>
          <a:bodyPr wrap="square" lIns="0" tIns="0" rIns="0" bIns="0" rtlCol="0" anchor="t"/>
          <a:lstStyle/>
          <a:p>
            <a:pPr algn="ctr" indent="0" marL="0">
              <a:buNone/>
            </a:pPr>
            <a:r>
              <a:rPr lang="en-US" sz="950" dirty="0">
                <a:solidFill>
                  <a:srgbClr val="E8F5EE"/>
                </a:solidFill>
                <a:latin typeface="Calibri" pitchFamily="34" charset="0"/>
                <a:ea typeface="Calibri" pitchFamily="34" charset="-122"/>
                <a:cs typeface="Calibri" pitchFamily="34" charset="-120"/>
              </a:rPr>
              <a:t>6 colas quorum replicadas en los 2 nodos</a:t>
            </a:r>
            <a:endParaRPr lang="en-US" sz="950" dirty="0"/>
          </a:p>
          <a:p>
            <a:pPr algn="ctr" indent="0" marL="0">
              <a:buNone/>
            </a:pPr>
            <a:endParaRPr lang="en-US" sz="950" dirty="0"/>
          </a:p>
          <a:p>
            <a:pPr algn="ctr" indent="0" marL="0">
              <a:buNone/>
            </a:pPr>
            <a:r>
              <a:rPr lang="en-US" sz="950" dirty="0">
                <a:solidFill>
                  <a:srgbClr val="E8F5EE"/>
                </a:solidFill>
                <a:latin typeface="Calibri" pitchFamily="34" charset="0"/>
                <a:ea typeface="Calibri" pitchFamily="34" charset="-122"/>
                <a:cs typeface="Calibri" pitchFamily="34" charset="-120"/>
              </a:rPr>
              <a:t>topic · direct · dlx</a:t>
            </a:r>
            <a:endParaRPr lang="en-US" sz="950" dirty="0"/>
          </a:p>
        </p:txBody>
      </p:sp>
      <p:sp>
        <p:nvSpPr>
          <p:cNvPr id="47" name="Shape 40"/>
          <p:cNvSpPr/>
          <p:nvPr/>
        </p:nvSpPr>
        <p:spPr>
          <a:xfrm>
            <a:off x="7424928" y="1691640"/>
            <a:ext cx="1152144" cy="777240"/>
          </a:xfrm>
          <a:prstGeom prst="roundRect">
            <a:avLst>
              <a:gd name="adj" fmla="val 14118"/>
            </a:avLst>
          </a:prstGeom>
          <a:solidFill>
            <a:srgbClr val="E8F5EE"/>
          </a:solidFill>
          <a:ln w="12700">
            <a:solidFill>
              <a:srgbClr val="E8F5EE"/>
            </a:solidFill>
            <a:prstDash val="solid"/>
          </a:ln>
        </p:spPr>
      </p:sp>
      <p:sp>
        <p:nvSpPr>
          <p:cNvPr id="48" name="Text 41"/>
          <p:cNvSpPr txBox="1"/>
          <p:nvPr/>
        </p:nvSpPr>
        <p:spPr>
          <a:xfrm>
            <a:off x="7498080" y="1691640"/>
            <a:ext cx="1024128" cy="777240"/>
          </a:xfrm>
          <a:prstGeom prst="rect">
            <a:avLst/>
          </a:prstGeom>
          <a:noFill/>
          <a:ln/>
        </p:spPr>
        <p:txBody>
          <a:bodyPr wrap="square" lIns="0" tIns="0" rIns="0" bIns="0" rtlCol="0" anchor="ctr"/>
          <a:lstStyle/>
          <a:p>
            <a:pPr indent="0" marL="0">
              <a:buNone/>
            </a:pPr>
            <a:r>
              <a:rPr lang="en-US" sz="950" b="1" dirty="0">
                <a:solidFill>
                  <a:srgbClr val="14342B"/>
                </a:solidFill>
                <a:latin typeface="Calibri" pitchFamily="34" charset="0"/>
                <a:ea typeface="Calibri" pitchFamily="34" charset="-122"/>
                <a:cs typeface="Calibri" pitchFamily="34" charset="-120"/>
              </a:rPr>
              <a:t>ms-notificaciones</a:t>
            </a:r>
            <a:endParaRPr lang="en-US" sz="950" dirty="0"/>
          </a:p>
          <a:p>
            <a:pPr indent="0" marL="0">
              <a:buNone/>
            </a:pPr>
            <a:r>
              <a:rPr lang="en-US" sz="950" dirty="0">
                <a:solidFill>
                  <a:srgbClr val="5C6B63"/>
                </a:solidFill>
                <a:latin typeface="Calibri" pitchFamily="34" charset="0"/>
                <a:ea typeface="Calibri" pitchFamily="34" charset="-122"/>
                <a:cs typeface="Calibri" pitchFamily="34" charset="-120"/>
              </a:rPr>
              <a:t>consumidor</a:t>
            </a:r>
            <a:endParaRPr lang="en-US" sz="950" dirty="0"/>
          </a:p>
        </p:txBody>
      </p:sp>
      <p:sp>
        <p:nvSpPr>
          <p:cNvPr id="49" name="Shape 42"/>
          <p:cNvSpPr/>
          <p:nvPr/>
        </p:nvSpPr>
        <p:spPr>
          <a:xfrm>
            <a:off x="7424928" y="2651760"/>
            <a:ext cx="1152144" cy="1645920"/>
          </a:xfrm>
          <a:prstGeom prst="roundRect">
            <a:avLst>
              <a:gd name="adj" fmla="val 9524"/>
            </a:avLst>
          </a:prstGeom>
          <a:solidFill>
            <a:srgbClr val="E8F5EE"/>
          </a:solidFill>
          <a:ln w="12700">
            <a:solidFill>
              <a:srgbClr val="E8F5EE"/>
            </a:solidFill>
            <a:prstDash val="solid"/>
          </a:ln>
        </p:spPr>
      </p:sp>
      <p:sp>
        <p:nvSpPr>
          <p:cNvPr id="50" name="Text 43"/>
          <p:cNvSpPr txBox="1"/>
          <p:nvPr/>
        </p:nvSpPr>
        <p:spPr>
          <a:xfrm>
            <a:off x="7498080" y="2651760"/>
            <a:ext cx="1024128" cy="1645920"/>
          </a:xfrm>
          <a:prstGeom prst="rect">
            <a:avLst/>
          </a:prstGeom>
          <a:noFill/>
          <a:ln/>
        </p:spPr>
        <p:txBody>
          <a:bodyPr wrap="square" lIns="0" tIns="0" rIns="0" bIns="0" rtlCol="0" anchor="ctr"/>
          <a:lstStyle/>
          <a:p>
            <a:pPr indent="0" marL="0">
              <a:buNone/>
            </a:pPr>
            <a:r>
              <a:rPr lang="en-US" sz="1050" b="1" dirty="0">
                <a:solidFill>
                  <a:srgbClr val="14342B"/>
                </a:solidFill>
                <a:latin typeface="Calibri" pitchFamily="34" charset="0"/>
                <a:ea typeface="Calibri" pitchFamily="34" charset="-122"/>
                <a:cs typeface="Calibri" pitchFamily="34" charset="-120"/>
              </a:rPr>
              <a:t>PostgreSQL</a:t>
            </a:r>
            <a:endParaRPr lang="en-US" sz="1050" dirty="0"/>
          </a:p>
          <a:p>
            <a:pPr indent="0" marL="0">
              <a:buNone/>
            </a:pPr>
            <a:r>
              <a:rPr lang="en-US" sz="950" dirty="0">
                <a:solidFill>
                  <a:srgbClr val="5C6B63"/>
                </a:solidFill>
                <a:latin typeface="Calibri" pitchFamily="34" charset="0"/>
                <a:ea typeface="Calibri" pitchFamily="34" charset="-122"/>
                <a:cs typeface="Calibri" pitchFamily="34" charset="-120"/>
              </a:rPr>
              <a:t>4 bases, una por servicio · volumen</a:t>
            </a:r>
            <a:endParaRPr lang="en-US" sz="1050" dirty="0"/>
          </a:p>
        </p:txBody>
      </p:sp>
      <p:sp>
        <p:nvSpPr>
          <p:cNvPr id="51" name="Shape 44"/>
          <p:cNvSpPr/>
          <p:nvPr/>
        </p:nvSpPr>
        <p:spPr>
          <a:xfrm>
            <a:off x="1691640" y="1600200"/>
            <a:ext cx="320040" cy="0"/>
          </a:xfrm>
          <a:prstGeom prst="line">
            <a:avLst/>
          </a:prstGeom>
          <a:noFill/>
          <a:ln w="25400">
            <a:solidFill>
              <a:srgbClr val="2D6A4F"/>
            </a:solidFill>
            <a:prstDash val="solid"/>
            <a:tailEnd type="triangle"/>
          </a:ln>
        </p:spPr>
      </p:sp>
      <p:sp>
        <p:nvSpPr>
          <p:cNvPr id="52" name="Shape 45"/>
          <p:cNvSpPr/>
          <p:nvPr/>
        </p:nvSpPr>
        <p:spPr>
          <a:xfrm>
            <a:off x="2788920" y="2286000"/>
            <a:ext cx="0" cy="320040"/>
          </a:xfrm>
          <a:prstGeom prst="line">
            <a:avLst/>
          </a:prstGeom>
          <a:noFill/>
          <a:ln w="25400">
            <a:solidFill>
              <a:srgbClr val="2D6A4F"/>
            </a:solidFill>
            <a:prstDash val="solid"/>
            <a:tailEnd type="triangle"/>
          </a:ln>
        </p:spPr>
      </p:sp>
      <p:sp>
        <p:nvSpPr>
          <p:cNvPr id="53" name="Shape 46"/>
          <p:cNvSpPr/>
          <p:nvPr/>
        </p:nvSpPr>
        <p:spPr>
          <a:xfrm>
            <a:off x="3566160" y="3520440"/>
            <a:ext cx="320040" cy="0"/>
          </a:xfrm>
          <a:prstGeom prst="line">
            <a:avLst/>
          </a:prstGeom>
          <a:noFill/>
          <a:ln w="25400">
            <a:solidFill>
              <a:srgbClr val="2D6A4F"/>
            </a:solidFill>
            <a:prstDash val="solid"/>
            <a:tailEnd type="triangle"/>
          </a:ln>
        </p:spPr>
      </p:sp>
      <p:sp>
        <p:nvSpPr>
          <p:cNvPr id="54" name="Shape 47"/>
          <p:cNvSpPr/>
          <p:nvPr/>
        </p:nvSpPr>
        <p:spPr>
          <a:xfrm flipV="1">
            <a:off x="1005840" y="1965960"/>
            <a:ext cx="0" cy="228600"/>
          </a:xfrm>
          <a:prstGeom prst="line">
            <a:avLst/>
          </a:prstGeom>
          <a:noFill/>
          <a:ln w="19050">
            <a:solidFill>
              <a:srgbClr val="F4A261"/>
            </a:solidFill>
            <a:prstDash val="solid"/>
            <a:tailEnd type="triangle"/>
          </a:ln>
        </p:spPr>
      </p:sp>
      <p:sp>
        <p:nvSpPr>
          <p:cNvPr id="55" name="Shape 48"/>
          <p:cNvSpPr/>
          <p:nvPr/>
        </p:nvSpPr>
        <p:spPr>
          <a:xfrm flipH="1">
            <a:off x="1691640" y="2926080"/>
            <a:ext cx="320040" cy="0"/>
          </a:xfrm>
          <a:prstGeom prst="line">
            <a:avLst/>
          </a:prstGeom>
          <a:noFill/>
          <a:ln w="19050">
            <a:solidFill>
              <a:srgbClr val="F4A261"/>
            </a:solidFill>
            <a:prstDash val="solid"/>
            <a:tailEnd type="triangle"/>
          </a:ln>
        </p:spPr>
      </p:sp>
      <p:sp>
        <p:nvSpPr>
          <p:cNvPr id="56" name="Shape 49"/>
          <p:cNvSpPr/>
          <p:nvPr/>
        </p:nvSpPr>
        <p:spPr>
          <a:xfrm>
            <a:off x="5394960" y="1965960"/>
            <a:ext cx="182880" cy="0"/>
          </a:xfrm>
          <a:prstGeom prst="line">
            <a:avLst/>
          </a:prstGeom>
          <a:noFill/>
          <a:ln w="25400">
            <a:solidFill>
              <a:srgbClr val="F4A261"/>
            </a:solidFill>
            <a:prstDash val="solid"/>
            <a:tailEnd type="triangle"/>
          </a:ln>
        </p:spPr>
      </p:sp>
      <p:sp>
        <p:nvSpPr>
          <p:cNvPr id="57" name="Shape 50"/>
          <p:cNvSpPr/>
          <p:nvPr/>
        </p:nvSpPr>
        <p:spPr>
          <a:xfrm flipH="1">
            <a:off x="5394960" y="2651760"/>
            <a:ext cx="182880" cy="0"/>
          </a:xfrm>
          <a:prstGeom prst="line">
            <a:avLst/>
          </a:prstGeom>
          <a:noFill/>
          <a:ln w="25400">
            <a:solidFill>
              <a:srgbClr val="F4A261"/>
            </a:solidFill>
            <a:prstDash val="solid"/>
            <a:tailEnd type="triangle"/>
          </a:ln>
        </p:spPr>
      </p:sp>
      <p:sp>
        <p:nvSpPr>
          <p:cNvPr id="58" name="Shape 51"/>
          <p:cNvSpPr/>
          <p:nvPr/>
        </p:nvSpPr>
        <p:spPr>
          <a:xfrm flipH="1">
            <a:off x="5394960" y="3337560"/>
            <a:ext cx="182880" cy="0"/>
          </a:xfrm>
          <a:prstGeom prst="line">
            <a:avLst/>
          </a:prstGeom>
          <a:noFill/>
          <a:ln w="25400">
            <a:solidFill>
              <a:srgbClr val="F4A261"/>
            </a:solidFill>
            <a:prstDash val="solid"/>
            <a:tailEnd type="triangle"/>
          </a:ln>
        </p:spPr>
      </p:sp>
      <p:sp>
        <p:nvSpPr>
          <p:cNvPr id="59" name="Shape 52"/>
          <p:cNvSpPr/>
          <p:nvPr/>
        </p:nvSpPr>
        <p:spPr>
          <a:xfrm>
            <a:off x="5394960" y="4023360"/>
            <a:ext cx="182880" cy="0"/>
          </a:xfrm>
          <a:prstGeom prst="line">
            <a:avLst/>
          </a:prstGeom>
          <a:noFill/>
          <a:ln w="25400">
            <a:solidFill>
              <a:srgbClr val="2D6A4F"/>
            </a:solidFill>
            <a:prstDash val="solid"/>
            <a:tailEnd type="triangle"/>
          </a:ln>
        </p:spPr>
      </p:sp>
      <p:sp>
        <p:nvSpPr>
          <p:cNvPr id="60" name="Shape 53"/>
          <p:cNvSpPr/>
          <p:nvPr/>
        </p:nvSpPr>
        <p:spPr>
          <a:xfrm>
            <a:off x="7269480" y="2075688"/>
            <a:ext cx="155448" cy="0"/>
          </a:xfrm>
          <a:prstGeom prst="line">
            <a:avLst/>
          </a:prstGeom>
          <a:noFill/>
          <a:ln w="25400">
            <a:solidFill>
              <a:srgbClr val="F4A261"/>
            </a:solidFill>
            <a:prstDash val="solid"/>
            <a:tailEnd type="triangle"/>
          </a:ln>
        </p:spPr>
      </p:sp>
      <p:sp>
        <p:nvSpPr>
          <p:cNvPr id="61" name="Text 54"/>
          <p:cNvSpPr txBox="1"/>
          <p:nvPr/>
        </p:nvSpPr>
        <p:spPr>
          <a:xfrm>
            <a:off x="320040" y="4690872"/>
            <a:ext cx="8503920" cy="274320"/>
          </a:xfrm>
          <a:prstGeom prst="rect">
            <a:avLst/>
          </a:prstGeom>
          <a:noFill/>
          <a:ln/>
        </p:spPr>
        <p:txBody>
          <a:bodyPr wrap="square" lIns="0" tIns="0" rIns="0" bIns="0" rtlCol="0" anchor="t"/>
          <a:lstStyle/>
          <a:p>
            <a:pPr indent="0" marL="0">
              <a:buNone/>
            </a:pPr>
            <a:r>
              <a:rPr lang="en-US" sz="1000" b="1" dirty="0">
                <a:solidFill>
                  <a:srgbClr val="2D6A4F"/>
                </a:solidFill>
                <a:latin typeface="Calibri" pitchFamily="34" charset="0"/>
                <a:ea typeface="Calibri" pitchFamily="34" charset="-122"/>
                <a:cs typeface="Calibri" pitchFamily="34" charset="-120"/>
              </a:rPr>
              <a:t>Verde: HTTP con JWT · </a:t>
            </a:r>
            <a:pPr indent="0" marL="0">
              <a:buNone/>
            </a:pPr>
            <a:r>
              <a:rPr lang="en-US" sz="1000" b="1" dirty="0">
                <a:solidFill>
                  <a:srgbClr val="F4A261"/>
                </a:solidFill>
                <a:latin typeface="Calibri" pitchFamily="34" charset="0"/>
                <a:ea typeface="Calibri" pitchFamily="34" charset="-122"/>
                <a:cs typeface="Calibri" pitchFamily="34" charset="-120"/>
              </a:rPr>
              <a:t>Naranjo: mensajes AMQP y login OIDC / JWKS · </a:t>
            </a:r>
            <a:pPr indent="0" marL="0">
              <a:buNone/>
            </a:pPr>
            <a:r>
              <a:rPr lang="en-US" sz="1000" dirty="0">
                <a:solidFill>
                  <a:srgbClr val="5C6B63"/>
                </a:solidFill>
                <a:latin typeface="Calibri" pitchFamily="34" charset="0"/>
                <a:ea typeface="Calibri" pitchFamily="34" charset="-122"/>
                <a:cs typeface="Calibri" pitchFamily="34" charset="-120"/>
              </a:rPr>
              <a:t>Elastic IP: frontend 34.207.44.149 · backend 34.203.5.9</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ítulo"/>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14342B"/>
                </a:solidFill>
                <a:latin typeface="Calibri" pitchFamily="34" charset="0"/>
                <a:ea typeface="Calibri" pitchFamily="34" charset="-122"/>
                <a:cs typeface="Calibri" pitchFamily="34" charset="-120"/>
              </a:rPr>
              <a:t>Identidad y API Gateway</a:t>
            </a:r>
            <a:endParaRPr lang="en-US" sz="3000" dirty="0"/>
          </a:p>
        </p:txBody>
      </p:sp>
      <p:sp>
        <p:nvSpPr>
          <p:cNvPr id="3" name="Shape 1"/>
          <p:cNvSpPr/>
          <p:nvPr/>
        </p:nvSpPr>
        <p:spPr>
          <a:xfrm>
            <a:off x="502920" y="1188720"/>
            <a:ext cx="594360" cy="594360"/>
          </a:xfrm>
          <a:prstGeom prst="ellipse">
            <a:avLst/>
          </a:prstGeom>
          <a:solidFill>
            <a:srgbClr val="2D6A4F"/>
          </a:solidFill>
          <a:ln w="12700">
            <a:solidFill>
              <a:srgbClr val="2D6A4F"/>
            </a:solidFill>
            <a:prstDash val="solid"/>
          </a:ln>
        </p:spPr>
      </p:sp>
      <p:pic>
        <p:nvPicPr>
          <p:cNvPr id="4" name="Image 0" descr="preencoded.png">    </p:cNvPr>
          <p:cNvPicPr>
            <a:picLocks noChangeAspect="1"/>
          </p:cNvPicPr>
          <p:nvPr/>
        </p:nvPicPr>
        <p:blipFill>
          <a:blip r:embed="rId1"/>
          <a:stretch>
            <a:fillRect/>
          </a:stretch>
        </p:blipFill>
        <p:spPr>
          <a:xfrm>
            <a:off x="645566" y="1331366"/>
            <a:ext cx="309067" cy="309067"/>
          </a:xfrm>
          <a:prstGeom prst="rect">
            <a:avLst/>
          </a:prstGeom>
        </p:spPr>
      </p:pic>
      <p:sp>
        <p:nvSpPr>
          <p:cNvPr id="5" name="Text 2"/>
          <p:cNvSpPr txBox="1"/>
          <p:nvPr/>
        </p:nvSpPr>
        <p:spPr>
          <a:xfrm>
            <a:off x="1325880" y="1143000"/>
            <a:ext cx="7315200" cy="347472"/>
          </a:xfrm>
          <a:prstGeom prst="rect">
            <a:avLst/>
          </a:prstGeom>
          <a:noFill/>
          <a:ln/>
        </p:spPr>
        <p:txBody>
          <a:bodyPr wrap="square" lIns="0" tIns="0" rIns="0" bIns="0" rtlCol="0" anchor="ctr"/>
          <a:lstStyle/>
          <a:p>
            <a:pPr indent="0" marL="0">
              <a:buNone/>
            </a:pPr>
            <a:r>
              <a:rPr lang="en-US" sz="1600" b="1" dirty="0">
                <a:solidFill>
                  <a:srgbClr val="14342B"/>
                </a:solidFill>
                <a:latin typeface="Calibri" pitchFamily="34" charset="0"/>
                <a:ea typeface="Calibri" pitchFamily="34" charset="-122"/>
                <a:cs typeface="Calibri" pitchFamily="34" charset="-120"/>
              </a:rPr>
              <a:t>Tenant de Entra ID con usuarios</a:t>
            </a:r>
            <a:endParaRPr lang="en-US" sz="1600" dirty="0"/>
          </a:p>
        </p:txBody>
      </p:sp>
      <p:sp>
        <p:nvSpPr>
          <p:cNvPr id="6" name="Text 3"/>
          <p:cNvSpPr txBox="1"/>
          <p:nvPr/>
        </p:nvSpPr>
        <p:spPr>
          <a:xfrm>
            <a:off x="1325880" y="1490472"/>
            <a:ext cx="7315200" cy="365760"/>
          </a:xfrm>
          <a:prstGeom prst="rect">
            <a:avLst/>
          </a:prstGeom>
          <a:noFill/>
          <a:ln/>
        </p:spPr>
        <p:txBody>
          <a:bodyPr wrap="square" lIns="0" tIns="0" rIns="0" bIns="0" rtlCol="0" anchor="t"/>
          <a:lstStyle/>
          <a:p>
            <a:pPr indent="0" marL="0">
              <a:buNone/>
            </a:pPr>
            <a:r>
              <a:rPr lang="en-US" sz="1300" dirty="0">
                <a:solidFill>
                  <a:srgbClr val="1F2A24"/>
                </a:solidFill>
                <a:latin typeface="Calibri" pitchFamily="34" charset="0"/>
                <a:ea typeface="Calibri" pitchFamily="34" charset="-122"/>
                <a:cs typeface="Calibri" pitchFamily="34" charset="-120"/>
              </a:rPr>
              <a:t>encargado1 (rol ENCARGADO) · usuario1 (sin rol) · cuenta administradora (rol ADMIN)</a:t>
            </a:r>
            <a:endParaRPr lang="en-US" sz="1300" dirty="0"/>
          </a:p>
        </p:txBody>
      </p:sp>
      <p:sp>
        <p:nvSpPr>
          <p:cNvPr id="7" name="Shape 4"/>
          <p:cNvSpPr/>
          <p:nvPr/>
        </p:nvSpPr>
        <p:spPr>
          <a:xfrm>
            <a:off x="502920" y="2084832"/>
            <a:ext cx="594360" cy="594360"/>
          </a:xfrm>
          <a:prstGeom prst="ellipse">
            <a:avLst/>
          </a:prstGeom>
          <a:solidFill>
            <a:srgbClr val="2D6A4F"/>
          </a:solidFill>
          <a:ln w="12700">
            <a:solidFill>
              <a:srgbClr val="2D6A4F"/>
            </a:solidFill>
            <a:prstDash val="solid"/>
          </a:ln>
        </p:spPr>
      </p:sp>
      <p:pic>
        <p:nvPicPr>
          <p:cNvPr id="8" name="Image 1" descr="preencoded.png">    </p:cNvPr>
          <p:cNvPicPr>
            <a:picLocks noChangeAspect="1"/>
          </p:cNvPicPr>
          <p:nvPr/>
        </p:nvPicPr>
        <p:blipFill>
          <a:blip r:embed="rId2"/>
          <a:stretch>
            <a:fillRect/>
          </a:stretch>
        </p:blipFill>
        <p:spPr>
          <a:xfrm>
            <a:off x="645566" y="2227478"/>
            <a:ext cx="309067" cy="309067"/>
          </a:xfrm>
          <a:prstGeom prst="rect">
            <a:avLst/>
          </a:prstGeom>
        </p:spPr>
      </p:pic>
      <p:sp>
        <p:nvSpPr>
          <p:cNvPr id="9" name="Text 5"/>
          <p:cNvSpPr txBox="1"/>
          <p:nvPr/>
        </p:nvSpPr>
        <p:spPr>
          <a:xfrm>
            <a:off x="1325880" y="2039112"/>
            <a:ext cx="7315200" cy="347472"/>
          </a:xfrm>
          <a:prstGeom prst="rect">
            <a:avLst/>
          </a:prstGeom>
          <a:noFill/>
          <a:ln/>
        </p:spPr>
        <p:txBody>
          <a:bodyPr wrap="square" lIns="0" tIns="0" rIns="0" bIns="0" rtlCol="0" anchor="ctr"/>
          <a:lstStyle/>
          <a:p>
            <a:pPr indent="0" marL="0">
              <a:buNone/>
            </a:pPr>
            <a:r>
              <a:rPr lang="en-US" sz="1600" b="1" dirty="0">
                <a:solidFill>
                  <a:srgbClr val="14342B"/>
                </a:solidFill>
                <a:latin typeface="Calibri" pitchFamily="34" charset="0"/>
                <a:ea typeface="Calibri" pitchFamily="34" charset="-122"/>
                <a:cs typeface="Calibri" pitchFamily="34" charset="-120"/>
              </a:rPr>
              <a:t>Nuevo App Role ADMIN</a:t>
            </a:r>
            <a:endParaRPr lang="en-US" sz="1600" dirty="0"/>
          </a:p>
        </p:txBody>
      </p:sp>
      <p:sp>
        <p:nvSpPr>
          <p:cNvPr id="10" name="Text 6"/>
          <p:cNvSpPr txBox="1"/>
          <p:nvPr/>
        </p:nvSpPr>
        <p:spPr>
          <a:xfrm>
            <a:off x="1325880" y="2386584"/>
            <a:ext cx="7315200" cy="365760"/>
          </a:xfrm>
          <a:prstGeom prst="rect">
            <a:avLst/>
          </a:prstGeom>
          <a:noFill/>
          <a:ln/>
        </p:spPr>
        <p:txBody>
          <a:bodyPr wrap="square" lIns="0" tIns="0" rIns="0" bIns="0" rtlCol="0" anchor="t"/>
          <a:lstStyle/>
          <a:p>
            <a:pPr indent="0" marL="0">
              <a:buNone/>
            </a:pPr>
            <a:r>
              <a:rPr lang="en-US" sz="1300" dirty="0">
                <a:solidFill>
                  <a:srgbClr val="1F2A24"/>
                </a:solidFill>
                <a:latin typeface="Calibri" pitchFamily="34" charset="0"/>
                <a:ea typeface="Calibri" pitchFamily="34" charset="-122"/>
                <a:cs typeface="Calibri" pitchFamily="34" charset="-120"/>
              </a:rPr>
              <a:t>Viaja en el claim "roles"; solo ADMIN usa /api/admin/** y ve la página Administrar RabbitMQ</a:t>
            </a:r>
            <a:endParaRPr lang="en-US" sz="1300" dirty="0"/>
          </a:p>
        </p:txBody>
      </p:sp>
      <p:sp>
        <p:nvSpPr>
          <p:cNvPr id="11" name="Shape 7"/>
          <p:cNvSpPr/>
          <p:nvPr/>
        </p:nvSpPr>
        <p:spPr>
          <a:xfrm>
            <a:off x="502920" y="2980944"/>
            <a:ext cx="594360" cy="594360"/>
          </a:xfrm>
          <a:prstGeom prst="ellipse">
            <a:avLst/>
          </a:prstGeom>
          <a:solidFill>
            <a:srgbClr val="2D6A4F"/>
          </a:solidFill>
          <a:ln w="12700">
            <a:solidFill>
              <a:srgbClr val="2D6A4F"/>
            </a:solidFill>
            <a:prstDash val="solid"/>
          </a:ln>
        </p:spPr>
      </p:sp>
      <p:pic>
        <p:nvPicPr>
          <p:cNvPr id="12" name="Image 2" descr="preencoded.png">    </p:cNvPr>
          <p:cNvPicPr>
            <a:picLocks noChangeAspect="1"/>
          </p:cNvPicPr>
          <p:nvPr/>
        </p:nvPicPr>
        <p:blipFill>
          <a:blip r:embed="rId3"/>
          <a:stretch>
            <a:fillRect/>
          </a:stretch>
        </p:blipFill>
        <p:spPr>
          <a:xfrm>
            <a:off x="645566" y="3123590"/>
            <a:ext cx="309067" cy="309067"/>
          </a:xfrm>
          <a:prstGeom prst="rect">
            <a:avLst/>
          </a:prstGeom>
        </p:spPr>
      </p:pic>
      <p:sp>
        <p:nvSpPr>
          <p:cNvPr id="13" name="Text 8"/>
          <p:cNvSpPr txBox="1"/>
          <p:nvPr/>
        </p:nvSpPr>
        <p:spPr>
          <a:xfrm>
            <a:off x="1325880" y="2935224"/>
            <a:ext cx="7315200" cy="347472"/>
          </a:xfrm>
          <a:prstGeom prst="rect">
            <a:avLst/>
          </a:prstGeom>
          <a:noFill/>
          <a:ln/>
        </p:spPr>
        <p:txBody>
          <a:bodyPr wrap="square" lIns="0" tIns="0" rIns="0" bIns="0" rtlCol="0" anchor="ctr"/>
          <a:lstStyle/>
          <a:p>
            <a:pPr indent="0" marL="0">
              <a:buNone/>
            </a:pPr>
            <a:r>
              <a:rPr lang="en-US" sz="1600" b="1" dirty="0">
                <a:solidFill>
                  <a:srgbClr val="14342B"/>
                </a:solidFill>
                <a:latin typeface="Calibri" pitchFamily="34" charset="0"/>
                <a:ea typeface="Calibri" pitchFamily="34" charset="-122"/>
                <a:cs typeface="Calibri" pitchFamily="34" charset="-120"/>
              </a:rPr>
              <a:t>API Gateway con 12 rutas</a:t>
            </a:r>
            <a:endParaRPr lang="en-US" sz="1600" dirty="0"/>
          </a:p>
        </p:txBody>
      </p:sp>
      <p:sp>
        <p:nvSpPr>
          <p:cNvPr id="14" name="Text 9"/>
          <p:cNvSpPr txBox="1"/>
          <p:nvPr/>
        </p:nvSpPr>
        <p:spPr>
          <a:xfrm>
            <a:off x="1325880" y="3282696"/>
            <a:ext cx="7315200" cy="365760"/>
          </a:xfrm>
          <a:prstGeom prst="rect">
            <a:avLst/>
          </a:prstGeom>
          <a:noFill/>
          <a:ln/>
        </p:spPr>
        <p:txBody>
          <a:bodyPr wrap="square" lIns="0" tIns="0" rIns="0" bIns="0" rtlCol="0" anchor="t"/>
          <a:lstStyle/>
          <a:p>
            <a:pPr indent="0" marL="0">
              <a:buNone/>
            </a:pPr>
            <a:r>
              <a:rPr lang="en-US" sz="1300" dirty="0">
                <a:solidFill>
                  <a:srgbClr val="1F2A24"/>
                </a:solidFill>
                <a:latin typeface="Calibri" pitchFamily="34" charset="0"/>
                <a:ea typeface="Calibri" pitchFamily="34" charset="-122"/>
                <a:cs typeface="Calibri" pitchFamily="34" charset="-120"/>
              </a:rPr>
              <a:t>Rutas por microservicio: /api/estadisticas, /api/tickets, /api/admin y PATCH para cambiar estados</a:t>
            </a:r>
            <a:endParaRPr lang="en-US" sz="1300" dirty="0"/>
          </a:p>
        </p:txBody>
      </p:sp>
      <p:sp>
        <p:nvSpPr>
          <p:cNvPr id="15" name="Shape 10"/>
          <p:cNvSpPr/>
          <p:nvPr/>
        </p:nvSpPr>
        <p:spPr>
          <a:xfrm>
            <a:off x="502920" y="3877056"/>
            <a:ext cx="594360" cy="594360"/>
          </a:xfrm>
          <a:prstGeom prst="ellipse">
            <a:avLst/>
          </a:prstGeom>
          <a:solidFill>
            <a:srgbClr val="2D6A4F"/>
          </a:solidFill>
          <a:ln w="12700">
            <a:solidFill>
              <a:srgbClr val="2D6A4F"/>
            </a:solidFill>
            <a:prstDash val="solid"/>
          </a:ln>
        </p:spPr>
      </p:sp>
      <p:pic>
        <p:nvPicPr>
          <p:cNvPr id="16" name="Image 3" descr="preencoded.png">    </p:cNvPr>
          <p:cNvPicPr>
            <a:picLocks noChangeAspect="1"/>
          </p:cNvPicPr>
          <p:nvPr/>
        </p:nvPicPr>
        <p:blipFill>
          <a:blip r:embed="rId4"/>
          <a:stretch>
            <a:fillRect/>
          </a:stretch>
        </p:blipFill>
        <p:spPr>
          <a:xfrm>
            <a:off x="645566" y="4019702"/>
            <a:ext cx="309067" cy="309067"/>
          </a:xfrm>
          <a:prstGeom prst="rect">
            <a:avLst/>
          </a:prstGeom>
        </p:spPr>
      </p:pic>
      <p:sp>
        <p:nvSpPr>
          <p:cNvPr id="17" name="Text 11"/>
          <p:cNvSpPr txBox="1"/>
          <p:nvPr/>
        </p:nvSpPr>
        <p:spPr>
          <a:xfrm>
            <a:off x="1325880" y="3831336"/>
            <a:ext cx="7315200" cy="347472"/>
          </a:xfrm>
          <a:prstGeom prst="rect">
            <a:avLst/>
          </a:prstGeom>
          <a:noFill/>
          <a:ln/>
        </p:spPr>
        <p:txBody>
          <a:bodyPr wrap="square" lIns="0" tIns="0" rIns="0" bIns="0" rtlCol="0" anchor="ctr"/>
          <a:lstStyle/>
          <a:p>
            <a:pPr indent="0" marL="0">
              <a:buNone/>
            </a:pPr>
            <a:r>
              <a:rPr lang="en-US" sz="1600" b="1" dirty="0">
                <a:solidFill>
                  <a:srgbClr val="14342B"/>
                </a:solidFill>
                <a:latin typeface="Calibri" pitchFamily="34" charset="0"/>
                <a:ea typeface="Calibri" pitchFamily="34" charset="-122"/>
                <a:cs typeface="Calibri" pitchFamily="34" charset="-120"/>
              </a:rPr>
              <a:t>JWT validado en dos capas</a:t>
            </a:r>
            <a:endParaRPr lang="en-US" sz="1600" dirty="0"/>
          </a:p>
        </p:txBody>
      </p:sp>
      <p:sp>
        <p:nvSpPr>
          <p:cNvPr id="18" name="Text 12"/>
          <p:cNvSpPr txBox="1"/>
          <p:nvPr/>
        </p:nvSpPr>
        <p:spPr>
          <a:xfrm>
            <a:off x="1325880" y="4178808"/>
            <a:ext cx="7315200" cy="365760"/>
          </a:xfrm>
          <a:prstGeom prst="rect">
            <a:avLst/>
          </a:prstGeom>
          <a:noFill/>
          <a:ln/>
        </p:spPr>
        <p:txBody>
          <a:bodyPr wrap="square" lIns="0" tIns="0" rIns="0" bIns="0" rtlCol="0" anchor="t"/>
          <a:lstStyle/>
          <a:p>
            <a:pPr indent="0" marL="0">
              <a:buNone/>
            </a:pPr>
            <a:r>
              <a:rPr lang="en-US" sz="1300" dirty="0">
                <a:solidFill>
                  <a:srgbClr val="1F2A24"/>
                </a:solidFill>
                <a:latin typeface="Calibri" pitchFamily="34" charset="0"/>
                <a:ea typeface="Calibri" pitchFamily="34" charset="-122"/>
                <a:cs typeface="Calibri" pitchFamily="34" charset="-120"/>
              </a:rPr>
              <a:t>El authorizer verifica firma, issuer y audience (401); cada microservicio revalida y aplica roles (403)</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ítulo"/>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14342B"/>
                </a:solidFill>
                <a:latin typeface="Calibri" pitchFamily="34" charset="0"/>
                <a:ea typeface="Calibri" pitchFamily="34" charset="-122"/>
                <a:cs typeface="Calibri" pitchFamily="34" charset="-120"/>
              </a:rPr>
              <a:t>Exchanges, colas y DLQ</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11480" y="1097280"/>
          <a:ext cx="5029200" cy="914400"/>
        </p:xfrm>
        <a:graphic>
          <a:graphicData uri="http://schemas.openxmlformats.org/drawingml/2006/table">
            <a:tbl>
              <a:tblPr/>
              <a:tblGrid>
                <a:gridCol w="1417320"/>
                <a:gridCol w="1508760"/>
                <a:gridCol w="210312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Exchange</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14342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Routing key</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14342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Cola → consumidor</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14342B"/>
                    </a:solidFill>
                  </a:tcPr>
                </a:tc>
              </a:tr>
              <a:tr h="0">
                <a:tc>
                  <a:txBody>
                    <a:bodyPr/>
                    <a:lstStyle/>
                    <a:p>
                      <a:pPr indent="0" marL="0">
                        <a:buNone/>
                      </a:pPr>
                      <a:r>
                        <a:rPr lang="en-US" sz="1200" b="1" dirty="0">
                          <a:solidFill>
                            <a:srgbClr val="2D6A4F"/>
                          </a:solidFill>
                          <a:latin typeface="Calibri" pitchFamily="34" charset="0"/>
                          <a:ea typeface="Calibri" pitchFamily="34" charset="-122"/>
                          <a:cs typeface="Calibri" pitchFamily="34" charset="-120"/>
                        </a:rPr>
                        <a:t>ecopunto.events</a:t>
                      </a:r>
                      <a:endParaRPr lang="en-US" sz="1200" dirty="0">
                        <a:latin typeface="Calibri" charset="0"/>
                        <a:ea typeface="Calibri" charset="0"/>
                        <a:cs typeface="Calibri" charset="0"/>
                      </a:endParaRPr>
                    </a:p>
                    <a:p>
                      <a:pPr indent="0" marL="0">
                        <a:buNone/>
                      </a:pPr>
                      <a:r>
                        <a:rPr lang="en-US" sz="1200" b="1" dirty="0">
                          <a:solidFill>
                            <a:srgbClr val="2D6A4F"/>
                          </a:solidFill>
                          <a:latin typeface="Calibri" pitchFamily="34" charset="0"/>
                          <a:ea typeface="Calibri" pitchFamily="34" charset="-122"/>
                          <a:cs typeface="Calibri" pitchFamily="34" charset="-120"/>
                        </a:rPr>
                        <a:t>topic</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reporte.creado</a:t>
                      </a:r>
                      <a:endParaRPr lang="en-US" sz="1200" dirty="0">
                        <a:latin typeface="Calibri" charset="0"/>
                        <a:ea typeface="Calibri" charset="0"/>
                        <a:cs typeface="Calibri" charset="0"/>
                      </a:endParaRPr>
                    </a:p>
                    <a:p>
                      <a:pPr indent="0" marL="0">
                        <a:buNone/>
                      </a:pPr>
                      <a:r>
                        <a:rPr lang="en-US" sz="1200" dirty="0">
                          <a:solidFill>
                            <a:srgbClr val="1F2A24"/>
                          </a:solidFill>
                          <a:latin typeface="Calibri" pitchFamily="34" charset="0"/>
                          <a:ea typeface="Calibri" pitchFamily="34" charset="-122"/>
                          <a:cs typeface="Calibri" pitchFamily="34" charset="-120"/>
                        </a:rPr>
                        <a:t>reporte.resuelto</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notificaciones.reportes</a:t>
                      </a:r>
                      <a:endParaRPr lang="en-US" sz="1200" dirty="0">
                        <a:latin typeface="Calibri" charset="0"/>
                        <a:ea typeface="Calibri" charset="0"/>
                        <a:cs typeface="Calibri" charset="0"/>
                      </a:endParaRPr>
                    </a:p>
                    <a:p>
                      <a:pPr indent="0" marL="0">
                        <a:buNone/>
                      </a:pPr>
                      <a:r>
                        <a:rPr lang="en-US" sz="1200" dirty="0">
                          <a:solidFill>
                            <a:srgbClr val="1F2A24"/>
                          </a:solidFill>
                          <a:latin typeface="Calibri" pitchFamily="34" charset="0"/>
                          <a:ea typeface="Calibri" pitchFamily="34" charset="-122"/>
                          <a:cs typeface="Calibri" pitchFamily="34" charset="-120"/>
                        </a:rPr>
                        <a:t>→ ms-notificaciones</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2D6A4F"/>
                          </a:solidFill>
                          <a:latin typeface="Calibri" pitchFamily="34" charset="0"/>
                          <a:ea typeface="Calibri" pitchFamily="34" charset="-122"/>
                          <a:cs typeface="Calibri" pitchFamily="34" charset="-120"/>
                        </a:rPr>
                        <a:t>ecopunto.events</a:t>
                      </a:r>
                      <a:endParaRPr lang="en-US" sz="1200" dirty="0">
                        <a:latin typeface="Calibri" charset="0"/>
                        <a:ea typeface="Calibri" charset="0"/>
                        <a:cs typeface="Calibri" charset="0"/>
                      </a:endParaRPr>
                    </a:p>
                    <a:p>
                      <a:pPr indent="0" marL="0">
                        <a:buNone/>
                      </a:pPr>
                      <a:r>
                        <a:rPr lang="en-US" sz="1200" b="1" dirty="0">
                          <a:solidFill>
                            <a:srgbClr val="2D6A4F"/>
                          </a:solidFill>
                          <a:latin typeface="Calibri" pitchFamily="34" charset="0"/>
                          <a:ea typeface="Calibri" pitchFamily="34" charset="-122"/>
                          <a:cs typeface="Calibri" pitchFamily="34" charset="-120"/>
                        </a:rPr>
                        <a:t>topic</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reporte.*</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estadisticas.reportes</a:t>
                      </a:r>
                      <a:endParaRPr lang="en-US" sz="1200" dirty="0">
                        <a:latin typeface="Calibri" charset="0"/>
                        <a:ea typeface="Calibri" charset="0"/>
                        <a:cs typeface="Calibri" charset="0"/>
                      </a:endParaRPr>
                    </a:p>
                    <a:p>
                      <a:pPr indent="0" marL="0">
                        <a:buNone/>
                      </a:pPr>
                      <a:r>
                        <a:rPr lang="en-US" sz="1200" dirty="0">
                          <a:solidFill>
                            <a:srgbClr val="1F2A24"/>
                          </a:solidFill>
                          <a:latin typeface="Calibri" pitchFamily="34" charset="0"/>
                          <a:ea typeface="Calibri" pitchFamily="34" charset="-122"/>
                          <a:cs typeface="Calibri" pitchFamily="34" charset="-120"/>
                        </a:rPr>
                        <a:t>→ ms-estadisticas</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r>
              <a:tr h="0">
                <a:tc>
                  <a:txBody>
                    <a:bodyPr/>
                    <a:lstStyle/>
                    <a:p>
                      <a:pPr indent="0" marL="0">
                        <a:buNone/>
                      </a:pPr>
                      <a:r>
                        <a:rPr lang="en-US" sz="1200" b="1" dirty="0">
                          <a:solidFill>
                            <a:srgbClr val="F4A261"/>
                          </a:solidFill>
                          <a:latin typeface="Calibri" pitchFamily="34" charset="0"/>
                          <a:ea typeface="Calibri" pitchFamily="34" charset="-122"/>
                          <a:cs typeface="Calibri" pitchFamily="34" charset="-120"/>
                        </a:rPr>
                        <a:t>ecopunto.tareas</a:t>
                      </a:r>
                      <a:endParaRPr lang="en-US" sz="1200" dirty="0">
                        <a:latin typeface="Calibri" charset="0"/>
                        <a:ea typeface="Calibri" charset="0"/>
                        <a:cs typeface="Calibri" charset="0"/>
                      </a:endParaRPr>
                    </a:p>
                    <a:p>
                      <a:pPr indent="0" marL="0">
                        <a:buNone/>
                      </a:pPr>
                      <a:r>
                        <a:rPr lang="en-US" sz="1200" b="1" dirty="0">
                          <a:solidFill>
                            <a:srgbClr val="F4A261"/>
                          </a:solidFill>
                          <a:latin typeface="Calibri" pitchFamily="34" charset="0"/>
                          <a:ea typeface="Calibri" pitchFamily="34" charset="-122"/>
                          <a:cs typeface="Calibri" pitchFamily="34" charset="-120"/>
                        </a:rPr>
                        <a:t>direct</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ticket.mantencion</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tickets.mantencion</a:t>
                      </a:r>
                      <a:endParaRPr lang="en-US" sz="1200" dirty="0">
                        <a:latin typeface="Calibri" charset="0"/>
                        <a:ea typeface="Calibri" charset="0"/>
                        <a:cs typeface="Calibri" charset="0"/>
                      </a:endParaRPr>
                    </a:p>
                    <a:p>
                      <a:pPr indent="0" marL="0">
                        <a:buNone/>
                      </a:pPr>
                      <a:r>
                        <a:rPr lang="en-US" sz="1200" dirty="0">
                          <a:solidFill>
                            <a:srgbClr val="1F2A24"/>
                          </a:solidFill>
                          <a:latin typeface="Calibri" pitchFamily="34" charset="0"/>
                          <a:ea typeface="Calibri" pitchFamily="34" charset="-122"/>
                          <a:cs typeface="Calibri" pitchFamily="34" charset="-120"/>
                        </a:rPr>
                        <a:t>→ ms-tickets</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C0392B"/>
                          </a:solidFill>
                          <a:latin typeface="Calibri" pitchFamily="34" charset="0"/>
                          <a:ea typeface="Calibri" pitchFamily="34" charset="-122"/>
                          <a:cs typeface="Calibri" pitchFamily="34" charset="-120"/>
                        </a:rPr>
                        <a:t>ecopunto.dlx</a:t>
                      </a:r>
                      <a:endParaRPr lang="en-US" sz="1200" dirty="0">
                        <a:latin typeface="Calibri" charset="0"/>
                        <a:ea typeface="Calibri" charset="0"/>
                        <a:cs typeface="Calibri" charset="0"/>
                      </a:endParaRPr>
                    </a:p>
                    <a:p>
                      <a:pPr indent="0" marL="0">
                        <a:buNone/>
                      </a:pPr>
                      <a:r>
                        <a:rPr lang="en-US" sz="1200" b="1" dirty="0">
                          <a:solidFill>
                            <a:srgbClr val="C0392B"/>
                          </a:solidFill>
                          <a:latin typeface="Calibri" pitchFamily="34" charset="0"/>
                          <a:ea typeface="Calibri" pitchFamily="34" charset="-122"/>
                          <a:cs typeface="Calibri" pitchFamily="34" charset="-120"/>
                        </a:rPr>
                        <a:t>direct</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&lt;cola&gt;.dlq</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las 3 colas .dlq</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r>
            </a:tbl>
          </a:graphicData>
        </a:graphic>
      </p:graphicFrame>
      <p:sp>
        <p:nvSpPr>
          <p:cNvPr id="4" name="Shape 1"/>
          <p:cNvSpPr/>
          <p:nvPr/>
        </p:nvSpPr>
        <p:spPr>
          <a:xfrm>
            <a:off x="5669280" y="1097280"/>
            <a:ext cx="502920" cy="502920"/>
          </a:xfrm>
          <a:prstGeom prst="ellipse">
            <a:avLst/>
          </a:prstGeom>
          <a:solidFill>
            <a:srgbClr val="2D6A4F"/>
          </a:solidFill>
          <a:ln w="12700">
            <a:solidFill>
              <a:srgbClr val="2D6A4F"/>
            </a:solidFill>
            <a:prstDash val="solid"/>
          </a:ln>
        </p:spPr>
      </p:sp>
      <p:pic>
        <p:nvPicPr>
          <p:cNvPr id="5" name="Image 0" descr="preencoded.png">    </p:cNvPr>
          <p:cNvPicPr>
            <a:picLocks noChangeAspect="1"/>
          </p:cNvPicPr>
          <p:nvPr/>
        </p:nvPicPr>
        <p:blipFill>
          <a:blip r:embed="rId1"/>
          <a:stretch>
            <a:fillRect/>
          </a:stretch>
        </p:blipFill>
        <p:spPr>
          <a:xfrm>
            <a:off x="5789981" y="1217981"/>
            <a:ext cx="261518" cy="261518"/>
          </a:xfrm>
          <a:prstGeom prst="rect">
            <a:avLst/>
          </a:prstGeom>
        </p:spPr>
      </p:pic>
      <p:sp>
        <p:nvSpPr>
          <p:cNvPr id="6" name="Text 2"/>
          <p:cNvSpPr txBox="1"/>
          <p:nvPr/>
        </p:nvSpPr>
        <p:spPr>
          <a:xfrm>
            <a:off x="6309360" y="1078992"/>
            <a:ext cx="2423160" cy="320040"/>
          </a:xfrm>
          <a:prstGeom prst="rect">
            <a:avLst/>
          </a:prstGeom>
          <a:noFill/>
          <a:ln/>
        </p:spPr>
        <p:txBody>
          <a:bodyPr wrap="square" lIns="0" tIns="0" rIns="0" bIns="0" rtlCol="0" anchor="t"/>
          <a:lstStyle/>
          <a:p>
            <a:pPr indent="0" marL="0">
              <a:buNone/>
            </a:pPr>
            <a:r>
              <a:rPr lang="en-US" sz="1400" b="1" dirty="0">
                <a:solidFill>
                  <a:srgbClr val="14342B"/>
                </a:solidFill>
                <a:latin typeface="Calibri" pitchFamily="34" charset="0"/>
                <a:ea typeface="Calibri" pitchFamily="34" charset="-122"/>
                <a:cs typeface="Calibri" pitchFamily="34" charset="-120"/>
              </a:rPr>
              <a:t>Topic para hechos</a:t>
            </a:r>
            <a:endParaRPr lang="en-US" sz="1400" dirty="0"/>
          </a:p>
        </p:txBody>
      </p:sp>
      <p:sp>
        <p:nvSpPr>
          <p:cNvPr id="7" name="Text 3"/>
          <p:cNvSpPr txBox="1"/>
          <p:nvPr/>
        </p:nvSpPr>
        <p:spPr>
          <a:xfrm>
            <a:off x="6309360" y="1399032"/>
            <a:ext cx="2423160" cy="777240"/>
          </a:xfrm>
          <a:prstGeom prst="rect">
            <a:avLst/>
          </a:prstGeom>
          <a:noFill/>
          <a:ln/>
        </p:spPr>
        <p:txBody>
          <a:bodyPr wrap="square" lIns="0" tIns="0" rIns="0" bIns="0" rtlCol="0" anchor="t"/>
          <a:lstStyle/>
          <a:p>
            <a:pPr indent="0" marL="0">
              <a:buNone/>
            </a:pPr>
            <a:r>
              <a:rPr lang="en-US" sz="1100" dirty="0">
                <a:solidFill>
                  <a:srgbClr val="1F2A24"/>
                </a:solidFill>
                <a:latin typeface="Calibri" pitchFamily="34" charset="0"/>
                <a:ea typeface="Calibri" pitchFamily="34" charset="-122"/>
                <a:cs typeface="Calibri" pitchFamily="34" charset="-120"/>
              </a:rPr>
              <a:t>Un evento, varios interesados; cada consumidor se suscribe por patrón.</a:t>
            </a:r>
            <a:endParaRPr lang="en-US" sz="1100" dirty="0"/>
          </a:p>
        </p:txBody>
      </p:sp>
      <p:sp>
        <p:nvSpPr>
          <p:cNvPr id="8" name="Shape 4"/>
          <p:cNvSpPr/>
          <p:nvPr/>
        </p:nvSpPr>
        <p:spPr>
          <a:xfrm>
            <a:off x="5669280" y="2286000"/>
            <a:ext cx="502920" cy="502920"/>
          </a:xfrm>
          <a:prstGeom prst="ellipse">
            <a:avLst/>
          </a:prstGeom>
          <a:solidFill>
            <a:srgbClr val="F4A261"/>
          </a:solidFill>
          <a:ln w="12700">
            <a:solidFill>
              <a:srgbClr val="F4A261"/>
            </a:solidFill>
            <a:prstDash val="solid"/>
          </a:ln>
        </p:spPr>
      </p:sp>
      <p:pic>
        <p:nvPicPr>
          <p:cNvPr id="9" name="Image 1" descr="preencoded.png">    </p:cNvPr>
          <p:cNvPicPr>
            <a:picLocks noChangeAspect="1"/>
          </p:cNvPicPr>
          <p:nvPr/>
        </p:nvPicPr>
        <p:blipFill>
          <a:blip r:embed="rId2"/>
          <a:stretch>
            <a:fillRect/>
          </a:stretch>
        </p:blipFill>
        <p:spPr>
          <a:xfrm>
            <a:off x="5789981" y="2406701"/>
            <a:ext cx="261518" cy="261518"/>
          </a:xfrm>
          <a:prstGeom prst="rect">
            <a:avLst/>
          </a:prstGeom>
        </p:spPr>
      </p:pic>
      <p:sp>
        <p:nvSpPr>
          <p:cNvPr id="10" name="Text 5"/>
          <p:cNvSpPr txBox="1"/>
          <p:nvPr/>
        </p:nvSpPr>
        <p:spPr>
          <a:xfrm>
            <a:off x="6309360" y="2267712"/>
            <a:ext cx="2423160" cy="320040"/>
          </a:xfrm>
          <a:prstGeom prst="rect">
            <a:avLst/>
          </a:prstGeom>
          <a:noFill/>
          <a:ln/>
        </p:spPr>
        <p:txBody>
          <a:bodyPr wrap="square" lIns="0" tIns="0" rIns="0" bIns="0" rtlCol="0" anchor="t"/>
          <a:lstStyle/>
          <a:p>
            <a:pPr indent="0" marL="0">
              <a:buNone/>
            </a:pPr>
            <a:r>
              <a:rPr lang="en-US" sz="1400" b="1" dirty="0">
                <a:solidFill>
                  <a:srgbClr val="14342B"/>
                </a:solidFill>
                <a:latin typeface="Calibri" pitchFamily="34" charset="0"/>
                <a:ea typeface="Calibri" pitchFamily="34" charset="-122"/>
                <a:cs typeface="Calibri" pitchFamily="34" charset="-120"/>
              </a:rPr>
              <a:t>Direct para tareas</a:t>
            </a:r>
            <a:endParaRPr lang="en-US" sz="1400" dirty="0"/>
          </a:p>
        </p:txBody>
      </p:sp>
      <p:sp>
        <p:nvSpPr>
          <p:cNvPr id="11" name="Text 6"/>
          <p:cNvSpPr txBox="1"/>
          <p:nvPr/>
        </p:nvSpPr>
        <p:spPr>
          <a:xfrm>
            <a:off x="6309360" y="2587752"/>
            <a:ext cx="2423160" cy="777240"/>
          </a:xfrm>
          <a:prstGeom prst="rect">
            <a:avLst/>
          </a:prstGeom>
          <a:noFill/>
          <a:ln/>
        </p:spPr>
        <p:txBody>
          <a:bodyPr wrap="square" lIns="0" tIns="0" rIns="0" bIns="0" rtlCol="0" anchor="t"/>
          <a:lstStyle/>
          <a:p>
            <a:pPr indent="0" marL="0">
              <a:buNone/>
            </a:pPr>
            <a:r>
              <a:rPr lang="en-US" sz="1100" dirty="0">
                <a:solidFill>
                  <a:srgbClr val="1F2A24"/>
                </a:solidFill>
                <a:latin typeface="Calibri" pitchFamily="34" charset="0"/>
                <a:ea typeface="Calibri" pitchFamily="34" charset="-122"/>
                <a:cs typeface="Calibri" pitchFamily="34" charset="-120"/>
              </a:rPr>
              <a:t>Una orden para un único trabajador, con coincidencia exacta.</a:t>
            </a:r>
            <a:endParaRPr lang="en-US" sz="1100" dirty="0"/>
          </a:p>
        </p:txBody>
      </p:sp>
      <p:sp>
        <p:nvSpPr>
          <p:cNvPr id="12" name="Shape 7"/>
          <p:cNvSpPr/>
          <p:nvPr/>
        </p:nvSpPr>
        <p:spPr>
          <a:xfrm>
            <a:off x="5669280" y="3474720"/>
            <a:ext cx="502920" cy="502920"/>
          </a:xfrm>
          <a:prstGeom prst="ellipse">
            <a:avLst/>
          </a:prstGeom>
          <a:solidFill>
            <a:srgbClr val="C0392B"/>
          </a:solidFill>
          <a:ln w="12700">
            <a:solidFill>
              <a:srgbClr val="C0392B"/>
            </a:solidFill>
            <a:prstDash val="solid"/>
          </a:ln>
        </p:spPr>
      </p:sp>
      <p:pic>
        <p:nvPicPr>
          <p:cNvPr id="13" name="Image 2" descr="preencoded.png">    </p:cNvPr>
          <p:cNvPicPr>
            <a:picLocks noChangeAspect="1"/>
          </p:cNvPicPr>
          <p:nvPr/>
        </p:nvPicPr>
        <p:blipFill>
          <a:blip r:embed="rId3"/>
          <a:stretch>
            <a:fillRect/>
          </a:stretch>
        </p:blipFill>
        <p:spPr>
          <a:xfrm>
            <a:off x="5789981" y="3595421"/>
            <a:ext cx="261518" cy="261518"/>
          </a:xfrm>
          <a:prstGeom prst="rect">
            <a:avLst/>
          </a:prstGeom>
        </p:spPr>
      </p:pic>
      <p:sp>
        <p:nvSpPr>
          <p:cNvPr id="14" name="Text 8"/>
          <p:cNvSpPr txBox="1"/>
          <p:nvPr/>
        </p:nvSpPr>
        <p:spPr>
          <a:xfrm>
            <a:off x="6309360" y="3456432"/>
            <a:ext cx="2423160" cy="320040"/>
          </a:xfrm>
          <a:prstGeom prst="rect">
            <a:avLst/>
          </a:prstGeom>
          <a:noFill/>
          <a:ln/>
        </p:spPr>
        <p:txBody>
          <a:bodyPr wrap="square" lIns="0" tIns="0" rIns="0" bIns="0" rtlCol="0" anchor="t"/>
          <a:lstStyle/>
          <a:p>
            <a:pPr indent="0" marL="0">
              <a:buNone/>
            </a:pPr>
            <a:r>
              <a:rPr lang="en-US" sz="1400" b="1" dirty="0">
                <a:solidFill>
                  <a:srgbClr val="14342B"/>
                </a:solidFill>
                <a:latin typeface="Calibri" pitchFamily="34" charset="0"/>
                <a:ea typeface="Calibri" pitchFamily="34" charset="-122"/>
                <a:cs typeface="Calibri" pitchFamily="34" charset="-120"/>
              </a:rPr>
              <a:t>Una DLQ por cola</a:t>
            </a:r>
            <a:endParaRPr lang="en-US" sz="1400" dirty="0"/>
          </a:p>
        </p:txBody>
      </p:sp>
      <p:sp>
        <p:nvSpPr>
          <p:cNvPr id="15" name="Text 9"/>
          <p:cNvSpPr txBox="1"/>
          <p:nvPr/>
        </p:nvSpPr>
        <p:spPr>
          <a:xfrm>
            <a:off x="6309360" y="3776472"/>
            <a:ext cx="2423160" cy="777240"/>
          </a:xfrm>
          <a:prstGeom prst="rect">
            <a:avLst/>
          </a:prstGeom>
          <a:noFill/>
          <a:ln/>
        </p:spPr>
        <p:txBody>
          <a:bodyPr wrap="square" lIns="0" tIns="0" rIns="0" bIns="0" rtlCol="0" anchor="t"/>
          <a:lstStyle/>
          <a:p>
            <a:pPr indent="0" marL="0">
              <a:buNone/>
            </a:pPr>
            <a:r>
              <a:rPr lang="en-US" sz="1100" dirty="0">
                <a:solidFill>
                  <a:srgbClr val="1F2A24"/>
                </a:solidFill>
                <a:latin typeface="Calibri" pitchFamily="34" charset="0"/>
                <a:ea typeface="Calibri" pitchFamily="34" charset="-122"/>
                <a:cs typeface="Calibri" pitchFamily="34" charset="-120"/>
              </a:rPr>
              <a:t>x-dead-letter-exchange envía los fallidos a su .dlq para revisarlos.</a:t>
            </a:r>
            <a:endParaRPr lang="en-US" sz="1100" dirty="0"/>
          </a:p>
        </p:txBody>
      </p:sp>
      <p:sp>
        <p:nvSpPr>
          <p:cNvPr id="16" name="Text 10"/>
          <p:cNvSpPr txBox="1"/>
          <p:nvPr/>
        </p:nvSpPr>
        <p:spPr>
          <a:xfrm>
            <a:off x="411480" y="4434840"/>
            <a:ext cx="8321040" cy="411480"/>
          </a:xfrm>
          <a:prstGeom prst="rect">
            <a:avLst/>
          </a:prstGeom>
          <a:noFill/>
          <a:ln/>
        </p:spPr>
        <p:txBody>
          <a:bodyPr wrap="square" lIns="0" tIns="0" rIns="0" bIns="0" rtlCol="0" anchor="t"/>
          <a:lstStyle/>
          <a:p>
            <a:pPr indent="0" marL="0">
              <a:buNone/>
            </a:pPr>
            <a:r>
              <a:rPr lang="en-US" sz="1100" dirty="0">
                <a:solidFill>
                  <a:srgbClr val="5C6B63"/>
                </a:solidFill>
                <a:latin typeface="Calibri" pitchFamily="34" charset="0"/>
                <a:ea typeface="Calibri" pitchFamily="34" charset="-122"/>
                <a:cs typeface="Calibri" pitchFamily="34" charset="-120"/>
              </a:rPr>
              <a:t>Nombres centralizados en application.yml (MessagingProperties) y beans Queue, Exchange y Binding en una sola RabbitMQConfig por servicio.</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ítulo"/>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14342B"/>
                </a:solidFill>
                <a:latin typeface="Calibri" pitchFamily="34" charset="0"/>
                <a:ea typeface="Calibri" pitchFamily="34" charset="-122"/>
                <a:cs typeface="Calibri" pitchFamily="34" charset="-120"/>
              </a:rPr>
              <a:t>Flujo de un reporte</a:t>
            </a:r>
            <a:endParaRPr lang="en-US" sz="3000" dirty="0"/>
          </a:p>
        </p:txBody>
      </p:sp>
      <p:sp>
        <p:nvSpPr>
          <p:cNvPr id="3" name="Shape 1"/>
          <p:cNvSpPr/>
          <p:nvPr/>
        </p:nvSpPr>
        <p:spPr>
          <a:xfrm>
            <a:off x="886968" y="1234440"/>
            <a:ext cx="548640" cy="548640"/>
          </a:xfrm>
          <a:prstGeom prst="ellipse">
            <a:avLst/>
          </a:prstGeom>
          <a:solidFill>
            <a:srgbClr val="2D6A4F"/>
          </a:solidFill>
          <a:ln w="12700">
            <a:solidFill>
              <a:srgbClr val="2D6A4F"/>
            </a:solidFill>
            <a:prstDash val="solid"/>
          </a:ln>
        </p:spPr>
      </p:sp>
      <p:sp>
        <p:nvSpPr>
          <p:cNvPr id="4" name="Text 2"/>
          <p:cNvSpPr txBox="1"/>
          <p:nvPr/>
        </p:nvSpPr>
        <p:spPr>
          <a:xfrm>
            <a:off x="886968" y="1234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5" name="Shape 3"/>
          <p:cNvSpPr/>
          <p:nvPr/>
        </p:nvSpPr>
        <p:spPr>
          <a:xfrm>
            <a:off x="1508760" y="1508760"/>
            <a:ext cx="1005840" cy="0"/>
          </a:xfrm>
          <a:prstGeom prst="line">
            <a:avLst/>
          </a:prstGeom>
          <a:noFill/>
          <a:ln w="19050">
            <a:solidFill>
              <a:srgbClr val="B7D9C6"/>
            </a:solidFill>
            <a:prstDash val="solid"/>
          </a:ln>
        </p:spPr>
      </p:sp>
      <p:sp>
        <p:nvSpPr>
          <p:cNvPr id="6" name="Text 4"/>
          <p:cNvSpPr txBox="1"/>
          <p:nvPr/>
        </p:nvSpPr>
        <p:spPr>
          <a:xfrm>
            <a:off x="411480" y="1920240"/>
            <a:ext cx="1508760" cy="320040"/>
          </a:xfrm>
          <a:prstGeom prst="rect">
            <a:avLst/>
          </a:prstGeom>
          <a:noFill/>
          <a:ln/>
        </p:spPr>
        <p:txBody>
          <a:bodyPr wrap="square" lIns="0" tIns="0" rIns="0" bIns="0" rtlCol="0" anchor="t"/>
          <a:lstStyle/>
          <a:p>
            <a:pPr algn="ctr" indent="0" marL="0">
              <a:buNone/>
            </a:pPr>
            <a:r>
              <a:rPr lang="en-US" sz="1400" b="1" dirty="0">
                <a:solidFill>
                  <a:srgbClr val="14342B"/>
                </a:solidFill>
                <a:latin typeface="Calibri" pitchFamily="34" charset="0"/>
                <a:ea typeface="Calibri" pitchFamily="34" charset="-122"/>
                <a:cs typeface="Calibri" pitchFamily="34" charset="-120"/>
              </a:rPr>
              <a:t>Crear reporte</a:t>
            </a:r>
            <a:endParaRPr lang="en-US" sz="1400" dirty="0"/>
          </a:p>
        </p:txBody>
      </p:sp>
      <p:sp>
        <p:nvSpPr>
          <p:cNvPr id="7" name="Text 5"/>
          <p:cNvSpPr txBox="1"/>
          <p:nvPr/>
        </p:nvSpPr>
        <p:spPr>
          <a:xfrm>
            <a:off x="411480" y="2240280"/>
            <a:ext cx="1508760" cy="1097280"/>
          </a:xfrm>
          <a:prstGeom prst="rect">
            <a:avLst/>
          </a:prstGeom>
          <a:noFill/>
          <a:ln/>
        </p:spPr>
        <p:txBody>
          <a:bodyPr wrap="square" lIns="0" tIns="0" rIns="0" bIns="0" rtlCol="0" anchor="t"/>
          <a:lstStyle/>
          <a:p>
            <a:pPr algn="ctr" indent="0" marL="0">
              <a:buNone/>
            </a:pPr>
            <a:r>
              <a:rPr lang="en-US" sz="1100" dirty="0">
                <a:solidFill>
                  <a:srgbClr val="1F2A24"/>
                </a:solidFill>
                <a:latin typeface="Calibri" pitchFamily="34" charset="0"/>
                <a:ea typeface="Calibri" pitchFamily="34" charset="-122"/>
                <a:cs typeface="Calibri" pitchFamily="34" charset="-120"/>
              </a:rPr>
              <a:t>El vecino envía el reporte; el backend lo guarda y responde 201 sin esperar a nadie.</a:t>
            </a:r>
            <a:endParaRPr lang="en-US" sz="1100" dirty="0"/>
          </a:p>
        </p:txBody>
      </p:sp>
      <p:sp>
        <p:nvSpPr>
          <p:cNvPr id="8" name="Shape 6"/>
          <p:cNvSpPr/>
          <p:nvPr/>
        </p:nvSpPr>
        <p:spPr>
          <a:xfrm>
            <a:off x="2587752" y="1234440"/>
            <a:ext cx="548640" cy="548640"/>
          </a:xfrm>
          <a:prstGeom prst="ellipse">
            <a:avLst/>
          </a:prstGeom>
          <a:solidFill>
            <a:srgbClr val="2D6A4F"/>
          </a:solidFill>
          <a:ln w="12700">
            <a:solidFill>
              <a:srgbClr val="2D6A4F"/>
            </a:solidFill>
            <a:prstDash val="solid"/>
          </a:ln>
        </p:spPr>
      </p:sp>
      <p:sp>
        <p:nvSpPr>
          <p:cNvPr id="9" name="Text 7"/>
          <p:cNvSpPr txBox="1"/>
          <p:nvPr/>
        </p:nvSpPr>
        <p:spPr>
          <a:xfrm>
            <a:off x="2587752" y="1234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Shape 8"/>
          <p:cNvSpPr/>
          <p:nvPr/>
        </p:nvSpPr>
        <p:spPr>
          <a:xfrm>
            <a:off x="3209544" y="1508760"/>
            <a:ext cx="1005840" cy="0"/>
          </a:xfrm>
          <a:prstGeom prst="line">
            <a:avLst/>
          </a:prstGeom>
          <a:noFill/>
          <a:ln w="19050">
            <a:solidFill>
              <a:srgbClr val="B7D9C6"/>
            </a:solidFill>
            <a:prstDash val="solid"/>
          </a:ln>
        </p:spPr>
      </p:sp>
      <p:sp>
        <p:nvSpPr>
          <p:cNvPr id="11" name="Text 9"/>
          <p:cNvSpPr txBox="1"/>
          <p:nvPr/>
        </p:nvSpPr>
        <p:spPr>
          <a:xfrm>
            <a:off x="2112264" y="1920240"/>
            <a:ext cx="1508760" cy="320040"/>
          </a:xfrm>
          <a:prstGeom prst="rect">
            <a:avLst/>
          </a:prstGeom>
          <a:noFill/>
          <a:ln/>
        </p:spPr>
        <p:txBody>
          <a:bodyPr wrap="square" lIns="0" tIns="0" rIns="0" bIns="0" rtlCol="0" anchor="t"/>
          <a:lstStyle/>
          <a:p>
            <a:pPr algn="ctr" indent="0" marL="0">
              <a:buNone/>
            </a:pPr>
            <a:r>
              <a:rPr lang="en-US" sz="1400" b="1" dirty="0">
                <a:solidFill>
                  <a:srgbClr val="14342B"/>
                </a:solidFill>
                <a:latin typeface="Calibri" pitchFamily="34" charset="0"/>
                <a:ea typeface="Calibri" pitchFamily="34" charset="-122"/>
                <a:cs typeface="Calibri" pitchFamily="34" charset="-120"/>
              </a:rPr>
              <a:t>Publicar evento</a:t>
            </a:r>
            <a:endParaRPr lang="en-US" sz="1400" dirty="0"/>
          </a:p>
        </p:txBody>
      </p:sp>
      <p:sp>
        <p:nvSpPr>
          <p:cNvPr id="12" name="Text 10"/>
          <p:cNvSpPr txBox="1"/>
          <p:nvPr/>
        </p:nvSpPr>
        <p:spPr>
          <a:xfrm>
            <a:off x="2112264" y="2240280"/>
            <a:ext cx="1508760" cy="1097280"/>
          </a:xfrm>
          <a:prstGeom prst="rect">
            <a:avLst/>
          </a:prstGeom>
          <a:noFill/>
          <a:ln/>
        </p:spPr>
        <p:txBody>
          <a:bodyPr wrap="square" lIns="0" tIns="0" rIns="0" bIns="0" rtlCol="0" anchor="t"/>
          <a:lstStyle/>
          <a:p>
            <a:pPr algn="ctr" indent="0" marL="0">
              <a:buNone/>
            </a:pPr>
            <a:r>
              <a:rPr lang="en-US" sz="1100" dirty="0">
                <a:solidFill>
                  <a:srgbClr val="1F2A24"/>
                </a:solidFill>
                <a:latin typeface="Calibri" pitchFamily="34" charset="0"/>
                <a:ea typeface="Calibri" pitchFamily="34" charset="-122"/>
                <a:cs typeface="Calibri" pitchFamily="34" charset="-120"/>
              </a:rPr>
              <a:t>reporte.creado sale recién después del commit, con publisher confirms.</a:t>
            </a:r>
            <a:endParaRPr lang="en-US" sz="1100" dirty="0"/>
          </a:p>
        </p:txBody>
      </p:sp>
      <p:sp>
        <p:nvSpPr>
          <p:cNvPr id="13" name="Shape 11"/>
          <p:cNvSpPr/>
          <p:nvPr/>
        </p:nvSpPr>
        <p:spPr>
          <a:xfrm>
            <a:off x="4288536" y="1234440"/>
            <a:ext cx="548640" cy="548640"/>
          </a:xfrm>
          <a:prstGeom prst="ellipse">
            <a:avLst/>
          </a:prstGeom>
          <a:solidFill>
            <a:srgbClr val="2D6A4F"/>
          </a:solidFill>
          <a:ln w="12700">
            <a:solidFill>
              <a:srgbClr val="2D6A4F"/>
            </a:solidFill>
            <a:prstDash val="solid"/>
          </a:ln>
        </p:spPr>
      </p:sp>
      <p:sp>
        <p:nvSpPr>
          <p:cNvPr id="14" name="Text 12"/>
          <p:cNvSpPr txBox="1"/>
          <p:nvPr/>
        </p:nvSpPr>
        <p:spPr>
          <a:xfrm>
            <a:off x="4288536" y="1234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5" name="Shape 13"/>
          <p:cNvSpPr/>
          <p:nvPr/>
        </p:nvSpPr>
        <p:spPr>
          <a:xfrm>
            <a:off x="4910328" y="1508760"/>
            <a:ext cx="1005840" cy="0"/>
          </a:xfrm>
          <a:prstGeom prst="line">
            <a:avLst/>
          </a:prstGeom>
          <a:noFill/>
          <a:ln w="19050">
            <a:solidFill>
              <a:srgbClr val="B7D9C6"/>
            </a:solidFill>
            <a:prstDash val="solid"/>
          </a:ln>
        </p:spPr>
      </p:sp>
      <p:sp>
        <p:nvSpPr>
          <p:cNvPr id="16" name="Text 14"/>
          <p:cNvSpPr txBox="1"/>
          <p:nvPr/>
        </p:nvSpPr>
        <p:spPr>
          <a:xfrm>
            <a:off x="3813048" y="1920240"/>
            <a:ext cx="1508760" cy="320040"/>
          </a:xfrm>
          <a:prstGeom prst="rect">
            <a:avLst/>
          </a:prstGeom>
          <a:noFill/>
          <a:ln/>
        </p:spPr>
        <p:txBody>
          <a:bodyPr wrap="square" lIns="0" tIns="0" rIns="0" bIns="0" rtlCol="0" anchor="t"/>
          <a:lstStyle/>
          <a:p>
            <a:pPr algn="ctr" indent="0" marL="0">
              <a:buNone/>
            </a:pPr>
            <a:r>
              <a:rPr lang="en-US" sz="1400" b="1" dirty="0">
                <a:solidFill>
                  <a:srgbClr val="14342B"/>
                </a:solidFill>
                <a:latin typeface="Calibri" pitchFamily="34" charset="0"/>
                <a:ea typeface="Calibri" pitchFamily="34" charset="-122"/>
                <a:cs typeface="Calibri" pitchFamily="34" charset="-120"/>
              </a:rPr>
              <a:t>Topic reparte</a:t>
            </a:r>
            <a:endParaRPr lang="en-US" sz="1400" dirty="0"/>
          </a:p>
        </p:txBody>
      </p:sp>
      <p:sp>
        <p:nvSpPr>
          <p:cNvPr id="17" name="Text 15"/>
          <p:cNvSpPr txBox="1"/>
          <p:nvPr/>
        </p:nvSpPr>
        <p:spPr>
          <a:xfrm>
            <a:off x="3813048" y="2240280"/>
            <a:ext cx="1508760" cy="1097280"/>
          </a:xfrm>
          <a:prstGeom prst="rect">
            <a:avLst/>
          </a:prstGeom>
          <a:noFill/>
          <a:ln/>
        </p:spPr>
        <p:txBody>
          <a:bodyPr wrap="square" lIns="0" tIns="0" rIns="0" bIns="0" rtlCol="0" anchor="t"/>
          <a:lstStyle/>
          <a:p>
            <a:pPr algn="ctr" indent="0" marL="0">
              <a:buNone/>
            </a:pPr>
            <a:r>
              <a:rPr lang="en-US" sz="1100" dirty="0">
                <a:solidFill>
                  <a:srgbClr val="1F2A24"/>
                </a:solidFill>
                <a:latin typeface="Calibri" pitchFamily="34" charset="0"/>
                <a:ea typeface="Calibri" pitchFamily="34" charset="-122"/>
                <a:cs typeface="Calibri" pitchFamily="34" charset="-120"/>
              </a:rPr>
              <a:t>Notificaciones avisa a los encargados y estadísticas suma los contadores.</a:t>
            </a:r>
            <a:endParaRPr lang="en-US" sz="1100" dirty="0"/>
          </a:p>
        </p:txBody>
      </p:sp>
      <p:sp>
        <p:nvSpPr>
          <p:cNvPr id="18" name="Shape 16"/>
          <p:cNvSpPr/>
          <p:nvPr/>
        </p:nvSpPr>
        <p:spPr>
          <a:xfrm>
            <a:off x="5989320" y="1234440"/>
            <a:ext cx="548640" cy="548640"/>
          </a:xfrm>
          <a:prstGeom prst="ellipse">
            <a:avLst/>
          </a:prstGeom>
          <a:solidFill>
            <a:srgbClr val="2D6A4F"/>
          </a:solidFill>
          <a:ln w="12700">
            <a:solidFill>
              <a:srgbClr val="2D6A4F"/>
            </a:solidFill>
            <a:prstDash val="solid"/>
          </a:ln>
        </p:spPr>
      </p:sp>
      <p:sp>
        <p:nvSpPr>
          <p:cNvPr id="19" name="Text 17"/>
          <p:cNvSpPr txBox="1"/>
          <p:nvPr/>
        </p:nvSpPr>
        <p:spPr>
          <a:xfrm>
            <a:off x="5989320" y="1234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0" name="Shape 18"/>
          <p:cNvSpPr/>
          <p:nvPr/>
        </p:nvSpPr>
        <p:spPr>
          <a:xfrm>
            <a:off x="6611112" y="1508760"/>
            <a:ext cx="1005840" cy="0"/>
          </a:xfrm>
          <a:prstGeom prst="line">
            <a:avLst/>
          </a:prstGeom>
          <a:noFill/>
          <a:ln w="19050">
            <a:solidFill>
              <a:srgbClr val="B7D9C6"/>
            </a:solidFill>
            <a:prstDash val="solid"/>
          </a:ln>
        </p:spPr>
      </p:sp>
      <p:sp>
        <p:nvSpPr>
          <p:cNvPr id="21" name="Text 19"/>
          <p:cNvSpPr txBox="1"/>
          <p:nvPr/>
        </p:nvSpPr>
        <p:spPr>
          <a:xfrm>
            <a:off x="5513832" y="1920240"/>
            <a:ext cx="1508760" cy="320040"/>
          </a:xfrm>
          <a:prstGeom prst="rect">
            <a:avLst/>
          </a:prstGeom>
          <a:noFill/>
          <a:ln/>
        </p:spPr>
        <p:txBody>
          <a:bodyPr wrap="square" lIns="0" tIns="0" rIns="0" bIns="0" rtlCol="0" anchor="t"/>
          <a:lstStyle/>
          <a:p>
            <a:pPr algn="ctr" indent="0" marL="0">
              <a:buNone/>
            </a:pPr>
            <a:r>
              <a:rPr lang="en-US" sz="1400" b="1" dirty="0">
                <a:solidFill>
                  <a:srgbClr val="14342B"/>
                </a:solidFill>
                <a:latin typeface="Calibri" pitchFamily="34" charset="0"/>
                <a:ea typeface="Calibri" pitchFamily="34" charset="-122"/>
                <a:cs typeface="Calibri" pitchFamily="34" charset="-120"/>
              </a:rPr>
              <a:t>Pasar a revisión</a:t>
            </a:r>
            <a:endParaRPr lang="en-US" sz="1400" dirty="0"/>
          </a:p>
        </p:txBody>
      </p:sp>
      <p:sp>
        <p:nvSpPr>
          <p:cNvPr id="22" name="Text 20"/>
          <p:cNvSpPr txBox="1"/>
          <p:nvPr/>
        </p:nvSpPr>
        <p:spPr>
          <a:xfrm>
            <a:off x="5513832" y="2240280"/>
            <a:ext cx="1508760" cy="1097280"/>
          </a:xfrm>
          <a:prstGeom prst="rect">
            <a:avLst/>
          </a:prstGeom>
          <a:noFill/>
          <a:ln/>
        </p:spPr>
        <p:txBody>
          <a:bodyPr wrap="square" lIns="0" tIns="0" rIns="0" bIns="0" rtlCol="0" anchor="t"/>
          <a:lstStyle/>
          <a:p>
            <a:pPr algn="ctr" indent="0" marL="0">
              <a:buNone/>
            </a:pPr>
            <a:r>
              <a:rPr lang="en-US" sz="1100" dirty="0">
                <a:solidFill>
                  <a:srgbClr val="1F2A24"/>
                </a:solidFill>
                <a:latin typeface="Calibri" pitchFamily="34" charset="0"/>
                <a:ea typeface="Calibri" pitchFamily="34" charset="-122"/>
                <a:cs typeface="Calibri" pitchFamily="34" charset="-120"/>
              </a:rPr>
              <a:t>El encargado cambia el estado y se envía ticket.mantencion por el exchange direct.</a:t>
            </a:r>
            <a:endParaRPr lang="en-US" sz="1100" dirty="0"/>
          </a:p>
        </p:txBody>
      </p:sp>
      <p:sp>
        <p:nvSpPr>
          <p:cNvPr id="23" name="Shape 21"/>
          <p:cNvSpPr/>
          <p:nvPr/>
        </p:nvSpPr>
        <p:spPr>
          <a:xfrm>
            <a:off x="7690104" y="1234440"/>
            <a:ext cx="548640" cy="548640"/>
          </a:xfrm>
          <a:prstGeom prst="ellipse">
            <a:avLst/>
          </a:prstGeom>
          <a:solidFill>
            <a:srgbClr val="F4A261"/>
          </a:solidFill>
          <a:ln w="12700">
            <a:solidFill>
              <a:srgbClr val="F4A261"/>
            </a:solidFill>
            <a:prstDash val="solid"/>
          </a:ln>
        </p:spPr>
      </p:sp>
      <p:sp>
        <p:nvSpPr>
          <p:cNvPr id="24" name="Text 22"/>
          <p:cNvSpPr txBox="1"/>
          <p:nvPr/>
        </p:nvSpPr>
        <p:spPr>
          <a:xfrm>
            <a:off x="7690104" y="1234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25" name="Text 23"/>
          <p:cNvSpPr txBox="1"/>
          <p:nvPr/>
        </p:nvSpPr>
        <p:spPr>
          <a:xfrm>
            <a:off x="7214616" y="1920240"/>
            <a:ext cx="1508760" cy="320040"/>
          </a:xfrm>
          <a:prstGeom prst="rect">
            <a:avLst/>
          </a:prstGeom>
          <a:noFill/>
          <a:ln/>
        </p:spPr>
        <p:txBody>
          <a:bodyPr wrap="square" lIns="0" tIns="0" rIns="0" bIns="0" rtlCol="0" anchor="t"/>
          <a:lstStyle/>
          <a:p>
            <a:pPr algn="ctr" indent="0" marL="0">
              <a:buNone/>
            </a:pPr>
            <a:r>
              <a:rPr lang="en-US" sz="1400" b="1" dirty="0">
                <a:solidFill>
                  <a:srgbClr val="14342B"/>
                </a:solidFill>
                <a:latin typeface="Calibri" pitchFamily="34" charset="0"/>
                <a:ea typeface="Calibri" pitchFamily="34" charset="-122"/>
                <a:cs typeface="Calibri" pitchFamily="34" charset="-120"/>
              </a:rPr>
              <a:t>Ticket y cierre</a:t>
            </a:r>
            <a:endParaRPr lang="en-US" sz="1400" dirty="0"/>
          </a:p>
        </p:txBody>
      </p:sp>
      <p:sp>
        <p:nvSpPr>
          <p:cNvPr id="26" name="Text 24"/>
          <p:cNvSpPr txBox="1"/>
          <p:nvPr/>
        </p:nvSpPr>
        <p:spPr>
          <a:xfrm>
            <a:off x="7214616" y="2240280"/>
            <a:ext cx="1508760" cy="1097280"/>
          </a:xfrm>
          <a:prstGeom prst="rect">
            <a:avLst/>
          </a:prstGeom>
          <a:noFill/>
          <a:ln/>
        </p:spPr>
        <p:txBody>
          <a:bodyPr wrap="square" lIns="0" tIns="0" rIns="0" bIns="0" rtlCol="0" anchor="t"/>
          <a:lstStyle/>
          <a:p>
            <a:pPr algn="ctr" indent="0" marL="0">
              <a:buNone/>
            </a:pPr>
            <a:r>
              <a:rPr lang="en-US" sz="1100" dirty="0">
                <a:solidFill>
                  <a:srgbClr val="1F2A24"/>
                </a:solidFill>
                <a:latin typeface="Calibri" pitchFamily="34" charset="0"/>
                <a:ea typeface="Calibri" pitchFamily="34" charset="-122"/>
                <a:cs typeface="Calibri" pitchFamily="34" charset="-120"/>
              </a:rPr>
              <a:t>ms-tickets crea el ticket TK-…; al marcarlo resuelto se avisa al vecino.</a:t>
            </a:r>
            <a:endParaRPr lang="en-US" sz="1100" dirty="0"/>
          </a:p>
        </p:txBody>
      </p:sp>
      <p:sp>
        <p:nvSpPr>
          <p:cNvPr id="27" name="Shape 25"/>
          <p:cNvSpPr/>
          <p:nvPr/>
        </p:nvSpPr>
        <p:spPr>
          <a:xfrm>
            <a:off x="411480" y="3383280"/>
            <a:ext cx="8321040" cy="1051560"/>
          </a:xfrm>
          <a:prstGeom prst="roundRect">
            <a:avLst>
              <a:gd name="adj" fmla="val 10435"/>
            </a:avLst>
          </a:prstGeom>
          <a:solidFill>
            <a:srgbClr val="E8F5EE"/>
          </a:solidFill>
          <a:ln w="12700">
            <a:solidFill>
              <a:srgbClr val="E8F5EE"/>
            </a:solidFill>
            <a:prstDash val="solid"/>
          </a:ln>
        </p:spPr>
      </p:sp>
      <p:sp>
        <p:nvSpPr>
          <p:cNvPr id="28" name="Text 26"/>
          <p:cNvSpPr txBox="1"/>
          <p:nvPr/>
        </p:nvSpPr>
        <p:spPr>
          <a:xfrm>
            <a:off x="640080" y="3474720"/>
            <a:ext cx="7863840" cy="868680"/>
          </a:xfrm>
          <a:prstGeom prst="rect">
            <a:avLst/>
          </a:prstGeom>
          <a:noFill/>
          <a:ln/>
        </p:spPr>
        <p:txBody>
          <a:bodyPr wrap="square" lIns="0" tIns="0" rIns="0" bIns="0" rtlCol="0" anchor="ctr"/>
          <a:lstStyle/>
          <a:p>
            <a:pPr indent="0" marL="0">
              <a:buNone/>
            </a:pPr>
            <a:r>
              <a:rPr lang="en-US" sz="1300" b="1" dirty="0">
                <a:solidFill>
                  <a:srgbClr val="14342B"/>
                </a:solidFill>
                <a:latin typeface="Calibri" pitchFamily="34" charset="0"/>
                <a:ea typeface="Calibri" pitchFamily="34" charset="-122"/>
                <a:cs typeface="Calibri" pitchFamily="34" charset="-120"/>
              </a:rPr>
              <a:t>Síncrono y asíncrono: </a:t>
            </a:r>
            <a:pPr indent="0" marL="0">
              <a:buNone/>
            </a:pPr>
            <a:r>
              <a:rPr lang="en-US" sz="1300" dirty="0">
                <a:solidFill>
                  <a:srgbClr val="1F2A24"/>
                </a:solidFill>
                <a:latin typeface="Calibri" pitchFamily="34" charset="0"/>
                <a:ea typeface="Calibri" pitchFamily="34" charset="-122"/>
                <a:cs typeface="Calibri" pitchFamily="34" charset="-120"/>
              </a:rPr>
              <a:t>crear el reporte y cambiar su estado es síncrono, porque el usuario necesita la respuesta. Avisos, contadores y tickets son asíncronos: si ms-tickets está caído, la API igual responde y el mensaje espera en la cola hasta que vuelva.</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ítulo"/>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14342B"/>
                </a:solidFill>
                <a:latin typeface="Calibri" pitchFamily="34" charset="0"/>
                <a:ea typeface="Calibri" pitchFamily="34" charset="-122"/>
                <a:cs typeface="Calibri" pitchFamily="34" charset="-120"/>
              </a:rPr>
              <a:t>ACK manual, reintentos y DLQ</a:t>
            </a:r>
            <a:endParaRPr lang="en-US" sz="3000" dirty="0"/>
          </a:p>
        </p:txBody>
      </p:sp>
      <p:sp>
        <p:nvSpPr>
          <p:cNvPr id="3" name="Shape 1"/>
          <p:cNvSpPr/>
          <p:nvPr/>
        </p:nvSpPr>
        <p:spPr>
          <a:xfrm>
            <a:off x="457200" y="1097280"/>
            <a:ext cx="3931920" cy="1627632"/>
          </a:xfrm>
          <a:prstGeom prst="roundRect">
            <a:avLst>
              <a:gd name="adj" fmla="val 6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4" name="Shape 2"/>
          <p:cNvSpPr/>
          <p:nvPr/>
        </p:nvSpPr>
        <p:spPr>
          <a:xfrm>
            <a:off x="685800" y="1325880"/>
            <a:ext cx="548640" cy="548640"/>
          </a:xfrm>
          <a:prstGeom prst="ellipse">
            <a:avLst/>
          </a:prstGeom>
          <a:solidFill>
            <a:srgbClr val="2D6A4F"/>
          </a:solidFill>
          <a:ln w="12700">
            <a:solidFill>
              <a:srgbClr val="2D6A4F"/>
            </a:solidFill>
            <a:prstDash val="solid"/>
          </a:ln>
        </p:spPr>
      </p:sp>
      <p:pic>
        <p:nvPicPr>
          <p:cNvPr id="5" name="Image 0" descr="preencoded.png">    </p:cNvPr>
          <p:cNvPicPr>
            <a:picLocks noChangeAspect="1"/>
          </p:cNvPicPr>
          <p:nvPr/>
        </p:nvPicPr>
        <p:blipFill>
          <a:blip r:embed="rId1"/>
          <a:stretch>
            <a:fillRect/>
          </a:stretch>
        </p:blipFill>
        <p:spPr>
          <a:xfrm>
            <a:off x="817474" y="1457554"/>
            <a:ext cx="285293" cy="285293"/>
          </a:xfrm>
          <a:prstGeom prst="rect">
            <a:avLst/>
          </a:prstGeom>
        </p:spPr>
      </p:pic>
      <p:sp>
        <p:nvSpPr>
          <p:cNvPr id="6" name="Text 3"/>
          <p:cNvSpPr txBox="1"/>
          <p:nvPr/>
        </p:nvSpPr>
        <p:spPr>
          <a:xfrm>
            <a:off x="1417320" y="1325880"/>
            <a:ext cx="2788920" cy="347472"/>
          </a:xfrm>
          <a:prstGeom prst="rect">
            <a:avLst/>
          </a:prstGeom>
          <a:noFill/>
          <a:ln/>
        </p:spPr>
        <p:txBody>
          <a:bodyPr wrap="square" lIns="0" tIns="0" rIns="0" bIns="0" rtlCol="0" anchor="ctr"/>
          <a:lstStyle/>
          <a:p>
            <a:pPr indent="0" marL="0">
              <a:buNone/>
            </a:pPr>
            <a:r>
              <a:rPr lang="en-US" sz="1500" b="1" dirty="0">
                <a:solidFill>
                  <a:srgbClr val="14342B"/>
                </a:solidFill>
                <a:latin typeface="Calibri" pitchFamily="34" charset="0"/>
                <a:ea typeface="Calibri" pitchFamily="34" charset="-122"/>
                <a:cs typeface="Calibri" pitchFamily="34" charset="-120"/>
              </a:rPr>
              <a:t>ACK manual</a:t>
            </a:r>
            <a:endParaRPr lang="en-US" sz="1500" dirty="0"/>
          </a:p>
        </p:txBody>
      </p:sp>
      <p:sp>
        <p:nvSpPr>
          <p:cNvPr id="7" name="Text 4"/>
          <p:cNvSpPr txBox="1"/>
          <p:nvPr/>
        </p:nvSpPr>
        <p:spPr>
          <a:xfrm>
            <a:off x="1417320" y="1691640"/>
            <a:ext cx="2788920" cy="960120"/>
          </a:xfrm>
          <a:prstGeom prst="rect">
            <a:avLst/>
          </a:prstGeom>
          <a:noFill/>
          <a:ln/>
        </p:spPr>
        <p:txBody>
          <a:bodyPr wrap="square" lIns="0" tIns="0" rIns="0" bIns="0" rtlCol="0" anchor="t"/>
          <a:lstStyle/>
          <a:p>
            <a:pPr indent="0" marL="0">
              <a:buNone/>
            </a:pPr>
            <a:r>
              <a:rPr lang="en-US" sz="1150" dirty="0">
                <a:solidFill>
                  <a:srgbClr val="1F2A24"/>
                </a:solidFill>
                <a:latin typeface="Calibri" pitchFamily="34" charset="0"/>
                <a:ea typeface="Calibri" pitchFamily="34" charset="-122"/>
                <a:cs typeface="Calibri" pitchFamily="34" charset="-120"/>
              </a:rPr>
              <a:t>El consumidor confirma con basicAck solo después de guardar en su base. Si se cae antes, RabbitMQ reentrega el mensaje.</a:t>
            </a:r>
            <a:endParaRPr lang="en-US" sz="1150" dirty="0"/>
          </a:p>
        </p:txBody>
      </p:sp>
      <p:sp>
        <p:nvSpPr>
          <p:cNvPr id="8" name="Shape 5"/>
          <p:cNvSpPr/>
          <p:nvPr/>
        </p:nvSpPr>
        <p:spPr>
          <a:xfrm>
            <a:off x="4663440" y="1097280"/>
            <a:ext cx="3931920" cy="1627632"/>
          </a:xfrm>
          <a:prstGeom prst="roundRect">
            <a:avLst>
              <a:gd name="adj" fmla="val 6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9" name="Shape 6"/>
          <p:cNvSpPr/>
          <p:nvPr/>
        </p:nvSpPr>
        <p:spPr>
          <a:xfrm>
            <a:off x="4892040" y="1325880"/>
            <a:ext cx="548640" cy="548640"/>
          </a:xfrm>
          <a:prstGeom prst="ellipse">
            <a:avLst/>
          </a:prstGeom>
          <a:solidFill>
            <a:srgbClr val="C0392B"/>
          </a:solidFill>
          <a:ln w="12700">
            <a:solidFill>
              <a:srgbClr val="C0392B"/>
            </a:solidFill>
            <a:prstDash val="solid"/>
          </a:ln>
        </p:spPr>
      </p:sp>
      <p:pic>
        <p:nvPicPr>
          <p:cNvPr id="10" name="Image 1" descr="preencoded.png">    </p:cNvPr>
          <p:cNvPicPr>
            <a:picLocks noChangeAspect="1"/>
          </p:cNvPicPr>
          <p:nvPr/>
        </p:nvPicPr>
        <p:blipFill>
          <a:blip r:embed="rId2"/>
          <a:stretch>
            <a:fillRect/>
          </a:stretch>
        </p:blipFill>
        <p:spPr>
          <a:xfrm>
            <a:off x="5023714" y="1457554"/>
            <a:ext cx="285293" cy="285293"/>
          </a:xfrm>
          <a:prstGeom prst="rect">
            <a:avLst/>
          </a:prstGeom>
        </p:spPr>
      </p:pic>
      <p:sp>
        <p:nvSpPr>
          <p:cNvPr id="11" name="Text 7"/>
          <p:cNvSpPr txBox="1"/>
          <p:nvPr/>
        </p:nvSpPr>
        <p:spPr>
          <a:xfrm>
            <a:off x="5623560" y="1325880"/>
            <a:ext cx="2788920" cy="347472"/>
          </a:xfrm>
          <a:prstGeom prst="rect">
            <a:avLst/>
          </a:prstGeom>
          <a:noFill/>
          <a:ln/>
        </p:spPr>
        <p:txBody>
          <a:bodyPr wrap="square" lIns="0" tIns="0" rIns="0" bIns="0" rtlCol="0" anchor="ctr"/>
          <a:lstStyle/>
          <a:p>
            <a:pPr indent="0" marL="0">
              <a:buNone/>
            </a:pPr>
            <a:r>
              <a:rPr lang="en-US" sz="1500" b="1" dirty="0">
                <a:solidFill>
                  <a:srgbClr val="14342B"/>
                </a:solidFill>
                <a:latin typeface="Calibri" pitchFamily="34" charset="0"/>
                <a:ea typeface="Calibri" pitchFamily="34" charset="-122"/>
                <a:cs typeface="Calibri" pitchFamily="34" charset="-120"/>
              </a:rPr>
              <a:t>Error de datos → DLQ</a:t>
            </a:r>
            <a:endParaRPr lang="en-US" sz="1500" dirty="0"/>
          </a:p>
        </p:txBody>
      </p:sp>
      <p:sp>
        <p:nvSpPr>
          <p:cNvPr id="12" name="Text 8"/>
          <p:cNvSpPr txBox="1"/>
          <p:nvPr/>
        </p:nvSpPr>
        <p:spPr>
          <a:xfrm>
            <a:off x="5623560" y="1691640"/>
            <a:ext cx="2788920" cy="960120"/>
          </a:xfrm>
          <a:prstGeom prst="rect">
            <a:avLst/>
          </a:prstGeom>
          <a:noFill/>
          <a:ln/>
        </p:spPr>
        <p:txBody>
          <a:bodyPr wrap="square" lIns="0" tIns="0" rIns="0" bIns="0" rtlCol="0" anchor="t"/>
          <a:lstStyle/>
          <a:p>
            <a:pPr indent="0" marL="0">
              <a:buNone/>
            </a:pPr>
            <a:r>
              <a:rPr lang="en-US" sz="1150" dirty="0">
                <a:solidFill>
                  <a:srgbClr val="1F2A24"/>
                </a:solidFill>
                <a:latin typeface="Calibri" pitchFamily="34" charset="0"/>
                <a:ea typeface="Calibri" pitchFamily="34" charset="-122"/>
                <a:cs typeface="Calibri" pitchFamily="34" charset="-120"/>
              </a:rPr>
              <a:t>JSON inválido o campos faltantes: basicNack sin reencolar y el mensaje va directo a su .dlq, con el header x-death.</a:t>
            </a:r>
            <a:endParaRPr lang="en-US" sz="1150" dirty="0"/>
          </a:p>
        </p:txBody>
      </p:sp>
      <p:sp>
        <p:nvSpPr>
          <p:cNvPr id="13" name="Shape 9"/>
          <p:cNvSpPr/>
          <p:nvPr/>
        </p:nvSpPr>
        <p:spPr>
          <a:xfrm>
            <a:off x="457200" y="2907792"/>
            <a:ext cx="3931920" cy="1627632"/>
          </a:xfrm>
          <a:prstGeom prst="roundRect">
            <a:avLst>
              <a:gd name="adj" fmla="val 6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4" name="Shape 10"/>
          <p:cNvSpPr/>
          <p:nvPr/>
        </p:nvSpPr>
        <p:spPr>
          <a:xfrm>
            <a:off x="685800" y="3136392"/>
            <a:ext cx="548640" cy="548640"/>
          </a:xfrm>
          <a:prstGeom prst="ellipse">
            <a:avLst/>
          </a:prstGeom>
          <a:solidFill>
            <a:srgbClr val="F4A261"/>
          </a:solidFill>
          <a:ln w="12700">
            <a:solidFill>
              <a:srgbClr val="F4A261"/>
            </a:solidFill>
            <a:prstDash val="solid"/>
          </a:ln>
        </p:spPr>
      </p:sp>
      <p:pic>
        <p:nvPicPr>
          <p:cNvPr id="15" name="Image 2" descr="preencoded.png">    </p:cNvPr>
          <p:cNvPicPr>
            <a:picLocks noChangeAspect="1"/>
          </p:cNvPicPr>
          <p:nvPr/>
        </p:nvPicPr>
        <p:blipFill>
          <a:blip r:embed="rId3"/>
          <a:stretch>
            <a:fillRect/>
          </a:stretch>
        </p:blipFill>
        <p:spPr>
          <a:xfrm>
            <a:off x="817474" y="3268066"/>
            <a:ext cx="285293" cy="285293"/>
          </a:xfrm>
          <a:prstGeom prst="rect">
            <a:avLst/>
          </a:prstGeom>
        </p:spPr>
      </p:pic>
      <p:sp>
        <p:nvSpPr>
          <p:cNvPr id="16" name="Text 11"/>
          <p:cNvSpPr txBox="1"/>
          <p:nvPr/>
        </p:nvSpPr>
        <p:spPr>
          <a:xfrm>
            <a:off x="1417320" y="3136392"/>
            <a:ext cx="2788920" cy="347472"/>
          </a:xfrm>
          <a:prstGeom prst="rect">
            <a:avLst/>
          </a:prstGeom>
          <a:noFill/>
          <a:ln/>
        </p:spPr>
        <p:txBody>
          <a:bodyPr wrap="square" lIns="0" tIns="0" rIns="0" bIns="0" rtlCol="0" anchor="ctr"/>
          <a:lstStyle/>
          <a:p>
            <a:pPr indent="0" marL="0">
              <a:buNone/>
            </a:pPr>
            <a:r>
              <a:rPr lang="en-US" sz="1500" b="1" dirty="0">
                <a:solidFill>
                  <a:srgbClr val="14342B"/>
                </a:solidFill>
                <a:latin typeface="Calibri" pitchFamily="34" charset="0"/>
                <a:ea typeface="Calibri" pitchFamily="34" charset="-122"/>
                <a:cs typeface="Calibri" pitchFamily="34" charset="-120"/>
              </a:rPr>
              <a:t>Error transitorio → reintentos</a:t>
            </a:r>
            <a:endParaRPr lang="en-US" sz="1500" dirty="0"/>
          </a:p>
        </p:txBody>
      </p:sp>
      <p:sp>
        <p:nvSpPr>
          <p:cNvPr id="17" name="Text 12"/>
          <p:cNvSpPr txBox="1"/>
          <p:nvPr/>
        </p:nvSpPr>
        <p:spPr>
          <a:xfrm>
            <a:off x="1417320" y="3502152"/>
            <a:ext cx="2788920" cy="960120"/>
          </a:xfrm>
          <a:prstGeom prst="rect">
            <a:avLst/>
          </a:prstGeom>
          <a:noFill/>
          <a:ln/>
        </p:spPr>
        <p:txBody>
          <a:bodyPr wrap="square" lIns="0" tIns="0" rIns="0" bIns="0" rtlCol="0" anchor="t"/>
          <a:lstStyle/>
          <a:p>
            <a:pPr indent="0" marL="0">
              <a:buNone/>
            </a:pPr>
            <a:r>
              <a:rPr lang="en-US" sz="1150" dirty="0">
                <a:solidFill>
                  <a:srgbClr val="1F2A24"/>
                </a:solidFill>
                <a:latin typeface="Calibri" pitchFamily="34" charset="0"/>
                <a:ea typeface="Calibri" pitchFamily="34" charset="-122"/>
                <a:cs typeface="Calibri" pitchFamily="34" charset="-120"/>
              </a:rPr>
              <a:t>Base de datos caída: 3 intentos con espera de 1 s y 2 s; si sigue fallando, a la DLQ. Nunca requeue=true, para evitar bucles.</a:t>
            </a:r>
            <a:endParaRPr lang="en-US" sz="1150" dirty="0"/>
          </a:p>
        </p:txBody>
      </p:sp>
      <p:sp>
        <p:nvSpPr>
          <p:cNvPr id="18" name="Shape 13"/>
          <p:cNvSpPr/>
          <p:nvPr/>
        </p:nvSpPr>
        <p:spPr>
          <a:xfrm>
            <a:off x="4663440" y="2907792"/>
            <a:ext cx="3931920" cy="1627632"/>
          </a:xfrm>
          <a:prstGeom prst="roundRect">
            <a:avLst>
              <a:gd name="adj" fmla="val 6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9" name="Shape 14"/>
          <p:cNvSpPr/>
          <p:nvPr/>
        </p:nvSpPr>
        <p:spPr>
          <a:xfrm>
            <a:off x="4892040" y="3136392"/>
            <a:ext cx="548640" cy="548640"/>
          </a:xfrm>
          <a:prstGeom prst="ellipse">
            <a:avLst/>
          </a:prstGeom>
          <a:solidFill>
            <a:srgbClr val="2D6A4F"/>
          </a:solidFill>
          <a:ln w="12700">
            <a:solidFill>
              <a:srgbClr val="2D6A4F"/>
            </a:solidFill>
            <a:prstDash val="solid"/>
          </a:ln>
        </p:spPr>
      </p:sp>
      <p:pic>
        <p:nvPicPr>
          <p:cNvPr id="20" name="Image 3" descr="preencoded.png">    </p:cNvPr>
          <p:cNvPicPr>
            <a:picLocks noChangeAspect="1"/>
          </p:cNvPicPr>
          <p:nvPr/>
        </p:nvPicPr>
        <p:blipFill>
          <a:blip r:embed="rId4"/>
          <a:stretch>
            <a:fillRect/>
          </a:stretch>
        </p:blipFill>
        <p:spPr>
          <a:xfrm>
            <a:off x="5023714" y="3268066"/>
            <a:ext cx="285293" cy="285293"/>
          </a:xfrm>
          <a:prstGeom prst="rect">
            <a:avLst/>
          </a:prstGeom>
        </p:spPr>
      </p:pic>
      <p:sp>
        <p:nvSpPr>
          <p:cNvPr id="21" name="Text 15"/>
          <p:cNvSpPr txBox="1"/>
          <p:nvPr/>
        </p:nvSpPr>
        <p:spPr>
          <a:xfrm>
            <a:off x="5623560" y="3136392"/>
            <a:ext cx="2788920" cy="347472"/>
          </a:xfrm>
          <a:prstGeom prst="rect">
            <a:avLst/>
          </a:prstGeom>
          <a:noFill/>
          <a:ln/>
        </p:spPr>
        <p:txBody>
          <a:bodyPr wrap="square" lIns="0" tIns="0" rIns="0" bIns="0" rtlCol="0" anchor="ctr"/>
          <a:lstStyle/>
          <a:p>
            <a:pPr indent="0" marL="0">
              <a:buNone/>
            </a:pPr>
            <a:r>
              <a:rPr lang="en-US" sz="1500" b="1" dirty="0">
                <a:solidFill>
                  <a:srgbClr val="14342B"/>
                </a:solidFill>
                <a:latin typeface="Calibri" pitchFamily="34" charset="0"/>
                <a:ea typeface="Calibri" pitchFamily="34" charset="-122"/>
                <a:cs typeface="Calibri" pitchFamily="34" charset="-120"/>
              </a:rPr>
              <a:t>Idempotencia</a:t>
            </a:r>
            <a:endParaRPr lang="en-US" sz="1500" dirty="0"/>
          </a:p>
        </p:txBody>
      </p:sp>
      <p:sp>
        <p:nvSpPr>
          <p:cNvPr id="22" name="Text 16"/>
          <p:cNvSpPr txBox="1"/>
          <p:nvPr/>
        </p:nvSpPr>
        <p:spPr>
          <a:xfrm>
            <a:off x="5623560" y="3502152"/>
            <a:ext cx="2788920" cy="960120"/>
          </a:xfrm>
          <a:prstGeom prst="rect">
            <a:avLst/>
          </a:prstGeom>
          <a:noFill/>
          <a:ln/>
        </p:spPr>
        <p:txBody>
          <a:bodyPr wrap="square" lIns="0" tIns="0" rIns="0" bIns="0" rtlCol="0" anchor="t"/>
          <a:lstStyle/>
          <a:p>
            <a:pPr indent="0" marL="0">
              <a:buNone/>
            </a:pPr>
            <a:r>
              <a:rPr lang="en-US" sz="1150" dirty="0">
                <a:solidFill>
                  <a:srgbClr val="1F2A24"/>
                </a:solidFill>
                <a:latin typeface="Calibri" pitchFamily="34" charset="0"/>
                <a:ea typeface="Calibri" pitchFamily="34" charset="-122"/>
                <a:cs typeface="Calibri" pitchFamily="34" charset="-120"/>
              </a:rPr>
              <a:t>La entrega es "al menos una vez": cada consumidor guarda el eventId o reporteId y, si llega repetido, solo confirma.</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ítulo"/>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14342B"/>
                </a:solidFill>
                <a:latin typeface="Calibri" pitchFamily="34" charset="0"/>
                <a:ea typeface="Calibri" pitchFamily="34" charset="-122"/>
                <a:cs typeface="Calibri" pitchFamily="34" charset="-120"/>
              </a:rPr>
              <a:t>Clúster RabbitMQ de 2 nodos</a:t>
            </a:r>
            <a:endParaRPr lang="en-US" sz="3000" dirty="0"/>
          </a:p>
        </p:txBody>
      </p:sp>
      <p:sp>
        <p:nvSpPr>
          <p:cNvPr id="3" name="Shape 1"/>
          <p:cNvSpPr/>
          <p:nvPr/>
        </p:nvSpPr>
        <p:spPr>
          <a:xfrm>
            <a:off x="457200" y="1097280"/>
            <a:ext cx="3931920" cy="3611880"/>
          </a:xfrm>
          <a:prstGeom prst="roundRect">
            <a:avLst>
              <a:gd name="adj" fmla="val 3038"/>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4" name="Shape 2"/>
          <p:cNvSpPr/>
          <p:nvPr/>
        </p:nvSpPr>
        <p:spPr>
          <a:xfrm>
            <a:off x="731520" y="1325880"/>
            <a:ext cx="594360" cy="594360"/>
          </a:xfrm>
          <a:prstGeom prst="ellipse">
            <a:avLst/>
          </a:prstGeom>
          <a:solidFill>
            <a:srgbClr val="2D6A4F"/>
          </a:solidFill>
          <a:ln w="12700">
            <a:solidFill>
              <a:srgbClr val="2D6A4F"/>
            </a:solidFill>
            <a:prstDash val="solid"/>
          </a:ln>
        </p:spPr>
      </p:sp>
      <p:pic>
        <p:nvPicPr>
          <p:cNvPr id="5" name="Image 0" descr="preencoded.png">    </p:cNvPr>
          <p:cNvPicPr>
            <a:picLocks noChangeAspect="1"/>
          </p:cNvPicPr>
          <p:nvPr/>
        </p:nvPicPr>
        <p:blipFill>
          <a:blip r:embed="rId1"/>
          <a:stretch>
            <a:fillRect/>
          </a:stretch>
        </p:blipFill>
        <p:spPr>
          <a:xfrm>
            <a:off x="874166" y="1468526"/>
            <a:ext cx="309067" cy="309067"/>
          </a:xfrm>
          <a:prstGeom prst="rect">
            <a:avLst/>
          </a:prstGeom>
        </p:spPr>
      </p:pic>
      <p:sp>
        <p:nvSpPr>
          <p:cNvPr id="6" name="Text 3"/>
          <p:cNvSpPr txBox="1"/>
          <p:nvPr/>
        </p:nvSpPr>
        <p:spPr>
          <a:xfrm>
            <a:off x="1463040" y="1325880"/>
            <a:ext cx="2743200" cy="320040"/>
          </a:xfrm>
          <a:prstGeom prst="rect">
            <a:avLst/>
          </a:prstGeom>
          <a:noFill/>
          <a:ln/>
        </p:spPr>
        <p:txBody>
          <a:bodyPr wrap="square" lIns="0" tIns="0" rIns="0" bIns="0" rtlCol="0" anchor="t"/>
          <a:lstStyle/>
          <a:p>
            <a:pPr indent="0" marL="0">
              <a:buNone/>
            </a:pPr>
            <a:r>
              <a:rPr lang="en-US" sz="1700" b="1" dirty="0">
                <a:solidFill>
                  <a:srgbClr val="14342B"/>
                </a:solidFill>
                <a:latin typeface="Calibri" pitchFamily="34" charset="0"/>
                <a:ea typeface="Calibri" pitchFamily="34" charset="-122"/>
                <a:cs typeface="Calibri" pitchFamily="34" charset="-120"/>
              </a:rPr>
              <a:t>rabbit1 + rabbit2</a:t>
            </a:r>
            <a:endParaRPr lang="en-US" sz="1700" dirty="0"/>
          </a:p>
        </p:txBody>
      </p:sp>
      <p:sp>
        <p:nvSpPr>
          <p:cNvPr id="7" name="Text 4"/>
          <p:cNvSpPr txBox="1"/>
          <p:nvPr/>
        </p:nvSpPr>
        <p:spPr>
          <a:xfrm>
            <a:off x="1463040" y="1645920"/>
            <a:ext cx="2743200" cy="320040"/>
          </a:xfrm>
          <a:prstGeom prst="rect">
            <a:avLst/>
          </a:prstGeom>
          <a:noFill/>
          <a:ln/>
        </p:spPr>
        <p:txBody>
          <a:bodyPr wrap="square" lIns="0" tIns="0" rIns="0" bIns="0" rtlCol="0" anchor="t"/>
          <a:lstStyle/>
          <a:p>
            <a:pPr indent="0" marL="0">
              <a:buNone/>
            </a:pPr>
            <a:r>
              <a:rPr lang="en-US" sz="1200" dirty="0">
                <a:solidFill>
                  <a:srgbClr val="2D6A4F"/>
                </a:solidFill>
                <a:latin typeface="Calibri" pitchFamily="34" charset="0"/>
                <a:ea typeface="Calibri" pitchFamily="34" charset="-122"/>
                <a:cs typeface="Calibri" pitchFamily="34" charset="-120"/>
              </a:rPr>
              <a:t>Un clúster en docker compose</a:t>
            </a:r>
            <a:endParaRPr lang="en-US" sz="1200" dirty="0"/>
          </a:p>
        </p:txBody>
      </p:sp>
      <p:sp>
        <p:nvSpPr>
          <p:cNvPr id="8" name="Text 5"/>
          <p:cNvSpPr txBox="1"/>
          <p:nvPr/>
        </p:nvSpPr>
        <p:spPr>
          <a:xfrm>
            <a:off x="731520" y="2194560"/>
            <a:ext cx="3474720" cy="1645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2A24"/>
                </a:solidFill>
                <a:latin typeface="Calibri" pitchFamily="34" charset="0"/>
                <a:ea typeface="Calibri" pitchFamily="34" charset="-122"/>
                <a:cs typeface="Calibri" pitchFamily="34" charset="-120"/>
              </a:rPr>
              <a:t>Misma Erlang cookie y descubrimiento classic_config</a:t>
            </a:r>
            <a:endParaRPr lang="en-US" sz="1300" dirty="0"/>
          </a:p>
          <a:p>
            <a:pPr marL="342900" indent="-342900">
              <a:spcAft>
                <a:spcPts val="600"/>
              </a:spcAft>
              <a:buSzPct val="100000"/>
              <a:buChar char="•"/>
            </a:pPr>
            <a:r>
              <a:rPr lang="en-US" sz="1300" dirty="0">
                <a:solidFill>
                  <a:srgbClr val="1F2A24"/>
                </a:solidFill>
                <a:latin typeface="Calibri" pitchFamily="34" charset="0"/>
                <a:ea typeface="Calibri" pitchFamily="34" charset="-122"/>
                <a:cs typeface="Calibri" pitchFamily="34" charset="-120"/>
              </a:rPr>
              <a:t>Management UI en :15672 y :15673</a:t>
            </a:r>
            <a:endParaRPr lang="en-US" sz="1300" dirty="0"/>
          </a:p>
          <a:p>
            <a:pPr marL="342900" indent="-342900">
              <a:spcAft>
                <a:spcPts val="600"/>
              </a:spcAft>
              <a:buSzPct val="100000"/>
              <a:buChar char="•"/>
            </a:pPr>
            <a:r>
              <a:rPr lang="en-US" sz="1300" dirty="0">
                <a:solidFill>
                  <a:srgbClr val="1F2A24"/>
                </a:solidFill>
                <a:latin typeface="Calibri" pitchFamily="34" charset="0"/>
                <a:ea typeface="Calibri" pitchFamily="34" charset="-122"/>
                <a:cs typeface="Calibri" pitchFamily="34" charset="-120"/>
              </a:rPr>
              <a:t>Los servicios se conectan a ambos nodos y se reconectan si uno cae</a:t>
            </a:r>
            <a:endParaRPr lang="en-US" sz="1300" dirty="0"/>
          </a:p>
        </p:txBody>
      </p:sp>
      <p:sp>
        <p:nvSpPr>
          <p:cNvPr id="9" name="Shape 6"/>
          <p:cNvSpPr/>
          <p:nvPr/>
        </p:nvSpPr>
        <p:spPr>
          <a:xfrm>
            <a:off x="731520" y="3977640"/>
            <a:ext cx="3383280" cy="457200"/>
          </a:xfrm>
          <a:prstGeom prst="roundRect">
            <a:avLst>
              <a:gd name="adj" fmla="val 24000"/>
            </a:avLst>
          </a:prstGeom>
          <a:solidFill>
            <a:srgbClr val="2D6A4F"/>
          </a:solidFill>
          <a:ln w="12700">
            <a:solidFill>
              <a:srgbClr val="2D6A4F"/>
            </a:solidFill>
            <a:prstDash val="solid"/>
          </a:ln>
        </p:spPr>
      </p:sp>
      <p:sp>
        <p:nvSpPr>
          <p:cNvPr id="10" name="Text 7"/>
          <p:cNvSpPr txBox="1"/>
          <p:nvPr/>
        </p:nvSpPr>
        <p:spPr>
          <a:xfrm>
            <a:off x="731520" y="3977640"/>
            <a:ext cx="33832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Running Nodes: rabbit1 y rabbit2</a:t>
            </a:r>
            <a:endParaRPr lang="en-US" sz="1300" dirty="0"/>
          </a:p>
        </p:txBody>
      </p:sp>
      <p:sp>
        <p:nvSpPr>
          <p:cNvPr id="11" name="Shape 8"/>
          <p:cNvSpPr/>
          <p:nvPr/>
        </p:nvSpPr>
        <p:spPr>
          <a:xfrm>
            <a:off x="4663440" y="1097280"/>
            <a:ext cx="3931920" cy="3611880"/>
          </a:xfrm>
          <a:prstGeom prst="roundRect">
            <a:avLst>
              <a:gd name="adj" fmla="val 3038"/>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2" name="Shape 9"/>
          <p:cNvSpPr/>
          <p:nvPr/>
        </p:nvSpPr>
        <p:spPr>
          <a:xfrm>
            <a:off x="4937760" y="1325880"/>
            <a:ext cx="594360" cy="594360"/>
          </a:xfrm>
          <a:prstGeom prst="ellipse">
            <a:avLst/>
          </a:prstGeom>
          <a:solidFill>
            <a:srgbClr val="2D6A4F"/>
          </a:solidFill>
          <a:ln w="12700">
            <a:solidFill>
              <a:srgbClr val="2D6A4F"/>
            </a:solidFill>
            <a:prstDash val="solid"/>
          </a:ln>
        </p:spPr>
      </p:sp>
      <p:pic>
        <p:nvPicPr>
          <p:cNvPr id="13" name="Image 1" descr="preencoded.png">    </p:cNvPr>
          <p:cNvPicPr>
            <a:picLocks noChangeAspect="1"/>
          </p:cNvPicPr>
          <p:nvPr/>
        </p:nvPicPr>
        <p:blipFill>
          <a:blip r:embed="rId2"/>
          <a:stretch>
            <a:fillRect/>
          </a:stretch>
        </p:blipFill>
        <p:spPr>
          <a:xfrm>
            <a:off x="5080406" y="1468526"/>
            <a:ext cx="309067" cy="309067"/>
          </a:xfrm>
          <a:prstGeom prst="rect">
            <a:avLst/>
          </a:prstGeom>
        </p:spPr>
      </p:pic>
      <p:sp>
        <p:nvSpPr>
          <p:cNvPr id="14" name="Text 10"/>
          <p:cNvSpPr txBox="1"/>
          <p:nvPr/>
        </p:nvSpPr>
        <p:spPr>
          <a:xfrm>
            <a:off x="5669280" y="1325880"/>
            <a:ext cx="2743200" cy="320040"/>
          </a:xfrm>
          <a:prstGeom prst="rect">
            <a:avLst/>
          </a:prstGeom>
          <a:noFill/>
          <a:ln/>
        </p:spPr>
        <p:txBody>
          <a:bodyPr wrap="square" lIns="0" tIns="0" rIns="0" bIns="0" rtlCol="0" anchor="t"/>
          <a:lstStyle/>
          <a:p>
            <a:pPr indent="0" marL="0">
              <a:buNone/>
            </a:pPr>
            <a:r>
              <a:rPr lang="en-US" sz="1700" b="1" dirty="0">
                <a:solidFill>
                  <a:srgbClr val="14342B"/>
                </a:solidFill>
                <a:latin typeface="Calibri" pitchFamily="34" charset="0"/>
                <a:ea typeface="Calibri" pitchFamily="34" charset="-122"/>
                <a:cs typeface="Calibri" pitchFamily="34" charset="-120"/>
              </a:rPr>
              <a:t>Colas quorum</a:t>
            </a:r>
            <a:endParaRPr lang="en-US" sz="1700" dirty="0"/>
          </a:p>
        </p:txBody>
      </p:sp>
      <p:sp>
        <p:nvSpPr>
          <p:cNvPr id="15" name="Text 11"/>
          <p:cNvSpPr txBox="1"/>
          <p:nvPr/>
        </p:nvSpPr>
        <p:spPr>
          <a:xfrm>
            <a:off x="5669280" y="1645920"/>
            <a:ext cx="2743200" cy="320040"/>
          </a:xfrm>
          <a:prstGeom prst="rect">
            <a:avLst/>
          </a:prstGeom>
          <a:noFill/>
          <a:ln/>
        </p:spPr>
        <p:txBody>
          <a:bodyPr wrap="square" lIns="0" tIns="0" rIns="0" bIns="0" rtlCol="0" anchor="t"/>
          <a:lstStyle/>
          <a:p>
            <a:pPr indent="0" marL="0">
              <a:buNone/>
            </a:pPr>
            <a:r>
              <a:rPr lang="en-US" sz="1200" dirty="0">
                <a:solidFill>
                  <a:srgbClr val="2D6A4F"/>
                </a:solidFill>
                <a:latin typeface="Calibri" pitchFamily="34" charset="0"/>
                <a:ea typeface="Calibri" pitchFamily="34" charset="-122"/>
                <a:cs typeface="Calibri" pitchFamily="34" charset="-120"/>
              </a:rPr>
              <a:t>Mensajes replicados en los dos nodos</a:t>
            </a:r>
            <a:endParaRPr lang="en-US" sz="1200" dirty="0"/>
          </a:p>
        </p:txBody>
      </p:sp>
      <p:sp>
        <p:nvSpPr>
          <p:cNvPr id="16" name="Text 12"/>
          <p:cNvSpPr txBox="1"/>
          <p:nvPr/>
        </p:nvSpPr>
        <p:spPr>
          <a:xfrm>
            <a:off x="4937760" y="2194560"/>
            <a:ext cx="3474720" cy="1645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2A24"/>
                </a:solidFill>
                <a:latin typeface="Calibri" pitchFamily="34" charset="0"/>
                <a:ea typeface="Calibri" pitchFamily="34" charset="-122"/>
                <a:cs typeface="Calibri" pitchFamily="34" charset="-120"/>
              </a:rPr>
              <a:t>Colas durables y mensajes persistentes (delivery_mode 2)</a:t>
            </a:r>
            <a:endParaRPr lang="en-US" sz="1300" dirty="0"/>
          </a:p>
          <a:p>
            <a:pPr marL="342900" indent="-342900">
              <a:spcAft>
                <a:spcPts val="600"/>
              </a:spcAft>
              <a:buSzPct val="100000"/>
              <a:buChar char="•"/>
            </a:pPr>
            <a:r>
              <a:rPr lang="en-US" sz="1300" dirty="0">
                <a:solidFill>
                  <a:srgbClr val="1F2A24"/>
                </a:solidFill>
                <a:latin typeface="Calibri" pitchFamily="34" charset="0"/>
                <a:ea typeface="Calibri" pitchFamily="34" charset="-122"/>
                <a:cs typeface="Calibri" pitchFamily="34" charset="-120"/>
              </a:rPr>
              <a:t>Cada cola tiene un líder y una réplica</a:t>
            </a:r>
            <a:endParaRPr lang="en-US" sz="1300" dirty="0"/>
          </a:p>
          <a:p>
            <a:pPr marL="342900" indent="-342900">
              <a:spcAft>
                <a:spcPts val="600"/>
              </a:spcAft>
              <a:buSzPct val="100000"/>
              <a:buChar char="•"/>
            </a:pPr>
            <a:r>
              <a:rPr lang="en-US" sz="1300" dirty="0">
                <a:solidFill>
                  <a:srgbClr val="1F2A24"/>
                </a:solidFill>
                <a:latin typeface="Calibri" pitchFamily="34" charset="0"/>
                <a:ea typeface="Calibri" pitchFamily="34" charset="-122"/>
                <a:cs typeface="Calibri" pitchFamily="34" charset="-120"/>
              </a:rPr>
              <a:t>3 colas + 3 DLQ = 6 colas quorum</a:t>
            </a:r>
            <a:endParaRPr lang="en-US" sz="1300" dirty="0"/>
          </a:p>
        </p:txBody>
      </p:sp>
      <p:sp>
        <p:nvSpPr>
          <p:cNvPr id="17" name="Shape 13"/>
          <p:cNvSpPr/>
          <p:nvPr/>
        </p:nvSpPr>
        <p:spPr>
          <a:xfrm>
            <a:off x="4937760" y="3977640"/>
            <a:ext cx="3383280" cy="457200"/>
          </a:xfrm>
          <a:prstGeom prst="roundRect">
            <a:avLst>
              <a:gd name="adj" fmla="val 24000"/>
            </a:avLst>
          </a:prstGeom>
          <a:solidFill>
            <a:srgbClr val="F4A261"/>
          </a:solidFill>
          <a:ln w="12700">
            <a:solidFill>
              <a:srgbClr val="F4A261"/>
            </a:solidFill>
            <a:prstDash val="solid"/>
          </a:ln>
        </p:spPr>
      </p:sp>
      <p:sp>
        <p:nvSpPr>
          <p:cNvPr id="18" name="Text 14"/>
          <p:cNvSpPr txBox="1"/>
          <p:nvPr/>
        </p:nvSpPr>
        <p:spPr>
          <a:xfrm>
            <a:off x="4937760" y="3977640"/>
            <a:ext cx="33832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Con 2 nodos no hay mayoría: en producción, 3</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ítulo"/>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14342B"/>
                </a:solidFill>
                <a:latin typeface="Calibri" pitchFamily="34" charset="0"/>
                <a:ea typeface="Calibri" pitchFamily="34" charset="-122"/>
                <a:cs typeface="Calibri" pitchFamily="34" charset="-120"/>
              </a:rPr>
              <a:t>Microservicio administrador</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097280"/>
          <a:ext cx="5120640" cy="914400"/>
        </p:xfrm>
        <a:graphic>
          <a:graphicData uri="http://schemas.openxmlformats.org/drawingml/2006/table">
            <a:tbl>
              <a:tblPr/>
              <a:tblGrid>
                <a:gridCol w="2240280"/>
                <a:gridCol w="1783080"/>
                <a:gridCol w="10972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Método y ruta</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14342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Qué hace</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14342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Respuestas</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14342B"/>
                    </a:solidFill>
                  </a:tcPr>
                </a:tc>
              </a:tr>
              <a:tr h="0">
                <a:tc>
                  <a:txBody>
                    <a:bodyPr/>
                    <a:lstStyle/>
                    <a:p>
                      <a:pPr indent="0" marL="0">
                        <a:buNone/>
                      </a:pPr>
                      <a:r>
                        <a:rPr lang="en-US" sz="1100" b="1" dirty="0">
                          <a:solidFill>
                            <a:srgbClr val="2D6A4F"/>
                          </a:solidFill>
                          <a:latin typeface="Calibri" pitchFamily="34" charset="0"/>
                          <a:ea typeface="Calibri" pitchFamily="34" charset="-122"/>
                          <a:cs typeface="Calibri" pitchFamily="34" charset="-120"/>
                        </a:rPr>
                        <a:t>GET /api/admin/queues</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4"/>
                          </a:solidFill>
                          <a:latin typeface="Calibri" pitchFamily="34" charset="0"/>
                          <a:ea typeface="Calibri" pitchFamily="34" charset="-122"/>
                          <a:cs typeface="Calibri" pitchFamily="34" charset="-120"/>
                        </a:rPr>
                        <a:t>Lista las colas y su DLQ</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4"/>
                          </a:solidFill>
                          <a:latin typeface="Calibri" pitchFamily="34" charset="0"/>
                          <a:ea typeface="Calibri" pitchFamily="34" charset="-122"/>
                          <a:cs typeface="Calibri" pitchFamily="34" charset="-120"/>
                        </a:rPr>
                        <a:t>200</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2D6A4F"/>
                          </a:solidFill>
                          <a:latin typeface="Calibri" pitchFamily="34" charset="0"/>
                          <a:ea typeface="Calibri" pitchFamily="34" charset="-122"/>
                          <a:cs typeface="Calibri" pitchFamily="34" charset="-120"/>
                        </a:rPr>
                        <a:t>POST /api/admin/queues</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100" dirty="0">
                          <a:solidFill>
                            <a:srgbClr val="1F2A24"/>
                          </a:solidFill>
                          <a:latin typeface="Calibri" pitchFamily="34" charset="0"/>
                          <a:ea typeface="Calibri" pitchFamily="34" charset="-122"/>
                          <a:cs typeface="Calibri" pitchFamily="34" charset="-120"/>
                        </a:rPr>
                        <a:t>Crea una cola, con DLQ opcional</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100" dirty="0">
                          <a:solidFill>
                            <a:srgbClr val="1F2A24"/>
                          </a:solidFill>
                          <a:latin typeface="Calibri" pitchFamily="34" charset="0"/>
                          <a:ea typeface="Calibri" pitchFamily="34" charset="-122"/>
                          <a:cs typeface="Calibri" pitchFamily="34" charset="-120"/>
                        </a:rPr>
                        <a:t>201 · 400 · 409</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r>
              <a:tr h="0">
                <a:tc>
                  <a:txBody>
                    <a:bodyPr/>
                    <a:lstStyle/>
                    <a:p>
                      <a:pPr indent="0" marL="0">
                        <a:buNone/>
                      </a:pPr>
                      <a:r>
                        <a:rPr lang="en-US" sz="1100" b="1" dirty="0">
                          <a:solidFill>
                            <a:srgbClr val="2D6A4F"/>
                          </a:solidFill>
                          <a:latin typeface="Calibri" pitchFamily="34" charset="0"/>
                          <a:ea typeface="Calibri" pitchFamily="34" charset="-122"/>
                          <a:cs typeface="Calibri" pitchFamily="34" charset="-120"/>
                        </a:rPr>
                        <a:t>DELETE /api/admin/queues/{nombre}</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4"/>
                          </a:solidFill>
                          <a:latin typeface="Calibri" pitchFamily="34" charset="0"/>
                          <a:ea typeface="Calibri" pitchFamily="34" charset="-122"/>
                          <a:cs typeface="Calibri" pitchFamily="34" charset="-120"/>
                        </a:rPr>
                        <a:t>Elimina si no tiene mensajes ni consumidores</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4"/>
                          </a:solidFill>
                          <a:latin typeface="Calibri" pitchFamily="34" charset="0"/>
                          <a:ea typeface="Calibri" pitchFamily="34" charset="-122"/>
                          <a:cs typeface="Calibri" pitchFamily="34" charset="-120"/>
                        </a:rPr>
                        <a:t>204 · 404 · 409</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2D6A4F"/>
                          </a:solidFill>
                          <a:latin typeface="Calibri" pitchFamily="34" charset="0"/>
                          <a:ea typeface="Calibri" pitchFamily="34" charset="-122"/>
                          <a:cs typeface="Calibri" pitchFamily="34" charset="-120"/>
                        </a:rPr>
                        <a:t>GET · POST · DELETE /api/admin/exchanges</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100" dirty="0">
                          <a:solidFill>
                            <a:srgbClr val="1F2A24"/>
                          </a:solidFill>
                          <a:latin typeface="Calibri" pitchFamily="34" charset="0"/>
                          <a:ea typeface="Calibri" pitchFamily="34" charset="-122"/>
                          <a:cs typeface="Calibri" pitchFamily="34" charset="-120"/>
                        </a:rPr>
                        <a:t>Exchanges direct, topic, fanout</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100" dirty="0">
                          <a:solidFill>
                            <a:srgbClr val="1F2A24"/>
                          </a:solidFill>
                          <a:latin typeface="Calibri" pitchFamily="34" charset="0"/>
                          <a:ea typeface="Calibri" pitchFamily="34" charset="-122"/>
                          <a:cs typeface="Calibri" pitchFamily="34" charset="-120"/>
                        </a:rPr>
                        <a:t>200 · 201 · 204</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r>
              <a:tr h="0">
                <a:tc>
                  <a:txBody>
                    <a:bodyPr/>
                    <a:lstStyle/>
                    <a:p>
                      <a:pPr indent="0" marL="0">
                        <a:buNone/>
                      </a:pPr>
                      <a:r>
                        <a:rPr lang="en-US" sz="1100" b="1" dirty="0">
                          <a:solidFill>
                            <a:srgbClr val="2D6A4F"/>
                          </a:solidFill>
                          <a:latin typeface="Calibri" pitchFamily="34" charset="0"/>
                          <a:ea typeface="Calibri" pitchFamily="34" charset="-122"/>
                          <a:cs typeface="Calibri" pitchFamily="34" charset="-120"/>
                        </a:rPr>
                        <a:t>GET · POST · DELETE /api/admin/bindings</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4"/>
                          </a:solidFill>
                          <a:latin typeface="Calibri" pitchFamily="34" charset="0"/>
                          <a:ea typeface="Calibri" pitchFamily="34" charset="-122"/>
                          <a:cs typeface="Calibri" pitchFamily="34" charset="-120"/>
                        </a:rPr>
                        <a:t>Enlaza un exchange con una cola</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4"/>
                          </a:solidFill>
                          <a:latin typeface="Calibri" pitchFamily="34" charset="0"/>
                          <a:ea typeface="Calibri" pitchFamily="34" charset="-122"/>
                          <a:cs typeface="Calibri" pitchFamily="34" charset="-120"/>
                        </a:rPr>
                        <a:t>200 · 201 · 204 · 404</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r>
            </a:tbl>
          </a:graphicData>
        </a:graphic>
      </p:graphicFrame>
      <p:sp>
        <p:nvSpPr>
          <p:cNvPr id="4" name="Shape 1"/>
          <p:cNvSpPr/>
          <p:nvPr/>
        </p:nvSpPr>
        <p:spPr>
          <a:xfrm>
            <a:off x="5760720" y="1097280"/>
            <a:ext cx="502920" cy="502920"/>
          </a:xfrm>
          <a:prstGeom prst="ellipse">
            <a:avLst/>
          </a:prstGeom>
          <a:solidFill>
            <a:srgbClr val="2D6A4F"/>
          </a:solidFill>
          <a:ln w="12700">
            <a:solidFill>
              <a:srgbClr val="2D6A4F"/>
            </a:solidFill>
            <a:prstDash val="solid"/>
          </a:ln>
        </p:spPr>
      </p:sp>
      <p:pic>
        <p:nvPicPr>
          <p:cNvPr id="5" name="Image 0" descr="preencoded.png">    </p:cNvPr>
          <p:cNvPicPr>
            <a:picLocks noChangeAspect="1"/>
          </p:cNvPicPr>
          <p:nvPr/>
        </p:nvPicPr>
        <p:blipFill>
          <a:blip r:embed="rId1"/>
          <a:stretch>
            <a:fillRect/>
          </a:stretch>
        </p:blipFill>
        <p:spPr>
          <a:xfrm>
            <a:off x="5881421" y="1217981"/>
            <a:ext cx="261518" cy="261518"/>
          </a:xfrm>
          <a:prstGeom prst="rect">
            <a:avLst/>
          </a:prstGeom>
        </p:spPr>
      </p:pic>
      <p:sp>
        <p:nvSpPr>
          <p:cNvPr id="6" name="Text 2"/>
          <p:cNvSpPr txBox="1"/>
          <p:nvPr/>
        </p:nvSpPr>
        <p:spPr>
          <a:xfrm>
            <a:off x="6400800" y="1078992"/>
            <a:ext cx="2377440" cy="320040"/>
          </a:xfrm>
          <a:prstGeom prst="rect">
            <a:avLst/>
          </a:prstGeom>
          <a:noFill/>
          <a:ln/>
        </p:spPr>
        <p:txBody>
          <a:bodyPr wrap="square" lIns="0" tIns="0" rIns="0" bIns="0" rtlCol="0" anchor="t"/>
          <a:lstStyle/>
          <a:p>
            <a:pPr indent="0" marL="0">
              <a:buNone/>
            </a:pPr>
            <a:r>
              <a:rPr lang="en-US" sz="1400" b="1" dirty="0">
                <a:solidFill>
                  <a:srgbClr val="14342B"/>
                </a:solidFill>
                <a:latin typeface="Calibri" pitchFamily="34" charset="0"/>
                <a:ea typeface="Calibri" pitchFamily="34" charset="-122"/>
                <a:cs typeface="Calibri" pitchFamily="34" charset="-120"/>
              </a:rPr>
              <a:t>Solo el rol ADMIN</a:t>
            </a:r>
            <a:endParaRPr lang="en-US" sz="1400" dirty="0"/>
          </a:p>
        </p:txBody>
      </p:sp>
      <p:sp>
        <p:nvSpPr>
          <p:cNvPr id="7" name="Text 3"/>
          <p:cNvSpPr txBox="1"/>
          <p:nvPr/>
        </p:nvSpPr>
        <p:spPr>
          <a:xfrm>
            <a:off x="6400800" y="1399032"/>
            <a:ext cx="2377440" cy="777240"/>
          </a:xfrm>
          <a:prstGeom prst="rect">
            <a:avLst/>
          </a:prstGeom>
          <a:noFill/>
          <a:ln/>
        </p:spPr>
        <p:txBody>
          <a:bodyPr wrap="square" lIns="0" tIns="0" rIns="0" bIns="0" rtlCol="0" anchor="t"/>
          <a:lstStyle/>
          <a:p>
            <a:pPr indent="0" marL="0">
              <a:buNone/>
            </a:pPr>
            <a:r>
              <a:rPr lang="en-US" sz="1100" dirty="0">
                <a:solidFill>
                  <a:srgbClr val="1F2A24"/>
                </a:solidFill>
                <a:latin typeface="Calibri" pitchFamily="34" charset="0"/>
                <a:ea typeface="Calibri" pitchFamily="34" charset="-122"/>
                <a:cs typeface="Calibri" pitchFamily="34" charset="-120"/>
              </a:rPr>
              <a:t>Cualquier otro token recibe 403; la página del frontend solo aparece con ese rol.</a:t>
            </a:r>
            <a:endParaRPr lang="en-US" sz="1100" dirty="0"/>
          </a:p>
        </p:txBody>
      </p:sp>
      <p:sp>
        <p:nvSpPr>
          <p:cNvPr id="8" name="Shape 4"/>
          <p:cNvSpPr/>
          <p:nvPr/>
        </p:nvSpPr>
        <p:spPr>
          <a:xfrm>
            <a:off x="5760720" y="2286000"/>
            <a:ext cx="502920" cy="502920"/>
          </a:xfrm>
          <a:prstGeom prst="ellipse">
            <a:avLst/>
          </a:prstGeom>
          <a:solidFill>
            <a:srgbClr val="2D6A4F"/>
          </a:solidFill>
          <a:ln w="12700">
            <a:solidFill>
              <a:srgbClr val="2D6A4F"/>
            </a:solidFill>
            <a:prstDash val="solid"/>
          </a:ln>
        </p:spPr>
      </p:sp>
      <p:pic>
        <p:nvPicPr>
          <p:cNvPr id="9" name="Image 1" descr="preencoded.png">    </p:cNvPr>
          <p:cNvPicPr>
            <a:picLocks noChangeAspect="1"/>
          </p:cNvPicPr>
          <p:nvPr/>
        </p:nvPicPr>
        <p:blipFill>
          <a:blip r:embed="rId2"/>
          <a:stretch>
            <a:fillRect/>
          </a:stretch>
        </p:blipFill>
        <p:spPr>
          <a:xfrm>
            <a:off x="5881421" y="2406701"/>
            <a:ext cx="261518" cy="261518"/>
          </a:xfrm>
          <a:prstGeom prst="rect">
            <a:avLst/>
          </a:prstGeom>
        </p:spPr>
      </p:pic>
      <p:sp>
        <p:nvSpPr>
          <p:cNvPr id="10" name="Text 5"/>
          <p:cNvSpPr txBox="1"/>
          <p:nvPr/>
        </p:nvSpPr>
        <p:spPr>
          <a:xfrm>
            <a:off x="6400800" y="2267712"/>
            <a:ext cx="2377440" cy="320040"/>
          </a:xfrm>
          <a:prstGeom prst="rect">
            <a:avLst/>
          </a:prstGeom>
          <a:noFill/>
          <a:ln/>
        </p:spPr>
        <p:txBody>
          <a:bodyPr wrap="square" lIns="0" tIns="0" rIns="0" bIns="0" rtlCol="0" anchor="t"/>
          <a:lstStyle/>
          <a:p>
            <a:pPr indent="0" marL="0">
              <a:buNone/>
            </a:pPr>
            <a:r>
              <a:rPr lang="en-US" sz="1400" b="1" dirty="0">
                <a:solidFill>
                  <a:srgbClr val="14342B"/>
                </a:solidFill>
                <a:latin typeface="Calibri" pitchFamily="34" charset="0"/>
                <a:ea typeface="Calibri" pitchFamily="34" charset="-122"/>
                <a:cs typeface="Calibri" pitchFamily="34" charset="-120"/>
              </a:rPr>
              <a:t>DTOs validados</a:t>
            </a:r>
            <a:endParaRPr lang="en-US" sz="1400" dirty="0"/>
          </a:p>
        </p:txBody>
      </p:sp>
      <p:sp>
        <p:nvSpPr>
          <p:cNvPr id="11" name="Text 6"/>
          <p:cNvSpPr txBox="1"/>
          <p:nvPr/>
        </p:nvSpPr>
        <p:spPr>
          <a:xfrm>
            <a:off x="6400800" y="2587752"/>
            <a:ext cx="2377440" cy="777240"/>
          </a:xfrm>
          <a:prstGeom prst="rect">
            <a:avLst/>
          </a:prstGeom>
          <a:noFill/>
          <a:ln/>
        </p:spPr>
        <p:txBody>
          <a:bodyPr wrap="square" lIns="0" tIns="0" rIns="0" bIns="0" rtlCol="0" anchor="t"/>
          <a:lstStyle/>
          <a:p>
            <a:pPr indent="0" marL="0">
              <a:buNone/>
            </a:pPr>
            <a:r>
              <a:rPr lang="en-US" sz="1100" dirty="0">
                <a:solidFill>
                  <a:srgbClr val="1F2A24"/>
                </a:solidFill>
                <a:latin typeface="Calibri" pitchFamily="34" charset="0"/>
                <a:ea typeface="Calibri" pitchFamily="34" charset="-122"/>
                <a:cs typeface="Calibri" pitchFamily="34" charset="-120"/>
              </a:rPr>
              <a:t>Nombres de 3 a 100 caracteres, sin el prefijo amq. y tipo obligatorio: 400 por campo.</a:t>
            </a:r>
            <a:endParaRPr lang="en-US" sz="1100" dirty="0"/>
          </a:p>
        </p:txBody>
      </p:sp>
      <p:sp>
        <p:nvSpPr>
          <p:cNvPr id="12" name="Shape 7"/>
          <p:cNvSpPr/>
          <p:nvPr/>
        </p:nvSpPr>
        <p:spPr>
          <a:xfrm>
            <a:off x="5760720" y="3474720"/>
            <a:ext cx="502920" cy="502920"/>
          </a:xfrm>
          <a:prstGeom prst="ellipse">
            <a:avLst/>
          </a:prstGeom>
          <a:solidFill>
            <a:srgbClr val="2D6A4F"/>
          </a:solidFill>
          <a:ln w="12700">
            <a:solidFill>
              <a:srgbClr val="2D6A4F"/>
            </a:solidFill>
            <a:prstDash val="solid"/>
          </a:ln>
        </p:spPr>
      </p:sp>
      <p:pic>
        <p:nvPicPr>
          <p:cNvPr id="13" name="Image 2" descr="preencoded.png">    </p:cNvPr>
          <p:cNvPicPr>
            <a:picLocks noChangeAspect="1"/>
          </p:cNvPicPr>
          <p:nvPr/>
        </p:nvPicPr>
        <p:blipFill>
          <a:blip r:embed="rId3"/>
          <a:stretch>
            <a:fillRect/>
          </a:stretch>
        </p:blipFill>
        <p:spPr>
          <a:xfrm>
            <a:off x="5881421" y="3595421"/>
            <a:ext cx="261518" cy="261518"/>
          </a:xfrm>
          <a:prstGeom prst="rect">
            <a:avLst/>
          </a:prstGeom>
        </p:spPr>
      </p:pic>
      <p:sp>
        <p:nvSpPr>
          <p:cNvPr id="14" name="Text 8"/>
          <p:cNvSpPr txBox="1"/>
          <p:nvPr/>
        </p:nvSpPr>
        <p:spPr>
          <a:xfrm>
            <a:off x="6400800" y="3456432"/>
            <a:ext cx="2377440" cy="320040"/>
          </a:xfrm>
          <a:prstGeom prst="rect">
            <a:avLst/>
          </a:prstGeom>
          <a:noFill/>
          <a:ln/>
        </p:spPr>
        <p:txBody>
          <a:bodyPr wrap="square" lIns="0" tIns="0" rIns="0" bIns="0" rtlCol="0" anchor="t"/>
          <a:lstStyle/>
          <a:p>
            <a:pPr indent="0" marL="0">
              <a:buNone/>
            </a:pPr>
            <a:r>
              <a:rPr lang="en-US" sz="1400" b="1" dirty="0">
                <a:solidFill>
                  <a:srgbClr val="14342B"/>
                </a:solidFill>
                <a:latin typeface="Calibri" pitchFamily="34" charset="0"/>
                <a:ea typeface="Calibri" pitchFamily="34" charset="-122"/>
                <a:cs typeface="Calibri" pitchFamily="34" charset="-120"/>
              </a:rPr>
              <a:t>Lógica en RabbitAdminService</a:t>
            </a:r>
            <a:endParaRPr lang="en-US" sz="1400" dirty="0"/>
          </a:p>
        </p:txBody>
      </p:sp>
      <p:sp>
        <p:nvSpPr>
          <p:cNvPr id="15" name="Text 9"/>
          <p:cNvSpPr txBox="1"/>
          <p:nvPr/>
        </p:nvSpPr>
        <p:spPr>
          <a:xfrm>
            <a:off x="6400800" y="3776472"/>
            <a:ext cx="2377440" cy="777240"/>
          </a:xfrm>
          <a:prstGeom prst="rect">
            <a:avLst/>
          </a:prstGeom>
          <a:noFill/>
          <a:ln/>
        </p:spPr>
        <p:txBody>
          <a:bodyPr wrap="square" lIns="0" tIns="0" rIns="0" bIns="0" rtlCol="0" anchor="t"/>
          <a:lstStyle/>
          <a:p>
            <a:pPr indent="0" marL="0">
              <a:buNone/>
            </a:pPr>
            <a:r>
              <a:rPr lang="en-US" sz="1100" dirty="0">
                <a:solidFill>
                  <a:srgbClr val="1F2A24"/>
                </a:solidFill>
                <a:latin typeface="Calibri" pitchFamily="34" charset="0"/>
                <a:ea typeface="Calibri" pitchFamily="34" charset="-122"/>
                <a:cs typeface="Calibri" pitchFamily="34" charset="-120"/>
              </a:rPr>
              <a:t>El controller solo traduce HTTP; cada operación queda en el log con el correo del usuario.</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320040"/>
            <a:ext cx="8229600" cy="73152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Demo en vivo</a:t>
            </a:r>
            <a:endParaRPr lang="en-US" sz="3600" dirty="0"/>
          </a:p>
        </p:txBody>
      </p:sp>
      <p:sp>
        <p:nvSpPr>
          <p:cNvPr id="3" name="Shape 1"/>
          <p:cNvSpPr/>
          <p:nvPr/>
        </p:nvSpPr>
        <p:spPr>
          <a:xfrm>
            <a:off x="457200" y="1325880"/>
            <a:ext cx="502920" cy="502920"/>
          </a:xfrm>
          <a:prstGeom prst="ellipse">
            <a:avLst/>
          </a:prstGeom>
          <a:solidFill>
            <a:srgbClr val="52B788"/>
          </a:solidFill>
          <a:ln w="12700">
            <a:solidFill>
              <a:srgbClr val="52B788"/>
            </a:solidFill>
            <a:prstDash val="solid"/>
          </a:ln>
        </p:spPr>
      </p:sp>
      <p:sp>
        <p:nvSpPr>
          <p:cNvPr id="4" name="Text 2"/>
          <p:cNvSpPr txBox="1"/>
          <p:nvPr/>
        </p:nvSpPr>
        <p:spPr>
          <a:xfrm>
            <a:off x="457200" y="1325880"/>
            <a:ext cx="502920" cy="502920"/>
          </a:xfrm>
          <a:prstGeom prst="rect">
            <a:avLst/>
          </a:prstGeom>
          <a:noFill/>
          <a:ln/>
        </p:spPr>
        <p:txBody>
          <a:bodyPr wrap="square" lIns="0" tIns="0" rIns="0" bIns="0" rtlCol="0" anchor="ctr"/>
          <a:lstStyle/>
          <a:p>
            <a:pPr algn="ctr" indent="0" marL="0">
              <a:buNone/>
            </a:pPr>
            <a:r>
              <a:rPr lang="en-US" sz="1600" b="1" dirty="0">
                <a:solidFill>
                  <a:srgbClr val="14342B"/>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143000" y="1280160"/>
            <a:ext cx="3383280" cy="6400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AWS: rutas del API Gateway, authorizer JWT y CORS</a:t>
            </a:r>
            <a:endParaRPr lang="en-US" sz="1400" dirty="0"/>
          </a:p>
        </p:txBody>
      </p:sp>
      <p:sp>
        <p:nvSpPr>
          <p:cNvPr id="6" name="Shape 4"/>
          <p:cNvSpPr/>
          <p:nvPr/>
        </p:nvSpPr>
        <p:spPr>
          <a:xfrm>
            <a:off x="4663440" y="1325880"/>
            <a:ext cx="502920" cy="502920"/>
          </a:xfrm>
          <a:prstGeom prst="ellipse">
            <a:avLst/>
          </a:prstGeom>
          <a:solidFill>
            <a:srgbClr val="52B788"/>
          </a:solidFill>
          <a:ln w="12700">
            <a:solidFill>
              <a:srgbClr val="52B788"/>
            </a:solidFill>
            <a:prstDash val="solid"/>
          </a:ln>
        </p:spPr>
      </p:sp>
      <p:sp>
        <p:nvSpPr>
          <p:cNvPr id="7" name="Text 5"/>
          <p:cNvSpPr txBox="1"/>
          <p:nvPr/>
        </p:nvSpPr>
        <p:spPr>
          <a:xfrm>
            <a:off x="4663440" y="1325880"/>
            <a:ext cx="502920" cy="502920"/>
          </a:xfrm>
          <a:prstGeom prst="rect">
            <a:avLst/>
          </a:prstGeom>
          <a:noFill/>
          <a:ln/>
        </p:spPr>
        <p:txBody>
          <a:bodyPr wrap="square" lIns="0" tIns="0" rIns="0" bIns="0" rtlCol="0" anchor="ctr"/>
          <a:lstStyle/>
          <a:p>
            <a:pPr algn="ctr" indent="0" marL="0">
              <a:buNone/>
            </a:pPr>
            <a:r>
              <a:rPr lang="en-US" sz="1600" b="1" dirty="0">
                <a:solidFill>
                  <a:srgbClr val="14342B"/>
                </a:solidFill>
                <a:latin typeface="Calibri" pitchFamily="34" charset="0"/>
                <a:ea typeface="Calibri" pitchFamily="34" charset="-122"/>
                <a:cs typeface="Calibri" pitchFamily="34" charset="-120"/>
              </a:rPr>
              <a:t>2</a:t>
            </a:r>
            <a:endParaRPr lang="en-US" sz="1600" dirty="0"/>
          </a:p>
        </p:txBody>
      </p:sp>
      <p:sp>
        <p:nvSpPr>
          <p:cNvPr id="8" name="Text 6"/>
          <p:cNvSpPr txBox="1"/>
          <p:nvPr/>
        </p:nvSpPr>
        <p:spPr>
          <a:xfrm>
            <a:off x="5349240" y="1280160"/>
            <a:ext cx="3383280" cy="6400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Entra ID: usuarios del tenant y App Roles ENCARGADO y ADMIN</a:t>
            </a:r>
            <a:endParaRPr lang="en-US" sz="1400" dirty="0"/>
          </a:p>
        </p:txBody>
      </p:sp>
      <p:sp>
        <p:nvSpPr>
          <p:cNvPr id="9" name="Shape 7"/>
          <p:cNvSpPr/>
          <p:nvPr/>
        </p:nvSpPr>
        <p:spPr>
          <a:xfrm>
            <a:off x="457200" y="2423160"/>
            <a:ext cx="502920" cy="502920"/>
          </a:xfrm>
          <a:prstGeom prst="ellipse">
            <a:avLst/>
          </a:prstGeom>
          <a:solidFill>
            <a:srgbClr val="52B788"/>
          </a:solidFill>
          <a:ln w="12700">
            <a:solidFill>
              <a:srgbClr val="52B788"/>
            </a:solidFill>
            <a:prstDash val="solid"/>
          </a:ln>
        </p:spPr>
      </p:sp>
      <p:sp>
        <p:nvSpPr>
          <p:cNvPr id="10" name="Text 8"/>
          <p:cNvSpPr txBox="1"/>
          <p:nvPr/>
        </p:nvSpPr>
        <p:spPr>
          <a:xfrm>
            <a:off x="457200" y="2423160"/>
            <a:ext cx="502920" cy="502920"/>
          </a:xfrm>
          <a:prstGeom prst="rect">
            <a:avLst/>
          </a:prstGeom>
          <a:noFill/>
          <a:ln/>
        </p:spPr>
        <p:txBody>
          <a:bodyPr wrap="square" lIns="0" tIns="0" rIns="0" bIns="0" rtlCol="0" anchor="ctr"/>
          <a:lstStyle/>
          <a:p>
            <a:pPr algn="ctr" indent="0" marL="0">
              <a:buNone/>
            </a:pPr>
            <a:r>
              <a:rPr lang="en-US" sz="1600" b="1" dirty="0">
                <a:solidFill>
                  <a:srgbClr val="14342B"/>
                </a:solidFill>
                <a:latin typeface="Calibri" pitchFamily="34" charset="0"/>
                <a:ea typeface="Calibri" pitchFamily="34" charset="-122"/>
                <a:cs typeface="Calibri" pitchFamily="34" charset="-120"/>
              </a:rPr>
              <a:t>3</a:t>
            </a:r>
            <a:endParaRPr lang="en-US" sz="1600" dirty="0"/>
          </a:p>
        </p:txBody>
      </p:sp>
      <p:sp>
        <p:nvSpPr>
          <p:cNvPr id="11" name="Text 9"/>
          <p:cNvSpPr txBox="1"/>
          <p:nvPr/>
        </p:nvSpPr>
        <p:spPr>
          <a:xfrm>
            <a:off x="1143000" y="2377440"/>
            <a:ext cx="3383280" cy="6400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JWT: sin token y token falso → 401; con sesión → 200; sin rol → 403</a:t>
            </a:r>
            <a:endParaRPr lang="en-US" sz="1400" dirty="0"/>
          </a:p>
        </p:txBody>
      </p:sp>
      <p:sp>
        <p:nvSpPr>
          <p:cNvPr id="12" name="Shape 10"/>
          <p:cNvSpPr/>
          <p:nvPr/>
        </p:nvSpPr>
        <p:spPr>
          <a:xfrm>
            <a:off x="4663440" y="2423160"/>
            <a:ext cx="502920" cy="502920"/>
          </a:xfrm>
          <a:prstGeom prst="ellipse">
            <a:avLst/>
          </a:prstGeom>
          <a:solidFill>
            <a:srgbClr val="52B788"/>
          </a:solidFill>
          <a:ln w="12700">
            <a:solidFill>
              <a:srgbClr val="52B788"/>
            </a:solidFill>
            <a:prstDash val="solid"/>
          </a:ln>
        </p:spPr>
      </p:sp>
      <p:sp>
        <p:nvSpPr>
          <p:cNvPr id="13" name="Text 11"/>
          <p:cNvSpPr txBox="1"/>
          <p:nvPr/>
        </p:nvSpPr>
        <p:spPr>
          <a:xfrm>
            <a:off x="4663440" y="2423160"/>
            <a:ext cx="502920" cy="502920"/>
          </a:xfrm>
          <a:prstGeom prst="rect">
            <a:avLst/>
          </a:prstGeom>
          <a:noFill/>
          <a:ln/>
        </p:spPr>
        <p:txBody>
          <a:bodyPr wrap="square" lIns="0" tIns="0" rIns="0" bIns="0" rtlCol="0" anchor="ctr"/>
          <a:lstStyle/>
          <a:p>
            <a:pPr algn="ctr" indent="0" marL="0">
              <a:buNone/>
            </a:pPr>
            <a:r>
              <a:rPr lang="en-US" sz="1600" b="1" dirty="0">
                <a:solidFill>
                  <a:srgbClr val="14342B"/>
                </a:solidFill>
                <a:latin typeface="Calibri" pitchFamily="34" charset="0"/>
                <a:ea typeface="Calibri" pitchFamily="34" charset="-122"/>
                <a:cs typeface="Calibri" pitchFamily="34" charset="-120"/>
              </a:rPr>
              <a:t>4</a:t>
            </a:r>
            <a:endParaRPr lang="en-US" sz="1600" dirty="0"/>
          </a:p>
        </p:txBody>
      </p:sp>
      <p:sp>
        <p:nvSpPr>
          <p:cNvPr id="14" name="Text 12"/>
          <p:cNvSpPr txBox="1"/>
          <p:nvPr/>
        </p:nvSpPr>
        <p:spPr>
          <a:xfrm>
            <a:off x="5349240" y="2377440"/>
            <a:ext cx="3383280" cy="6400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Flujo: reporte → eventos; revisión → ticket; resuelto → estadísticas</a:t>
            </a:r>
            <a:endParaRPr lang="en-US" sz="1400" dirty="0"/>
          </a:p>
        </p:txBody>
      </p:sp>
      <p:sp>
        <p:nvSpPr>
          <p:cNvPr id="15" name="Shape 13"/>
          <p:cNvSpPr/>
          <p:nvPr/>
        </p:nvSpPr>
        <p:spPr>
          <a:xfrm>
            <a:off x="457200" y="3520440"/>
            <a:ext cx="502920" cy="502920"/>
          </a:xfrm>
          <a:prstGeom prst="ellipse">
            <a:avLst/>
          </a:prstGeom>
          <a:solidFill>
            <a:srgbClr val="52B788"/>
          </a:solidFill>
          <a:ln w="12700">
            <a:solidFill>
              <a:srgbClr val="52B788"/>
            </a:solidFill>
            <a:prstDash val="solid"/>
          </a:ln>
        </p:spPr>
      </p:sp>
      <p:sp>
        <p:nvSpPr>
          <p:cNvPr id="16" name="Text 14"/>
          <p:cNvSpPr txBox="1"/>
          <p:nvPr/>
        </p:nvSpPr>
        <p:spPr>
          <a:xfrm>
            <a:off x="457200" y="3520440"/>
            <a:ext cx="502920" cy="502920"/>
          </a:xfrm>
          <a:prstGeom prst="rect">
            <a:avLst/>
          </a:prstGeom>
          <a:noFill/>
          <a:ln/>
        </p:spPr>
        <p:txBody>
          <a:bodyPr wrap="square" lIns="0" tIns="0" rIns="0" bIns="0" rtlCol="0" anchor="ctr"/>
          <a:lstStyle/>
          <a:p>
            <a:pPr algn="ctr" indent="0" marL="0">
              <a:buNone/>
            </a:pPr>
            <a:r>
              <a:rPr lang="en-US" sz="1600" b="1" dirty="0">
                <a:solidFill>
                  <a:srgbClr val="14342B"/>
                </a:solidFill>
                <a:latin typeface="Calibri" pitchFamily="34" charset="0"/>
                <a:ea typeface="Calibri" pitchFamily="34" charset="-122"/>
                <a:cs typeface="Calibri" pitchFamily="34" charset="-120"/>
              </a:rPr>
              <a:t>5</a:t>
            </a:r>
            <a:endParaRPr lang="en-US" sz="1600" dirty="0"/>
          </a:p>
        </p:txBody>
      </p:sp>
      <p:sp>
        <p:nvSpPr>
          <p:cNvPr id="17" name="Text 15"/>
          <p:cNvSpPr txBox="1"/>
          <p:nvPr/>
        </p:nvSpPr>
        <p:spPr>
          <a:xfrm>
            <a:off x="1143000" y="3474720"/>
            <a:ext cx="3383280" cy="6400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Falla controlada: mensaje inválido a la DLQ y consumidor caído</a:t>
            </a:r>
            <a:endParaRPr lang="en-US" sz="1400" dirty="0"/>
          </a:p>
        </p:txBody>
      </p:sp>
      <p:sp>
        <p:nvSpPr>
          <p:cNvPr id="18" name="Shape 16"/>
          <p:cNvSpPr/>
          <p:nvPr/>
        </p:nvSpPr>
        <p:spPr>
          <a:xfrm>
            <a:off x="4663440" y="3520440"/>
            <a:ext cx="502920" cy="502920"/>
          </a:xfrm>
          <a:prstGeom prst="ellipse">
            <a:avLst/>
          </a:prstGeom>
          <a:solidFill>
            <a:srgbClr val="52B788"/>
          </a:solidFill>
          <a:ln w="12700">
            <a:solidFill>
              <a:srgbClr val="52B788"/>
            </a:solidFill>
            <a:prstDash val="solid"/>
          </a:ln>
        </p:spPr>
      </p:sp>
      <p:sp>
        <p:nvSpPr>
          <p:cNvPr id="19" name="Text 17"/>
          <p:cNvSpPr txBox="1"/>
          <p:nvPr/>
        </p:nvSpPr>
        <p:spPr>
          <a:xfrm>
            <a:off x="4663440" y="3520440"/>
            <a:ext cx="502920" cy="502920"/>
          </a:xfrm>
          <a:prstGeom prst="rect">
            <a:avLst/>
          </a:prstGeom>
          <a:noFill/>
          <a:ln/>
        </p:spPr>
        <p:txBody>
          <a:bodyPr wrap="square" lIns="0" tIns="0" rIns="0" bIns="0" rtlCol="0" anchor="ctr"/>
          <a:lstStyle/>
          <a:p>
            <a:pPr algn="ctr" indent="0" marL="0">
              <a:buNone/>
            </a:pPr>
            <a:r>
              <a:rPr lang="en-US" sz="1600" b="1" dirty="0">
                <a:solidFill>
                  <a:srgbClr val="14342B"/>
                </a:solidFill>
                <a:latin typeface="Calibri" pitchFamily="34" charset="0"/>
                <a:ea typeface="Calibri" pitchFamily="34" charset="-122"/>
                <a:cs typeface="Calibri" pitchFamily="34" charset="-120"/>
              </a:rPr>
              <a:t>6</a:t>
            </a:r>
            <a:endParaRPr lang="en-US" sz="1600" dirty="0"/>
          </a:p>
        </p:txBody>
      </p:sp>
      <p:sp>
        <p:nvSpPr>
          <p:cNvPr id="20" name="Text 18"/>
          <p:cNvSpPr txBox="1"/>
          <p:nvPr/>
        </p:nvSpPr>
        <p:spPr>
          <a:xfrm>
            <a:off x="5349240" y="3474720"/>
            <a:ext cx="3383280" cy="6400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Clúster: docker compose ps, nodos, colas quorum y exchanges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4069080" y="822960"/>
            <a:ext cx="1005840" cy="1005840"/>
          </a:xfrm>
          <a:prstGeom prst="ellipse">
            <a:avLst/>
          </a:prstGeom>
          <a:solidFill>
            <a:srgbClr val="52B788"/>
          </a:solidFill>
          <a:ln w="12700">
            <a:solidFill>
              <a:srgbClr val="52B788"/>
            </a:solidFill>
            <a:prstDash val="solid"/>
          </a:ln>
        </p:spPr>
      </p:sp>
      <p:pic>
        <p:nvPicPr>
          <p:cNvPr id="3" name="Image 0" descr="preencoded.png">    </p:cNvPr>
          <p:cNvPicPr>
            <a:picLocks noChangeAspect="1"/>
          </p:cNvPicPr>
          <p:nvPr/>
        </p:nvPicPr>
        <p:blipFill>
          <a:blip r:embed="rId1"/>
          <a:stretch>
            <a:fillRect/>
          </a:stretch>
        </p:blipFill>
        <p:spPr>
          <a:xfrm>
            <a:off x="4310482" y="1064362"/>
            <a:ext cx="523037" cy="523037"/>
          </a:xfrm>
          <a:prstGeom prst="rect">
            <a:avLst/>
          </a:prstGeom>
        </p:spPr>
      </p:pic>
      <p:sp>
        <p:nvSpPr>
          <p:cNvPr id="4" name="Text 1"/>
          <p:cNvSpPr txBox="1"/>
          <p:nvPr/>
        </p:nvSpPr>
        <p:spPr>
          <a:xfrm>
            <a:off x="457200" y="2011680"/>
            <a:ext cx="8229600" cy="822960"/>
          </a:xfrm>
          <a:prstGeom prst="rect">
            <a:avLst/>
          </a:prstGeom>
          <a:noFill/>
          <a:ln/>
        </p:spPr>
        <p:txBody>
          <a:bodyPr wrap="square" lIns="0" tIns="0" rIns="0" bIns="0" rtlCol="0" anchor="ctr"/>
          <a:lstStyle/>
          <a:p>
            <a:pPr algn="ctr" indent="0" marL="0">
              <a:buNone/>
            </a:pPr>
            <a:r>
              <a:rPr lang="en-US" sz="4400" b="1" dirty="0">
                <a:solidFill>
                  <a:srgbClr val="FFFFFF"/>
                </a:solidFill>
                <a:latin typeface="Calibri" pitchFamily="34" charset="0"/>
                <a:ea typeface="Calibri" pitchFamily="34" charset="-122"/>
                <a:cs typeface="Calibri" pitchFamily="34" charset="-120"/>
              </a:rPr>
              <a:t>Gracias</a:t>
            </a:r>
            <a:endParaRPr lang="en-US" sz="4400" dirty="0"/>
          </a:p>
        </p:txBody>
      </p:sp>
      <p:sp>
        <p:nvSpPr>
          <p:cNvPr id="5" name="Text 2"/>
          <p:cNvSpPr txBox="1"/>
          <p:nvPr/>
        </p:nvSpPr>
        <p:spPr>
          <a:xfrm>
            <a:off x="457200" y="2788920"/>
            <a:ext cx="8229600" cy="548640"/>
          </a:xfrm>
          <a:prstGeom prst="rect">
            <a:avLst/>
          </a:prstGeom>
          <a:noFill/>
          <a:ln/>
        </p:spPr>
        <p:txBody>
          <a:bodyPr wrap="square" lIns="0" tIns="0" rIns="0" bIns="0" rtlCol="0" anchor="ctr"/>
          <a:lstStyle/>
          <a:p>
            <a:pPr algn="ctr" indent="0" marL="0">
              <a:buNone/>
            </a:pPr>
            <a:r>
              <a:rPr lang="en-US" sz="2200" dirty="0">
                <a:solidFill>
                  <a:srgbClr val="52B788"/>
                </a:solidFill>
                <a:latin typeface="Calibri" pitchFamily="34" charset="0"/>
                <a:ea typeface="Calibri" pitchFamily="34" charset="-122"/>
                <a:cs typeface="Calibri" pitchFamily="34" charset="-120"/>
              </a:rPr>
              <a:t>¿Preguntas?</a:t>
            </a:r>
            <a:endParaRPr lang="en-US" sz="2200" dirty="0"/>
          </a:p>
        </p:txBody>
      </p:sp>
      <p:sp>
        <p:nvSpPr>
          <p:cNvPr id="6" name="Text 3"/>
          <p:cNvSpPr txBox="1"/>
          <p:nvPr/>
        </p:nvSpPr>
        <p:spPr>
          <a:xfrm>
            <a:off x="457200" y="4023360"/>
            <a:ext cx="8229600" cy="365760"/>
          </a:xfrm>
          <a:prstGeom prst="rect">
            <a:avLst/>
          </a:prstGeom>
          <a:noFill/>
          <a:ln/>
        </p:spPr>
        <p:txBody>
          <a:bodyPr wrap="square" lIns="0" tIns="0" rIns="0" bIns="0" rtlCol="0" anchor="ctr"/>
          <a:lstStyle/>
          <a:p>
            <a:pPr algn="ctr" indent="0" marL="0">
              <a:buNone/>
            </a:pPr>
            <a:r>
              <a:rPr lang="en-US" sz="1200" dirty="0">
                <a:solidFill>
                  <a:srgbClr val="E8F5EE"/>
                </a:solidFill>
                <a:latin typeface="Calibri" pitchFamily="34" charset="0"/>
                <a:ea typeface="Calibri" pitchFamily="34" charset="-122"/>
                <a:cs typeface="Calibri" pitchFamily="34" charset="-120"/>
              </a:rPr>
              <a:t>https://ecopunto.larraguibel.dev · github.com/jhonnylarry/dsy1107-ep1-ecopunto</a:t>
            </a:r>
            <a:endParaRPr lang="en-US" sz="1200" dirty="0"/>
          </a:p>
        </p:txBody>
      </p:sp>
    </p:spTree>
  </p:cSld>
  <p:clrMapOvr>
    <a:masterClrMapping/>
  </p:clrMapOvr>
</p:sld>
</file>

<file path=ppt/theme/theme1.xml><?xml version="1.0" encoding="utf-8"?>
<a:theme xmlns:a="http://schemas.openxmlformats.org/drawingml/2006/main" name="EcoPunto">
  <a:themeElements>
    <a:clrScheme name="EcoPunto">
      <a:dk1>
        <a:srgbClr val="1F2A24"/>
      </a:dk1>
      <a:lt1>
        <a:srgbClr val="FFFFFF"/>
      </a:lt1>
      <a:dk2>
        <a:srgbClr val="14342B"/>
      </a:dk2>
      <a:lt2>
        <a:srgbClr val="E8F5EE"/>
      </a:lt2>
      <a:accent1>
        <a:srgbClr val="2D6A4F"/>
      </a:accent1>
      <a:accent2>
        <a:srgbClr val="52B788"/>
      </a:accent2>
      <a:accent3>
        <a:srgbClr val="F4A261"/>
      </a:accent3>
      <a:accent4>
        <a:srgbClr val="C0392B"/>
      </a:accent4>
      <a:accent5>
        <a:srgbClr val="5C6B63"/>
      </a:accent5>
      <a:accent6>
        <a:srgbClr val="B7D9C6"/>
      </a:accent6>
      <a:hlink>
        <a:srgbClr val="2D6A4F"/>
      </a:hlink>
      <a:folHlink>
        <a:srgbClr val="5C6B63"/>
      </a:folHlink>
    </a:clrScheme>
    <a:fontScheme name="EcoPunt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EcoPunto · Evaluación Parcial 4</dc:title>
  <dc:subject>PptxGenJS Presentation</dc:subject>
  <dc:creator>Jonathan Larraguibel</dc:creator>
  <cp:lastModifiedBy>Jonathan Larraguibel</cp:lastModifiedBy>
  <cp:revision>1</cp:revision>
  <dcterms:created xsi:type="dcterms:W3CDTF">2026-10-23T05:18:34Z</dcterms:created>
  <dcterms:modified xsi:type="dcterms:W3CDTF">2026-10-23T05:18:34Z</dcterms:modified>
</cp:coreProperties>
</file>