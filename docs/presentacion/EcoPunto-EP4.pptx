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ae29a3c-a73a-3651-0db7-74526c962535}">
          <p14:sldIdLst>
            <p14:sldId id="256"/>
          </p14:sldIdLst>
        </p14:section>
        <p14:section name="Solución" id="{d12c78df-f7ba-c3f8-17c7-89db409ca036}">
          <p14:sldIdLst>
            <p14:sldId id="257"/>
            <p14:sldId id="258"/>
            <p14:sldId id="259"/>
          </p14:sldIdLst>
        </p14:section>
        <p14:section name="Mensajería" id="{5abb7967-4510-a5d9-3fde-f33eb0d7cb39}">
          <p14:sldIdLst>
            <p14:sldId id="260"/>
            <p14:sldId id="261"/>
            <p14:sldId id="262"/>
            <p14:sldId id="263"/>
            <p14:sldId id="264"/>
          </p14:sldIdLst>
        </p14:section>
        <p14:section name="Evidencia" id="{98194b95-d40f-5b9a-b2b3-de540df6e5f9}">
          <p14:sldIdLst>
            <p14:sldId id="265"/>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Hola, soy Jonathan Larraguibel. En la evaluación anterior les mostré EcoPunto con autenticación en Entra ID, un API Gateway y el backend desplegado en AWS.
En esta etapa le agregué mensajería asíncrona con RabbitMQ: un clúster de dos nodos, colas con su cola de mensajes fallidos, exchanges direct y topic, y cuatro microservicios nuevos. Todo corre en la nube con docker compose.
Primero les explico la arquitectura y las decisiones, y después lo muestro funcionando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La aplicación sigue haciendo lo mismo de antes: consultar puntos limpios y reportar problemas. Lo nuevo son tres capacidades que funcionan con mensajería.
Primero, cada vez que se crea un reporte o cambia su estado, el backend publica un evento. Dos microservicios lo procesan de forma independiente: uno envía notificaciones y otro lleva las estadísticas.
Segundo, cuando el encargado pasa un reporte a revisión, se envía una tarea y otro microservicio genera un ticket de mantención.
Y tercero, un microservicio administrador que permite crear y eliminar colas, exchanges y bindings por REST, con una página en el frontend solo para el rol ADMIN.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Esta es la arquitectura desplegada hoy.
El frontend en Angular inicia sesión contra Entra ID y llama a la API siempre a través del API Gateway, que valida el JWT y enruta cada petición al microservicio que corresponde: el backend, estadísticas, tickets o el administrador.
Todo el backend corre en una EC2 con docker compose: ocho contenedores. El backend es el productor: publica los eventos en RabbitMQ, que es un clúster de dos nodos.
Los consumidores son ms-notificaciones, ms-estadisticas y ms-tickets. Cada microservicio tiene su propia base de datos dentro del mismo PostgreSQL.
En verde están las llamadas HTTP con token y en naranjo los mensajes de RabbitMQ.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La identidad sigue en Microsoft Entra ID, con el flujo Authorization Code y PKCE de la evaluación anterior. Tengo tres usuarios: encargado1 con el rol ENCARGADO, usuario1 sin rol, y una cuenta administradora.
Agregué un App Role nuevo, ADMIN, que viaja en el claim roles del token. Solo ese rol puede usar la API de administración de RabbitMQ.
El API Gateway ahora tiene doce rutas: además de las del backend, rutas específicas hacia estadísticas, tickets y el administrador, y el método PATCH para cambiar el estado de un reporte.
La validación del token sigue en dos capas: el Gateway rechaza con 401 los tokens inválidos, y cada microservicio vuelve a validar el token y aplica los roles, respondiendo 403 si falta el permiso.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Esta es la topología. Hay dos tipos de exchange y cada uno tiene un motivo.
ecopunto.events es topic porque publica hechos, como "se creó un reporte", que pueden tener varios interesados. Notificaciones se suscribe a reporte.creado y reporte.resuelto; estadísticas usa el patrón reporte.asterisco y recibe cualquier evento de reporte, incluso uno nuevo, sin tocar el productor.
ecopunto.tareas es direct porque publica órdenes de trabajo para un solo tipo de trabajador, con coincidencia exacta: ticket.mantencion.
Y las tres colas tienen su DLQ: se configuran con x-dead-letter-exchange apuntando a ecopunto.dlx, que deriva cada mensaje fallido a la DLQ de su cola.
Ningún nombre está escrito en el código de negocio: todos vienen del application.yml.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Así viaja un reporte por el sistema.
Un vecino crea un reporte. El backend lo guarda en su base y responde 201 de inmediato, sin esperar a los consumidores.
El evento se publica recién después del commit: si la transacción falla, no sale ningún mensaje. Y uso publisher confirms para saber que el broker lo recibió.
El exchange topic lo entrega a notificaciones, que avisa a los encargados, y a estadísticas, que actualiza los contadores.
Cuando el encargado pasa el reporte a revisión, además del evento se envía una tarea por el exchange direct, y ms-tickets genera el ticket de mantención. Al marcarlo resuelto, se notifica al vecino.
La clave es qué es síncrono y qué no: la operación principal responde al instante, y lo demás ocurre después. Si un consumidor está caído, el mensaje espera en la cola. Eso lo voy a mostrar en la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Para no perder mensajes, los consumidores usan ACK manual. El consumidor confirma solo después de guardar en su base; si se cae a mitad de camino, RabbitMQ vuelve a entregar el mensaje.
Distingo dos tipos de error. Si el error es de datos, como un JSON inválido, reintentar no sirve: se rechaza sin reencolar y el mensaje va directo a su DLQ, donde RabbitMQ agrega el header x-death con el motivo.
Si el error es transitorio, como la base de datos caída, se reintenta hasta tres veces con espera creciente, y recién ahí va a la DLQ. Nunca uso requeue en true, porque un mensaje defectuoso volvería a fallar en un bucle infinito.
Y como RabbitMQ garantiza entrega al menos una vez, un mensaje puede llegar repetido. Cada consumidor guarda el identificador del evento y, si ya lo procesó, solo confirma. Así no se generan dos tickets para el mismo reporte.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RabbitMQ corre como un clúster de dos nodos, rabbit1 y rabbit2, levantados con docker compose. Comparten la Erlang cookie y se descubren con classic_config. Cada nodo tiene su propio Management UI.
Los microservicios se conectan a los dos nodos, así que si uno cae se reconectan al otro.
Las seis colas son de tipo quorum: los mensajes se replican en ambos nodos, con un líder y una réplica. Además, las colas son durables y los mensajes persistentes, que son las tres condiciones para no perder mensajes.
Una limitación que asumo: una cola quorum necesita mayoría, y con dos nodos, si uno cae, no hay mayoría. En producción usaría tres nodos.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El cuarto microservicio es ms-rabbit-admin, una API REST para administrar RabbitMQ: listar, crear y eliminar colas, exchanges y bindings. Al crear una cola se puede pedir que venga con su DLQ.
Solo el rol ADMIN puede usarlo; con cualquier otro token responde 403.
Los DTOs están validados: no acepta nombres vacíos, ni el prefijo amq., que RabbitMQ reserva, y responde 400 con el detalle de cada campo. Tampoco elimina una cola que tiene mensajes o consumidores: responde 409.
Toda la lógica está en RabbitAdminService; el controller solo traduce HTTP. Y cada operación queda registrada en el log con el correo de quien la hizo.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Antes de la presentación ejecuté una batería de pruebas de punta a punta sobre el stack completo: 38 pruebas de API, todas correctas.
Cubren la seguridad que ya tenía: sin token, con token falso o vencido, 401; con token válido pero sin el permiso, 403.
Las funciones antiguas siguen funcionando: el CRUD de puntos limpios para el encargado y el rechazo para el usuario sin rol.
Y las nuevas: crear reportes, transiciones de estado con 409 si no son válidas, tickets, estadísticas y el administrador con sus validaciones.
Además probé la mensajería: un mensaje con JSON inválido termina en la DLQ con el header x-death, y con ms-tickets detenido la API responde igual en 40 milisegundos y el ticket se genera cuando el servicio vuelve.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 diapositiva de respaldo)
Estas capturas son del Management UI del clúster en AWS. A la izquierda, arriba los dos nodos y abajo las seis colas de tipo quorum repartidas entre los dos nodos, con su dead-letter exchange y routing key. A la derecha, un mensaje inválido que terminó en la DLQ de tickets, con el header x-death que indica de qué cola vino y por qué fue rechazado.
Si algo falla en la demo en vivo, esta es la evidencia.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El despliegue usa dos instancias EC2: una para el frontend y otra para el backend, donde docker compose levanta ocho contenedores: PostgreSQL, los dos nodos de RabbitMQ, el backend y los cuatro microservicios.
El arranque es ordenado: con healthchecks, los servicios esperan a que la base y los dos nodos estén listos.
Cada microservicio tiene su propia base, con un volumen persistente, y el puerto de PostgreSQL no se expone.
Ahora las instancias tienen Elastic IP, así que el dominio ya no cambia cuando se reinicia el laboratorio. Y ningún secreto está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 en total, ver docs/guion-demo-ep4.md)
Ahora lo muestro funcionando en vivo, en este orden:
1. En la consola de AWS, el API Gateway con sus rutas, el authorizer JWT y el CORS.
2. En Entra ID, los usuarios y los roles ENCARGADO y ADMIN.
3. Inicio sesión como vecino y creo un reporte, mirando la pestaña Red y los logs del servidor.
4. Como encargado, paso el reporte a revisión, aparece el ticket, lo marco resuelto y se actualizan las estadísticas.
5. Una falla controlada: publico un mensaje inválido y llega a la DLQ; después detengo ms-tickets y muestro que el mensaje espera en la cola.
6. Y el clúster: docker compose ps, los dos nodos en el Management UI, las colas con sus DLQ, los exchanges y la página de administración.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Para cerrar: EcoPunto ahora procesa sus consecuencias de forma asíncrona. Tiene un clúster RabbitMQ de dos nodos, exchanges topic y direct, tres colas con su DLQ, ACK manual con reintentos e idempotencia, y un microservicio para administrar RabbitMQ, todo desplegado en AWS detrás del API Gateway y con login en Entra ID.
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A">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UAVE">
    <p:bg>
      <p:bgPr>
        <a:solidFill>
          <a:srgbClr val="E8F5EE"/>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A">
    <p:bg>
      <p:bgPr>
        <a:solidFill>
          <a:srgbClr val="14342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1097280"/>
            <a:ext cx="1005840" cy="1005840"/>
          </a:xfrm>
          <a:prstGeom prst="ellipse">
            <a:avLst/>
          </a:prstGeom>
          <a:solidFill>
            <a:srgbClr val="52B788"/>
          </a:solidFill>
          <a:ln w="12700">
            <a:solidFill>
              <a:srgbClr val="52B788"/>
            </a:solidFill>
            <a:prstDash val="solid"/>
          </a:ln>
        </p:spPr>
      </p:sp>
      <p:pic>
        <p:nvPicPr>
          <p:cNvPr id="3" name="Image 0" descr="preencoded.png">    </p:cNvPr>
          <p:cNvPicPr>
            <a:picLocks noChangeAspect="1"/>
          </p:cNvPicPr>
          <p:nvPr/>
        </p:nvPicPr>
        <p:blipFill>
          <a:blip r:embed="rId1"/>
          <a:stretch>
            <a:fillRect/>
          </a:stretch>
        </p:blipFill>
        <p:spPr>
          <a:xfrm>
            <a:off x="790042" y="1338682"/>
            <a:ext cx="523037" cy="523037"/>
          </a:xfrm>
          <a:prstGeom prst="rect">
            <a:avLst/>
          </a:prstGeom>
        </p:spPr>
      </p:pic>
      <p:sp>
        <p:nvSpPr>
          <p:cNvPr id="4" name="Text 1"/>
          <p:cNvSpPr txBox="1"/>
          <p:nvPr/>
        </p:nvSpPr>
        <p:spPr>
          <a:xfrm>
            <a:off x="1783080" y="1051560"/>
            <a:ext cx="68580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EcoPunto</a:t>
            </a:r>
            <a:endParaRPr lang="en-US" sz="4800" dirty="0"/>
          </a:p>
        </p:txBody>
      </p:sp>
      <p:sp>
        <p:nvSpPr>
          <p:cNvPr id="5" name="Text 2"/>
          <p:cNvSpPr txBox="1"/>
          <p:nvPr/>
        </p:nvSpPr>
        <p:spPr>
          <a:xfrm>
            <a:off x="1783080" y="1874520"/>
            <a:ext cx="6858000" cy="731520"/>
          </a:xfrm>
          <a:prstGeom prst="rect">
            <a:avLst/>
          </a:prstGeom>
          <a:noFill/>
          <a:ln/>
        </p:spPr>
        <p:txBody>
          <a:bodyPr wrap="square" lIns="0" tIns="0" rIns="0" bIns="0" rtlCol="0" anchor="t"/>
          <a:lstStyle/>
          <a:p>
            <a:pPr indent="0" marL="0">
              <a:buNone/>
            </a:pPr>
            <a:r>
              <a:rPr lang="en-US" sz="1800" dirty="0">
                <a:solidFill>
                  <a:srgbClr val="E8F5EE"/>
                </a:solidFill>
                <a:latin typeface="Calibri" pitchFamily="34" charset="0"/>
                <a:ea typeface="Calibri" pitchFamily="34" charset="-122"/>
                <a:cs typeface="Calibri" pitchFamily="34" charset="-120"/>
              </a:rPr>
              <a:t>Mensajería asíncrona con RabbitMQ: clúster de 2 nodos, colas con DLQ y microservicios en AWS</a:t>
            </a:r>
            <a:endParaRPr lang="en-US" sz="1800" dirty="0"/>
          </a:p>
        </p:txBody>
      </p:sp>
      <p:sp>
        <p:nvSpPr>
          <p:cNvPr id="6" name="Text 3"/>
          <p:cNvSpPr txBox="1"/>
          <p:nvPr/>
        </p:nvSpPr>
        <p:spPr>
          <a:xfrm>
            <a:off x="548640" y="3566160"/>
            <a:ext cx="8046720" cy="914400"/>
          </a:xfrm>
          <a:prstGeom prst="rect">
            <a:avLst/>
          </a:prstGeom>
          <a:noFill/>
          <a:ln/>
        </p:spPr>
        <p:txBody>
          <a:bodyPr wrap="square" lIns="0" tIns="0" rIns="0" bIns="0" rtlCol="0" anchor="t"/>
          <a:lstStyle/>
          <a:p>
            <a:pPr indent="0" marL="0">
              <a:buNone/>
            </a:pPr>
            <a:r>
              <a:rPr lang="en-US" sz="1400" b="1" dirty="0">
                <a:solidFill>
                  <a:srgbClr val="52B788"/>
                </a:solidFill>
                <a:latin typeface="Calibri" pitchFamily="34" charset="0"/>
                <a:ea typeface="Calibri" pitchFamily="34" charset="-122"/>
                <a:cs typeface="Calibri" pitchFamily="34" charset="-120"/>
              </a:rPr>
              <a:t>Jonathan Larraguibel</a:t>
            </a:r>
            <a:endParaRPr lang="en-US" sz="1400" dirty="0"/>
          </a:p>
          <a:p>
            <a:pPr indent="0" marL="0">
              <a:buNone/>
            </a:pPr>
            <a:r>
              <a:rPr lang="en-US" sz="1400" dirty="0">
                <a:solidFill>
                  <a:srgbClr val="52B788"/>
                </a:solidFill>
                <a:latin typeface="Calibri" pitchFamily="34" charset="0"/>
                <a:ea typeface="Calibri" pitchFamily="34" charset="-122"/>
                <a:cs typeface="Calibri" pitchFamily="34" charset="-120"/>
              </a:rPr>
              <a:t>DSY1107 · Desarrollo Cloud Native I · Sección 002D</a:t>
            </a:r>
            <a:endParaRPr lang="en-US" sz="1400" dirty="0"/>
          </a:p>
          <a:p>
            <a:pPr indent="0" marL="0">
              <a:buNone/>
            </a:pPr>
            <a:r>
              <a:rPr lang="en-US" sz="1400" dirty="0">
                <a:solidFill>
                  <a:srgbClr val="52B788"/>
                </a:solidFill>
                <a:latin typeface="Calibri" pitchFamily="34" charset="0"/>
                <a:ea typeface="Calibri" pitchFamily="34" charset="-122"/>
                <a:cs typeface="Calibri" pitchFamily="34" charset="-120"/>
              </a:rPr>
              <a:t>Evaluación Parcial 4</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Qué agregamos en esta etapa</a:t>
            </a:r>
            <a:endParaRPr lang="en-US" sz="3000" dirty="0"/>
          </a:p>
        </p:txBody>
      </p:sp>
      <p:sp>
        <p:nvSpPr>
          <p:cNvPr id="3" name="Shape 1"/>
          <p:cNvSpPr/>
          <p:nvPr/>
        </p:nvSpPr>
        <p:spPr>
          <a:xfrm>
            <a:off x="457200" y="1234440"/>
            <a:ext cx="2560320" cy="3200400"/>
          </a:xfrm>
          <a:prstGeom prst="roundRect">
            <a:avLst>
              <a:gd name="adj" fmla="val 4286"/>
            </a:avLst>
          </a:prstGeom>
          <a:solidFill>
            <a:srgbClr val="E8F5EE"/>
          </a:solidFill>
          <a:ln w="12700">
            <a:solidFill>
              <a:srgbClr val="E8F5EE"/>
            </a:solidFill>
            <a:prstDash val="solid"/>
          </a:ln>
        </p:spPr>
      </p:sp>
      <p:sp>
        <p:nvSpPr>
          <p:cNvPr id="4" name="Shape 2"/>
          <p:cNvSpPr/>
          <p:nvPr/>
        </p:nvSpPr>
        <p:spPr>
          <a:xfrm>
            <a:off x="731520" y="1508760"/>
            <a:ext cx="731520" cy="73152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907085" y="1684325"/>
            <a:ext cx="380390" cy="380390"/>
          </a:xfrm>
          <a:prstGeom prst="rect">
            <a:avLst/>
          </a:prstGeom>
        </p:spPr>
      </p:pic>
      <p:sp>
        <p:nvSpPr>
          <p:cNvPr id="6" name="Text 3"/>
          <p:cNvSpPr txBox="1"/>
          <p:nvPr/>
        </p:nvSpPr>
        <p:spPr>
          <a:xfrm>
            <a:off x="731520" y="2423160"/>
            <a:ext cx="2103120" cy="640080"/>
          </a:xfrm>
          <a:prstGeom prst="rect">
            <a:avLst/>
          </a:prstGeom>
          <a:noFill/>
          <a:ln/>
        </p:spPr>
        <p:txBody>
          <a:bodyPr wrap="square" lIns="0" tIns="0" rIns="0" bIns="0" rtlCol="0" anchor="t"/>
          <a:lstStyle/>
          <a:p>
            <a:pPr indent="0" marL="0">
              <a:buNone/>
            </a:pPr>
            <a:r>
              <a:rPr lang="en-US" sz="1700" b="1" dirty="0">
                <a:solidFill>
                  <a:srgbClr val="14342B"/>
                </a:solidFill>
                <a:latin typeface="Calibri" pitchFamily="34" charset="0"/>
                <a:ea typeface="Calibri" pitchFamily="34" charset="-122"/>
                <a:cs typeface="Calibri" pitchFamily="34" charset="-120"/>
              </a:rPr>
              <a:t>Eventos de reportes</a:t>
            </a:r>
            <a:endParaRPr lang="en-US" sz="1700" dirty="0"/>
          </a:p>
        </p:txBody>
      </p:sp>
      <p:sp>
        <p:nvSpPr>
          <p:cNvPr id="7" name="Text 4"/>
          <p:cNvSpPr txBox="1"/>
          <p:nvPr/>
        </p:nvSpPr>
        <p:spPr>
          <a:xfrm>
            <a:off x="731520" y="3108960"/>
            <a:ext cx="2057400" cy="123444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Cada cambio en un reporte se publica en un exchange topic; notificaciones y estadísticas lo procesan por su cuenta.</a:t>
            </a:r>
            <a:endParaRPr lang="en-US" sz="1300" dirty="0"/>
          </a:p>
        </p:txBody>
      </p:sp>
      <p:sp>
        <p:nvSpPr>
          <p:cNvPr id="8" name="Shape 5"/>
          <p:cNvSpPr/>
          <p:nvPr/>
        </p:nvSpPr>
        <p:spPr>
          <a:xfrm>
            <a:off x="3246120" y="1234440"/>
            <a:ext cx="2560320" cy="3200400"/>
          </a:xfrm>
          <a:prstGeom prst="roundRect">
            <a:avLst>
              <a:gd name="adj" fmla="val 4286"/>
            </a:avLst>
          </a:prstGeom>
          <a:solidFill>
            <a:srgbClr val="E8F5EE"/>
          </a:solidFill>
          <a:ln w="12700">
            <a:solidFill>
              <a:srgbClr val="E8F5EE"/>
            </a:solidFill>
            <a:prstDash val="solid"/>
          </a:ln>
        </p:spPr>
      </p:sp>
      <p:sp>
        <p:nvSpPr>
          <p:cNvPr id="9" name="Shape 6"/>
          <p:cNvSpPr/>
          <p:nvPr/>
        </p:nvSpPr>
        <p:spPr>
          <a:xfrm>
            <a:off x="3520440" y="1508760"/>
            <a:ext cx="731520" cy="731520"/>
          </a:xfrm>
          <a:prstGeom prst="ellipse">
            <a:avLst/>
          </a:prstGeom>
          <a:solidFill>
            <a:srgbClr val="2D6A4F"/>
          </a:solidFill>
          <a:ln w="12700">
            <a:solidFill>
              <a:srgbClr val="2D6A4F"/>
            </a:solidFill>
            <a:prstDash val="solid"/>
          </a:ln>
        </p:spPr>
      </p:sp>
      <p:pic>
        <p:nvPicPr>
          <p:cNvPr id="10" name="Image 1" descr="preencoded.png">    </p:cNvPr>
          <p:cNvPicPr>
            <a:picLocks noChangeAspect="1"/>
          </p:cNvPicPr>
          <p:nvPr/>
        </p:nvPicPr>
        <p:blipFill>
          <a:blip r:embed="rId2"/>
          <a:stretch>
            <a:fillRect/>
          </a:stretch>
        </p:blipFill>
        <p:spPr>
          <a:xfrm>
            <a:off x="3696005" y="1684325"/>
            <a:ext cx="380390" cy="380390"/>
          </a:xfrm>
          <a:prstGeom prst="rect">
            <a:avLst/>
          </a:prstGeom>
        </p:spPr>
      </p:pic>
      <p:sp>
        <p:nvSpPr>
          <p:cNvPr id="11" name="Text 7"/>
          <p:cNvSpPr txBox="1"/>
          <p:nvPr/>
        </p:nvSpPr>
        <p:spPr>
          <a:xfrm>
            <a:off x="3520440" y="2423160"/>
            <a:ext cx="2103120" cy="640080"/>
          </a:xfrm>
          <a:prstGeom prst="rect">
            <a:avLst/>
          </a:prstGeom>
          <a:noFill/>
          <a:ln/>
        </p:spPr>
        <p:txBody>
          <a:bodyPr wrap="square" lIns="0" tIns="0" rIns="0" bIns="0" rtlCol="0" anchor="t"/>
          <a:lstStyle/>
          <a:p>
            <a:pPr indent="0" marL="0">
              <a:buNone/>
            </a:pPr>
            <a:r>
              <a:rPr lang="en-US" sz="1700" b="1" dirty="0">
                <a:solidFill>
                  <a:srgbClr val="14342B"/>
                </a:solidFill>
                <a:latin typeface="Calibri" pitchFamily="34" charset="0"/>
                <a:ea typeface="Calibri" pitchFamily="34" charset="-122"/>
                <a:cs typeface="Calibri" pitchFamily="34" charset="-120"/>
              </a:rPr>
              <a:t>Tickets de mantención</a:t>
            </a:r>
            <a:endParaRPr lang="en-US" sz="1700" dirty="0"/>
          </a:p>
        </p:txBody>
      </p:sp>
      <p:sp>
        <p:nvSpPr>
          <p:cNvPr id="12" name="Text 8"/>
          <p:cNvSpPr txBox="1"/>
          <p:nvPr/>
        </p:nvSpPr>
        <p:spPr>
          <a:xfrm>
            <a:off x="3520440" y="3108960"/>
            <a:ext cx="2057400" cy="123444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Al pasar un reporte a revisión se envía una tarea por un exchange direct y ms-tickets genera el ticket.</a:t>
            </a:r>
            <a:endParaRPr lang="en-US" sz="1300" dirty="0"/>
          </a:p>
        </p:txBody>
      </p:sp>
      <p:sp>
        <p:nvSpPr>
          <p:cNvPr id="13" name="Shape 9"/>
          <p:cNvSpPr/>
          <p:nvPr/>
        </p:nvSpPr>
        <p:spPr>
          <a:xfrm>
            <a:off x="6035040" y="1234440"/>
            <a:ext cx="2560320" cy="3200400"/>
          </a:xfrm>
          <a:prstGeom prst="roundRect">
            <a:avLst>
              <a:gd name="adj" fmla="val 4286"/>
            </a:avLst>
          </a:prstGeom>
          <a:solidFill>
            <a:srgbClr val="E8F5EE"/>
          </a:solidFill>
          <a:ln w="12700">
            <a:solidFill>
              <a:srgbClr val="E8F5EE"/>
            </a:solidFill>
            <a:prstDash val="solid"/>
          </a:ln>
        </p:spPr>
      </p:sp>
      <p:sp>
        <p:nvSpPr>
          <p:cNvPr id="14" name="Shape 10"/>
          <p:cNvSpPr/>
          <p:nvPr/>
        </p:nvSpPr>
        <p:spPr>
          <a:xfrm>
            <a:off x="6309360" y="1508760"/>
            <a:ext cx="731520" cy="731520"/>
          </a:xfrm>
          <a:prstGeom prst="ellipse">
            <a:avLst/>
          </a:prstGeom>
          <a:solidFill>
            <a:srgbClr val="2D6A4F"/>
          </a:solidFill>
          <a:ln w="12700">
            <a:solidFill>
              <a:srgbClr val="2D6A4F"/>
            </a:solidFill>
            <a:prstDash val="solid"/>
          </a:ln>
        </p:spPr>
      </p:sp>
      <p:pic>
        <p:nvPicPr>
          <p:cNvPr id="15" name="Image 2" descr="preencoded.png">    </p:cNvPr>
          <p:cNvPicPr>
            <a:picLocks noChangeAspect="1"/>
          </p:cNvPicPr>
          <p:nvPr/>
        </p:nvPicPr>
        <p:blipFill>
          <a:blip r:embed="rId3"/>
          <a:stretch>
            <a:fillRect/>
          </a:stretch>
        </p:blipFill>
        <p:spPr>
          <a:xfrm>
            <a:off x="6484925" y="1684325"/>
            <a:ext cx="380390" cy="380390"/>
          </a:xfrm>
          <a:prstGeom prst="rect">
            <a:avLst/>
          </a:prstGeom>
        </p:spPr>
      </p:pic>
      <p:sp>
        <p:nvSpPr>
          <p:cNvPr id="16" name="Text 11"/>
          <p:cNvSpPr txBox="1"/>
          <p:nvPr/>
        </p:nvSpPr>
        <p:spPr>
          <a:xfrm>
            <a:off x="6309360" y="2423160"/>
            <a:ext cx="2103120" cy="640080"/>
          </a:xfrm>
          <a:prstGeom prst="rect">
            <a:avLst/>
          </a:prstGeom>
          <a:noFill/>
          <a:ln/>
        </p:spPr>
        <p:txBody>
          <a:bodyPr wrap="square" lIns="0" tIns="0" rIns="0" bIns="0" rtlCol="0" anchor="t"/>
          <a:lstStyle/>
          <a:p>
            <a:pPr indent="0" marL="0">
              <a:buNone/>
            </a:pPr>
            <a:r>
              <a:rPr lang="en-US" sz="1700" b="1" dirty="0">
                <a:solidFill>
                  <a:srgbClr val="14342B"/>
                </a:solidFill>
                <a:latin typeface="Calibri" pitchFamily="34" charset="0"/>
                <a:ea typeface="Calibri" pitchFamily="34" charset="-122"/>
                <a:cs typeface="Calibri" pitchFamily="34" charset="-120"/>
              </a:rPr>
              <a:t>Administrar RabbitMQ</a:t>
            </a:r>
            <a:endParaRPr lang="en-US" sz="1700" dirty="0"/>
          </a:p>
        </p:txBody>
      </p:sp>
      <p:sp>
        <p:nvSpPr>
          <p:cNvPr id="17" name="Text 12"/>
          <p:cNvSpPr txBox="1"/>
          <p:nvPr/>
        </p:nvSpPr>
        <p:spPr>
          <a:xfrm>
            <a:off x="6309360" y="3108960"/>
            <a:ext cx="2057400" cy="123444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Un microservicio y una página, solo para el rol ADMIN, crean y eliminan colas, exchanges y bindings.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Arquitectura desplegada</a:t>
            </a:r>
            <a:endParaRPr lang="en-US" sz="3000" dirty="0"/>
          </a:p>
        </p:txBody>
      </p:sp>
      <p:sp>
        <p:nvSpPr>
          <p:cNvPr id="3" name="Shape 1"/>
          <p:cNvSpPr/>
          <p:nvPr/>
        </p:nvSpPr>
        <p:spPr>
          <a:xfrm>
            <a:off x="411480" y="1188720"/>
            <a:ext cx="1463040" cy="1325880"/>
          </a:xfrm>
          <a:prstGeom prst="roundRect">
            <a:avLst>
              <a:gd name="adj" fmla="val 8276"/>
            </a:avLst>
          </a:prstGeom>
          <a:solidFill>
            <a:srgbClr val="FFFFFF"/>
          </a:solidFill>
          <a:ln w="12700">
            <a:solidFill>
              <a:srgbClr val="D5E8DD"/>
            </a:solidFill>
            <a:prstDash val="solid"/>
          </a:ln>
        </p:spPr>
      </p:sp>
      <p:sp>
        <p:nvSpPr>
          <p:cNvPr id="4" name="Shape 2"/>
          <p:cNvSpPr/>
          <p:nvPr/>
        </p:nvSpPr>
        <p:spPr>
          <a:xfrm>
            <a:off x="914400" y="1325880"/>
            <a:ext cx="457200" cy="45720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1024128" y="1435608"/>
            <a:ext cx="237744" cy="237744"/>
          </a:xfrm>
          <a:prstGeom prst="rect">
            <a:avLst/>
          </a:prstGeom>
        </p:spPr>
      </p:pic>
      <p:sp>
        <p:nvSpPr>
          <p:cNvPr id="6" name="Text 3"/>
          <p:cNvSpPr txBox="1"/>
          <p:nvPr/>
        </p:nvSpPr>
        <p:spPr>
          <a:xfrm>
            <a:off x="411480" y="1847088"/>
            <a:ext cx="1463040" cy="27432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Frontend</a:t>
            </a:r>
            <a:endParaRPr lang="en-US" sz="1300" dirty="0"/>
          </a:p>
        </p:txBody>
      </p:sp>
      <p:sp>
        <p:nvSpPr>
          <p:cNvPr id="7" name="Text 4"/>
          <p:cNvSpPr txBox="1"/>
          <p:nvPr/>
        </p:nvSpPr>
        <p:spPr>
          <a:xfrm>
            <a:off x="457200" y="2121408"/>
            <a:ext cx="1371600" cy="347472"/>
          </a:xfrm>
          <a:prstGeom prst="rect">
            <a:avLst/>
          </a:prstGeom>
          <a:noFill/>
          <a:ln/>
        </p:spPr>
        <p:txBody>
          <a:bodyPr wrap="square" lIns="0" tIns="0" rIns="0" bIns="0" rtlCol="0" anchor="t"/>
          <a:lstStyle/>
          <a:p>
            <a:pPr algn="ctr" indent="0" marL="0">
              <a:buNone/>
            </a:pPr>
            <a:r>
              <a:rPr lang="en-US" sz="1000" dirty="0">
                <a:solidFill>
                  <a:srgbClr val="5C6B63"/>
                </a:solidFill>
                <a:latin typeface="Calibri" pitchFamily="34" charset="0"/>
                <a:ea typeface="Calibri" pitchFamily="34" charset="-122"/>
                <a:cs typeface="Calibri" pitchFamily="34" charset="-120"/>
              </a:rPr>
              <a:t>Angular + MSAL</a:t>
            </a:r>
            <a:endParaRPr lang="en-US" sz="1000" dirty="0"/>
          </a:p>
          <a:p>
            <a:pPr algn="ctr" indent="0" marL="0">
              <a:buNone/>
            </a:pPr>
            <a:r>
              <a:rPr lang="en-US" sz="1000" dirty="0">
                <a:solidFill>
                  <a:srgbClr val="5C6B63"/>
                </a:solidFill>
                <a:latin typeface="Calibri" pitchFamily="34" charset="0"/>
                <a:ea typeface="Calibri" pitchFamily="34" charset="-122"/>
                <a:cs typeface="Calibri" pitchFamily="34" charset="-120"/>
              </a:rPr>
              <a:t>nginx · EC2 · HTTPS</a:t>
            </a:r>
            <a:endParaRPr lang="en-US" sz="1000" dirty="0"/>
          </a:p>
        </p:txBody>
      </p:sp>
      <p:sp>
        <p:nvSpPr>
          <p:cNvPr id="8" name="Shape 5"/>
          <p:cNvSpPr/>
          <p:nvPr/>
        </p:nvSpPr>
        <p:spPr>
          <a:xfrm>
            <a:off x="411480" y="3017520"/>
            <a:ext cx="1463040" cy="1325880"/>
          </a:xfrm>
          <a:prstGeom prst="roundRect">
            <a:avLst>
              <a:gd name="adj" fmla="val 8276"/>
            </a:avLst>
          </a:prstGeom>
          <a:solidFill>
            <a:srgbClr val="14342B"/>
          </a:solidFill>
          <a:ln w="12700">
            <a:solidFill>
              <a:srgbClr val="14342B"/>
            </a:solidFill>
            <a:prstDash val="solid"/>
          </a:ln>
        </p:spPr>
      </p:sp>
      <p:sp>
        <p:nvSpPr>
          <p:cNvPr id="9" name="Shape 6"/>
          <p:cNvSpPr/>
          <p:nvPr/>
        </p:nvSpPr>
        <p:spPr>
          <a:xfrm>
            <a:off x="914400" y="3154680"/>
            <a:ext cx="457200" cy="457200"/>
          </a:xfrm>
          <a:prstGeom prst="ellipse">
            <a:avLst/>
          </a:prstGeom>
          <a:solidFill>
            <a:srgbClr val="52B788"/>
          </a:solidFill>
          <a:ln w="12700">
            <a:solidFill>
              <a:srgbClr val="52B788"/>
            </a:solidFill>
            <a:prstDash val="solid"/>
          </a:ln>
        </p:spPr>
      </p:sp>
      <p:pic>
        <p:nvPicPr>
          <p:cNvPr id="10" name="Image 1" descr="preencoded.png">    </p:cNvPr>
          <p:cNvPicPr>
            <a:picLocks noChangeAspect="1"/>
          </p:cNvPicPr>
          <p:nvPr/>
        </p:nvPicPr>
        <p:blipFill>
          <a:blip r:embed="rId2"/>
          <a:stretch>
            <a:fillRect/>
          </a:stretch>
        </p:blipFill>
        <p:spPr>
          <a:xfrm>
            <a:off x="1024128" y="3264408"/>
            <a:ext cx="237744" cy="237744"/>
          </a:xfrm>
          <a:prstGeom prst="rect">
            <a:avLst/>
          </a:prstGeom>
        </p:spPr>
      </p:pic>
      <p:sp>
        <p:nvSpPr>
          <p:cNvPr id="11" name="Text 7"/>
          <p:cNvSpPr txBox="1"/>
          <p:nvPr/>
        </p:nvSpPr>
        <p:spPr>
          <a:xfrm>
            <a:off x="411480" y="3675888"/>
            <a:ext cx="146304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Entra ID</a:t>
            </a:r>
            <a:endParaRPr lang="en-US" sz="1300" dirty="0"/>
          </a:p>
        </p:txBody>
      </p:sp>
      <p:sp>
        <p:nvSpPr>
          <p:cNvPr id="12" name="Text 8"/>
          <p:cNvSpPr txBox="1"/>
          <p:nvPr/>
        </p:nvSpPr>
        <p:spPr>
          <a:xfrm>
            <a:off x="457200" y="3950208"/>
            <a:ext cx="1371600" cy="347472"/>
          </a:xfrm>
          <a:prstGeom prst="rect">
            <a:avLst/>
          </a:prstGeom>
          <a:noFill/>
          <a:ln/>
        </p:spPr>
        <p:txBody>
          <a:bodyPr wrap="square" lIns="0" tIns="0" rIns="0" bIns="0" rtlCol="0" anchor="t"/>
          <a:lstStyle/>
          <a:p>
            <a:pPr algn="ctr" indent="0" marL="0">
              <a:buNone/>
            </a:pPr>
            <a:r>
              <a:rPr lang="en-US" sz="1000" dirty="0">
                <a:solidFill>
                  <a:srgbClr val="E8F5EE"/>
                </a:solidFill>
                <a:latin typeface="Calibri" pitchFamily="34" charset="0"/>
                <a:ea typeface="Calibri" pitchFamily="34" charset="-122"/>
                <a:cs typeface="Calibri" pitchFamily="34" charset="-120"/>
              </a:rPr>
              <a:t>IDaaS · usuarios y roles ENCARGADO / ADMIN</a:t>
            </a:r>
            <a:endParaRPr lang="en-US" sz="1000" dirty="0"/>
          </a:p>
        </p:txBody>
      </p:sp>
      <p:sp>
        <p:nvSpPr>
          <p:cNvPr id="13" name="Shape 9"/>
          <p:cNvSpPr/>
          <p:nvPr/>
        </p:nvSpPr>
        <p:spPr>
          <a:xfrm>
            <a:off x="2240280" y="1188720"/>
            <a:ext cx="1463040" cy="3154680"/>
          </a:xfrm>
          <a:prstGeom prst="roundRect">
            <a:avLst>
              <a:gd name="adj" fmla="val 7500"/>
            </a:avLst>
          </a:prstGeom>
          <a:solidFill>
            <a:srgbClr val="FFFFFF"/>
          </a:solidFill>
          <a:ln w="12700">
            <a:solidFill>
              <a:srgbClr val="D5E8DD"/>
            </a:solidFill>
            <a:prstDash val="solid"/>
          </a:ln>
        </p:spPr>
      </p:sp>
      <p:sp>
        <p:nvSpPr>
          <p:cNvPr id="14" name="Shape 10"/>
          <p:cNvSpPr/>
          <p:nvPr/>
        </p:nvSpPr>
        <p:spPr>
          <a:xfrm>
            <a:off x="2743200" y="1325880"/>
            <a:ext cx="457200" cy="457200"/>
          </a:xfrm>
          <a:prstGeom prst="ellipse">
            <a:avLst/>
          </a:prstGeom>
          <a:solidFill>
            <a:srgbClr val="2D6A4F"/>
          </a:solidFill>
          <a:ln w="12700">
            <a:solidFill>
              <a:srgbClr val="2D6A4F"/>
            </a:solidFill>
            <a:prstDash val="solid"/>
          </a:ln>
        </p:spPr>
      </p:sp>
      <p:pic>
        <p:nvPicPr>
          <p:cNvPr id="15" name="Image 2" descr="preencoded.png">    </p:cNvPr>
          <p:cNvPicPr>
            <a:picLocks noChangeAspect="1"/>
          </p:cNvPicPr>
          <p:nvPr/>
        </p:nvPicPr>
        <p:blipFill>
          <a:blip r:embed="rId3"/>
          <a:stretch>
            <a:fillRect/>
          </a:stretch>
        </p:blipFill>
        <p:spPr>
          <a:xfrm>
            <a:off x="2852928" y="1435608"/>
            <a:ext cx="237744" cy="237744"/>
          </a:xfrm>
          <a:prstGeom prst="rect">
            <a:avLst/>
          </a:prstGeom>
        </p:spPr>
      </p:pic>
      <p:sp>
        <p:nvSpPr>
          <p:cNvPr id="16" name="Text 11"/>
          <p:cNvSpPr txBox="1"/>
          <p:nvPr/>
        </p:nvSpPr>
        <p:spPr>
          <a:xfrm>
            <a:off x="2240280" y="1847088"/>
            <a:ext cx="1463040" cy="274320"/>
          </a:xfrm>
          <a:prstGeom prst="rect">
            <a:avLst/>
          </a:prstGeom>
          <a:noFill/>
          <a:ln/>
        </p:spPr>
        <p:txBody>
          <a:bodyPr wrap="square" lIns="0" tIns="0" rIns="0" bIns="0" rtlCol="0" anchor="t"/>
          <a:lstStyle/>
          <a:p>
            <a:pPr algn="ctr" indent="0" marL="0">
              <a:buNone/>
            </a:pPr>
            <a:r>
              <a:rPr lang="en-US" sz="1300" b="1" dirty="0">
                <a:solidFill>
                  <a:srgbClr val="14342B"/>
                </a:solidFill>
                <a:latin typeface="Calibri" pitchFamily="34" charset="0"/>
                <a:ea typeface="Calibri" pitchFamily="34" charset="-122"/>
                <a:cs typeface="Calibri" pitchFamily="34" charset="-120"/>
              </a:rPr>
              <a:t>API Gateway</a:t>
            </a:r>
            <a:endParaRPr lang="en-US" sz="1300" dirty="0"/>
          </a:p>
        </p:txBody>
      </p:sp>
      <p:sp>
        <p:nvSpPr>
          <p:cNvPr id="17" name="Text 12"/>
          <p:cNvSpPr txBox="1"/>
          <p:nvPr/>
        </p:nvSpPr>
        <p:spPr>
          <a:xfrm>
            <a:off x="2286000" y="2121408"/>
            <a:ext cx="1371600" cy="2176272"/>
          </a:xfrm>
          <a:prstGeom prst="rect">
            <a:avLst/>
          </a:prstGeom>
          <a:noFill/>
          <a:ln/>
        </p:spPr>
        <p:txBody>
          <a:bodyPr wrap="square" lIns="0" tIns="0" rIns="0" bIns="0" rtlCol="0" anchor="t"/>
          <a:lstStyle/>
          <a:p>
            <a:pPr algn="ctr" indent="0" marL="0">
              <a:buNone/>
            </a:pPr>
            <a:r>
              <a:rPr lang="en-US" sz="1000" dirty="0">
                <a:solidFill>
                  <a:srgbClr val="5C6B63"/>
                </a:solidFill>
                <a:latin typeface="Calibri" pitchFamily="34" charset="0"/>
                <a:ea typeface="Calibri" pitchFamily="34" charset="-122"/>
                <a:cs typeface="Calibri" pitchFamily="34" charset="-120"/>
              </a:rPr>
              <a:t>HTTP API · 12 rutas</a:t>
            </a:r>
            <a:endParaRPr lang="en-US" sz="1000" dirty="0"/>
          </a:p>
          <a:p>
            <a:pPr algn="ctr" indent="0" marL="0">
              <a:buNone/>
            </a:pPr>
            <a:endParaRPr lang="en-US" sz="1000" dirty="0"/>
          </a:p>
          <a:p>
            <a:pPr algn="ctr" indent="0" marL="0">
              <a:buNone/>
            </a:pPr>
            <a:r>
              <a:rPr lang="en-US" sz="1000" dirty="0">
                <a:solidFill>
                  <a:srgbClr val="5C6B63"/>
                </a:solidFill>
                <a:latin typeface="Calibri" pitchFamily="34" charset="0"/>
                <a:ea typeface="Calibri" pitchFamily="34" charset="-122"/>
                <a:cs typeface="Calibri" pitchFamily="34" charset="-120"/>
              </a:rPr>
              <a:t>JWT authorizer</a:t>
            </a:r>
            <a:endParaRPr lang="en-US" sz="1000" dirty="0"/>
          </a:p>
          <a:p>
            <a:pPr algn="ctr" indent="0" marL="0">
              <a:buNone/>
            </a:pPr>
            <a:r>
              <a:rPr lang="en-US" sz="1000" dirty="0">
                <a:solidFill>
                  <a:srgbClr val="5C6B63"/>
                </a:solidFill>
                <a:latin typeface="Calibri" pitchFamily="34" charset="0"/>
                <a:ea typeface="Calibri" pitchFamily="34" charset="-122"/>
                <a:cs typeface="Calibri" pitchFamily="34" charset="-120"/>
              </a:rPr>
              <a:t>+ CORS</a:t>
            </a:r>
            <a:endParaRPr lang="en-US" sz="1000" dirty="0"/>
          </a:p>
          <a:p>
            <a:pPr algn="ctr" indent="0" marL="0">
              <a:buNone/>
            </a:pPr>
            <a:endParaRPr lang="en-US" sz="1000" dirty="0"/>
          </a:p>
          <a:p>
            <a:pPr algn="ctr" indent="0" marL="0">
              <a:buNone/>
            </a:pPr>
            <a:r>
              <a:rPr lang="en-US" sz="1000" dirty="0">
                <a:solidFill>
                  <a:srgbClr val="5C6B63"/>
                </a:solidFill>
                <a:latin typeface="Calibri" pitchFamily="34" charset="0"/>
                <a:ea typeface="Calibri" pitchFamily="34" charset="-122"/>
                <a:cs typeface="Calibri" pitchFamily="34" charset="-120"/>
              </a:rPr>
              <a:t>enruta a cada microservicio</a:t>
            </a:r>
            <a:endParaRPr lang="en-US" sz="1000" dirty="0"/>
          </a:p>
        </p:txBody>
      </p:sp>
      <p:sp>
        <p:nvSpPr>
          <p:cNvPr id="18" name="Shape 13"/>
          <p:cNvSpPr/>
          <p:nvPr/>
        </p:nvSpPr>
        <p:spPr>
          <a:xfrm>
            <a:off x="3977640" y="1024128"/>
            <a:ext cx="4754880" cy="3429000"/>
          </a:xfrm>
          <a:prstGeom prst="roundRect">
            <a:avLst>
              <a:gd name="adj" fmla="val 2667"/>
            </a:avLst>
          </a:prstGeom>
          <a:solidFill>
            <a:srgbClr val="FFFFFF"/>
          </a:solidFill>
          <a:ln w="15875">
            <a:solidFill>
              <a:srgbClr val="52B788"/>
            </a:solidFill>
            <a:prstDash val="dash"/>
          </a:ln>
        </p:spPr>
      </p:sp>
      <p:sp>
        <p:nvSpPr>
          <p:cNvPr id="19" name="Text 14"/>
          <p:cNvSpPr txBox="1"/>
          <p:nvPr/>
        </p:nvSpPr>
        <p:spPr>
          <a:xfrm>
            <a:off x="4114800" y="1069848"/>
            <a:ext cx="4572000" cy="228600"/>
          </a:xfrm>
          <a:prstGeom prst="rect">
            <a:avLst/>
          </a:prstGeom>
          <a:noFill/>
          <a:ln/>
        </p:spPr>
        <p:txBody>
          <a:bodyPr wrap="square" lIns="0" tIns="0" rIns="0" bIns="0" rtlCol="0" anchor="t"/>
          <a:lstStyle/>
          <a:p>
            <a:pPr indent="0" marL="0">
              <a:buNone/>
            </a:pPr>
            <a:r>
              <a:rPr lang="en-US" sz="1000" b="1" dirty="0">
                <a:solidFill>
                  <a:srgbClr val="2D6A4F"/>
                </a:solidFill>
                <a:latin typeface="Calibri" pitchFamily="34" charset="0"/>
                <a:ea typeface="Calibri" pitchFamily="34" charset="-122"/>
                <a:cs typeface="Calibri" pitchFamily="34" charset="-120"/>
              </a:rPr>
              <a:t>EC2 ecopunto-backend · docker compose · 8 contenedores</a:t>
            </a:r>
            <a:endParaRPr lang="en-US" sz="1000" dirty="0"/>
          </a:p>
        </p:txBody>
      </p:sp>
      <p:sp>
        <p:nvSpPr>
          <p:cNvPr id="20" name="Shape 15"/>
          <p:cNvSpPr/>
          <p:nvPr/>
        </p:nvSpPr>
        <p:spPr>
          <a:xfrm>
            <a:off x="4160520" y="1371600"/>
            <a:ext cx="1600200" cy="603504"/>
          </a:xfrm>
          <a:prstGeom prst="roundRect">
            <a:avLst>
              <a:gd name="adj" fmla="val 18182"/>
            </a:avLst>
          </a:prstGeom>
          <a:solidFill>
            <a:srgbClr val="E8F5EE"/>
          </a:solidFill>
          <a:ln w="12700">
            <a:solidFill>
              <a:srgbClr val="E8F5EE"/>
            </a:solidFill>
            <a:prstDash val="solid"/>
          </a:ln>
        </p:spPr>
      </p:sp>
      <p:sp>
        <p:nvSpPr>
          <p:cNvPr id="21" name="Text 16"/>
          <p:cNvSpPr txBox="1"/>
          <p:nvPr/>
        </p:nvSpPr>
        <p:spPr>
          <a:xfrm>
            <a:off x="4251960" y="1371600"/>
            <a:ext cx="1417320" cy="603504"/>
          </a:xfrm>
          <a:prstGeom prst="rect">
            <a:avLst/>
          </a:prstGeom>
          <a:noFill/>
          <a:ln/>
        </p:spPr>
        <p:txBody>
          <a:bodyPr wrap="square" lIns="0" tIns="0" rIns="0" bIns="0" rtlCol="0" anchor="ctr"/>
          <a:lstStyle/>
          <a:p>
            <a:pPr indent="0" marL="0">
              <a:buNone/>
            </a:pPr>
            <a:r>
              <a:rPr lang="en-US" sz="1200" b="1" dirty="0">
                <a:solidFill>
                  <a:srgbClr val="14342B"/>
                </a:solidFill>
                <a:latin typeface="Calibri" pitchFamily="34" charset="0"/>
                <a:ea typeface="Calibri" pitchFamily="34" charset="-122"/>
                <a:cs typeface="Calibri" pitchFamily="34" charset="-120"/>
              </a:rPr>
              <a:t>backend :8080</a:t>
            </a:r>
            <a:endParaRPr lang="en-US" sz="1200" dirty="0"/>
          </a:p>
          <a:p>
            <a:pPr indent="0" marL="0">
              <a:buNone/>
            </a:pPr>
            <a:r>
              <a:rPr lang="en-US" sz="1000" dirty="0">
                <a:solidFill>
                  <a:srgbClr val="5C6B63"/>
                </a:solidFill>
                <a:latin typeface="Calibri" pitchFamily="34" charset="0"/>
                <a:ea typeface="Calibri" pitchFamily="34" charset="-122"/>
                <a:cs typeface="Calibri" pitchFamily="34" charset="-120"/>
              </a:rPr>
              <a:t>productor de eventos</a:t>
            </a:r>
            <a:endParaRPr lang="en-US" sz="1200" dirty="0"/>
          </a:p>
        </p:txBody>
      </p:sp>
      <p:sp>
        <p:nvSpPr>
          <p:cNvPr id="22" name="Shape 17"/>
          <p:cNvSpPr/>
          <p:nvPr/>
        </p:nvSpPr>
        <p:spPr>
          <a:xfrm>
            <a:off x="4160520" y="2066544"/>
            <a:ext cx="1600200" cy="603504"/>
          </a:xfrm>
          <a:prstGeom prst="roundRect">
            <a:avLst>
              <a:gd name="adj" fmla="val 18182"/>
            </a:avLst>
          </a:prstGeom>
          <a:solidFill>
            <a:srgbClr val="E8F5EE"/>
          </a:solidFill>
          <a:ln w="12700">
            <a:solidFill>
              <a:srgbClr val="E8F5EE"/>
            </a:solidFill>
            <a:prstDash val="solid"/>
          </a:ln>
        </p:spPr>
      </p:sp>
      <p:sp>
        <p:nvSpPr>
          <p:cNvPr id="23" name="Text 18"/>
          <p:cNvSpPr txBox="1"/>
          <p:nvPr/>
        </p:nvSpPr>
        <p:spPr>
          <a:xfrm>
            <a:off x="4251960" y="2066544"/>
            <a:ext cx="1417320" cy="603504"/>
          </a:xfrm>
          <a:prstGeom prst="rect">
            <a:avLst/>
          </a:prstGeom>
          <a:noFill/>
          <a:ln/>
        </p:spPr>
        <p:txBody>
          <a:bodyPr wrap="square" lIns="0" tIns="0" rIns="0" bIns="0" rtlCol="0" anchor="ctr"/>
          <a:lstStyle/>
          <a:p>
            <a:pPr indent="0" marL="0">
              <a:buNone/>
            </a:pPr>
            <a:r>
              <a:rPr lang="en-US" sz="1200" b="1" dirty="0">
                <a:solidFill>
                  <a:srgbClr val="14342B"/>
                </a:solidFill>
                <a:latin typeface="Calibri" pitchFamily="34" charset="0"/>
                <a:ea typeface="Calibri" pitchFamily="34" charset="-122"/>
                <a:cs typeface="Calibri" pitchFamily="34" charset="-120"/>
              </a:rPr>
              <a:t>ms-estadisticas :8082</a:t>
            </a:r>
            <a:endParaRPr lang="en-US" sz="1200" dirty="0"/>
          </a:p>
          <a:p>
            <a:pPr indent="0" marL="0">
              <a:buNone/>
            </a:pPr>
            <a:r>
              <a:rPr lang="en-US" sz="1000" dirty="0">
                <a:solidFill>
                  <a:srgbClr val="5C6B63"/>
                </a:solidFill>
                <a:latin typeface="Calibri" pitchFamily="34" charset="0"/>
                <a:ea typeface="Calibri" pitchFamily="34" charset="-122"/>
                <a:cs typeface="Calibri" pitchFamily="34" charset="-120"/>
              </a:rPr>
              <a:t>consumidor</a:t>
            </a:r>
            <a:endParaRPr lang="en-US" sz="1200" dirty="0"/>
          </a:p>
        </p:txBody>
      </p:sp>
      <p:sp>
        <p:nvSpPr>
          <p:cNvPr id="24" name="Shape 19"/>
          <p:cNvSpPr/>
          <p:nvPr/>
        </p:nvSpPr>
        <p:spPr>
          <a:xfrm>
            <a:off x="4160520" y="2761488"/>
            <a:ext cx="1600200" cy="603504"/>
          </a:xfrm>
          <a:prstGeom prst="roundRect">
            <a:avLst>
              <a:gd name="adj" fmla="val 18182"/>
            </a:avLst>
          </a:prstGeom>
          <a:solidFill>
            <a:srgbClr val="E8F5EE"/>
          </a:solidFill>
          <a:ln w="12700">
            <a:solidFill>
              <a:srgbClr val="E8F5EE"/>
            </a:solidFill>
            <a:prstDash val="solid"/>
          </a:ln>
        </p:spPr>
      </p:sp>
      <p:sp>
        <p:nvSpPr>
          <p:cNvPr id="25" name="Text 20"/>
          <p:cNvSpPr txBox="1"/>
          <p:nvPr/>
        </p:nvSpPr>
        <p:spPr>
          <a:xfrm>
            <a:off x="4251960" y="2761488"/>
            <a:ext cx="1417320" cy="603504"/>
          </a:xfrm>
          <a:prstGeom prst="rect">
            <a:avLst/>
          </a:prstGeom>
          <a:noFill/>
          <a:ln/>
        </p:spPr>
        <p:txBody>
          <a:bodyPr wrap="square" lIns="0" tIns="0" rIns="0" bIns="0" rtlCol="0" anchor="ctr"/>
          <a:lstStyle/>
          <a:p>
            <a:pPr indent="0" marL="0">
              <a:buNone/>
            </a:pPr>
            <a:r>
              <a:rPr lang="en-US" sz="1200" b="1" dirty="0">
                <a:solidFill>
                  <a:srgbClr val="14342B"/>
                </a:solidFill>
                <a:latin typeface="Calibri" pitchFamily="34" charset="0"/>
                <a:ea typeface="Calibri" pitchFamily="34" charset="-122"/>
                <a:cs typeface="Calibri" pitchFamily="34" charset="-120"/>
              </a:rPr>
              <a:t>ms-tickets :8083</a:t>
            </a:r>
            <a:endParaRPr lang="en-US" sz="1200" dirty="0"/>
          </a:p>
          <a:p>
            <a:pPr indent="0" marL="0">
              <a:buNone/>
            </a:pPr>
            <a:r>
              <a:rPr lang="en-US" sz="1000" dirty="0">
                <a:solidFill>
                  <a:srgbClr val="5C6B63"/>
                </a:solidFill>
                <a:latin typeface="Calibri" pitchFamily="34" charset="0"/>
                <a:ea typeface="Calibri" pitchFamily="34" charset="-122"/>
                <a:cs typeface="Calibri" pitchFamily="34" charset="-120"/>
              </a:rPr>
              <a:t>consumidor</a:t>
            </a:r>
            <a:endParaRPr lang="en-US" sz="1200" dirty="0"/>
          </a:p>
        </p:txBody>
      </p:sp>
      <p:sp>
        <p:nvSpPr>
          <p:cNvPr id="26" name="Shape 21"/>
          <p:cNvSpPr/>
          <p:nvPr/>
        </p:nvSpPr>
        <p:spPr>
          <a:xfrm>
            <a:off x="4160520" y="3456432"/>
            <a:ext cx="1600200" cy="603504"/>
          </a:xfrm>
          <a:prstGeom prst="roundRect">
            <a:avLst>
              <a:gd name="adj" fmla="val 18182"/>
            </a:avLst>
          </a:prstGeom>
          <a:solidFill>
            <a:srgbClr val="E8F5EE"/>
          </a:solidFill>
          <a:ln w="12700">
            <a:solidFill>
              <a:srgbClr val="E8F5EE"/>
            </a:solidFill>
            <a:prstDash val="solid"/>
          </a:ln>
        </p:spPr>
      </p:sp>
      <p:sp>
        <p:nvSpPr>
          <p:cNvPr id="27" name="Text 22"/>
          <p:cNvSpPr txBox="1"/>
          <p:nvPr/>
        </p:nvSpPr>
        <p:spPr>
          <a:xfrm>
            <a:off x="4251960" y="3456432"/>
            <a:ext cx="1417320" cy="603504"/>
          </a:xfrm>
          <a:prstGeom prst="rect">
            <a:avLst/>
          </a:prstGeom>
          <a:noFill/>
          <a:ln/>
        </p:spPr>
        <p:txBody>
          <a:bodyPr wrap="square" lIns="0" tIns="0" rIns="0" bIns="0" rtlCol="0" anchor="ctr"/>
          <a:lstStyle/>
          <a:p>
            <a:pPr indent="0" marL="0">
              <a:buNone/>
            </a:pPr>
            <a:r>
              <a:rPr lang="en-US" sz="1200" b="1" dirty="0">
                <a:solidFill>
                  <a:srgbClr val="14342B"/>
                </a:solidFill>
                <a:latin typeface="Calibri" pitchFamily="34" charset="0"/>
                <a:ea typeface="Calibri" pitchFamily="34" charset="-122"/>
                <a:cs typeface="Calibri" pitchFamily="34" charset="-120"/>
              </a:rPr>
              <a:t>ms-rabbit-admin :8084</a:t>
            </a:r>
            <a:endParaRPr lang="en-US" sz="1200" dirty="0"/>
          </a:p>
          <a:p>
            <a:pPr indent="0" marL="0">
              <a:buNone/>
            </a:pPr>
            <a:r>
              <a:rPr lang="en-US" sz="1000" dirty="0">
                <a:solidFill>
                  <a:srgbClr val="5C6B63"/>
                </a:solidFill>
                <a:latin typeface="Calibri" pitchFamily="34" charset="0"/>
                <a:ea typeface="Calibri" pitchFamily="34" charset="-122"/>
                <a:cs typeface="Calibri" pitchFamily="34" charset="-120"/>
              </a:rPr>
              <a:t>administrador (ADMIN)</a:t>
            </a:r>
            <a:endParaRPr lang="en-US" sz="1200" dirty="0"/>
          </a:p>
        </p:txBody>
      </p:sp>
      <p:sp>
        <p:nvSpPr>
          <p:cNvPr id="28" name="Shape 23"/>
          <p:cNvSpPr/>
          <p:nvPr/>
        </p:nvSpPr>
        <p:spPr>
          <a:xfrm>
            <a:off x="6035040" y="1371600"/>
            <a:ext cx="1234440" cy="2688336"/>
          </a:xfrm>
          <a:prstGeom prst="roundRect">
            <a:avLst>
              <a:gd name="adj" fmla="val 8889"/>
            </a:avLst>
          </a:prstGeom>
          <a:solidFill>
            <a:srgbClr val="14342B"/>
          </a:solidFill>
          <a:ln w="12700">
            <a:solidFill>
              <a:srgbClr val="14342B"/>
            </a:solidFill>
            <a:prstDash val="solid"/>
          </a:ln>
        </p:spPr>
      </p:sp>
      <p:sp>
        <p:nvSpPr>
          <p:cNvPr id="29" name="Text 24"/>
          <p:cNvSpPr txBox="1"/>
          <p:nvPr/>
        </p:nvSpPr>
        <p:spPr>
          <a:xfrm>
            <a:off x="6035040" y="1463040"/>
            <a:ext cx="1234440"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RabbitMQ</a:t>
            </a:r>
            <a:endParaRPr lang="en-US" sz="1300" dirty="0"/>
          </a:p>
        </p:txBody>
      </p:sp>
      <p:sp>
        <p:nvSpPr>
          <p:cNvPr id="30" name="Shape 25"/>
          <p:cNvSpPr/>
          <p:nvPr/>
        </p:nvSpPr>
        <p:spPr>
          <a:xfrm>
            <a:off x="6144768" y="1828800"/>
            <a:ext cx="1014984" cy="411480"/>
          </a:xfrm>
          <a:prstGeom prst="roundRect">
            <a:avLst>
              <a:gd name="adj" fmla="val 26667"/>
            </a:avLst>
          </a:prstGeom>
          <a:solidFill>
            <a:srgbClr val="52B788"/>
          </a:solidFill>
          <a:ln w="12700">
            <a:solidFill>
              <a:srgbClr val="52B788"/>
            </a:solidFill>
            <a:prstDash val="solid"/>
          </a:ln>
        </p:spPr>
      </p:sp>
      <p:sp>
        <p:nvSpPr>
          <p:cNvPr id="31" name="Text 26"/>
          <p:cNvSpPr txBox="1"/>
          <p:nvPr/>
        </p:nvSpPr>
        <p:spPr>
          <a:xfrm>
            <a:off x="6144768" y="1828800"/>
            <a:ext cx="1014984" cy="411480"/>
          </a:xfrm>
          <a:prstGeom prst="rect">
            <a:avLst/>
          </a:prstGeom>
          <a:noFill/>
          <a:ln/>
        </p:spPr>
        <p:txBody>
          <a:bodyPr wrap="square" lIns="0" tIns="0" rIns="0" bIns="0" rtlCol="0" anchor="ctr"/>
          <a:lstStyle/>
          <a:p>
            <a:pPr algn="ctr" indent="0" marL="0">
              <a:buNone/>
            </a:pPr>
            <a:r>
              <a:rPr lang="en-US" sz="1200" b="1" dirty="0">
                <a:solidFill>
                  <a:srgbClr val="14342B"/>
                </a:solidFill>
                <a:latin typeface="Calibri" pitchFamily="34" charset="0"/>
                <a:ea typeface="Calibri" pitchFamily="34" charset="-122"/>
                <a:cs typeface="Calibri" pitchFamily="34" charset="-120"/>
              </a:rPr>
              <a:t>rabbit1</a:t>
            </a:r>
            <a:endParaRPr lang="en-US" sz="1200" dirty="0"/>
          </a:p>
        </p:txBody>
      </p:sp>
      <p:sp>
        <p:nvSpPr>
          <p:cNvPr id="32" name="Shape 27"/>
          <p:cNvSpPr/>
          <p:nvPr/>
        </p:nvSpPr>
        <p:spPr>
          <a:xfrm>
            <a:off x="6144768" y="2331720"/>
            <a:ext cx="1014984" cy="411480"/>
          </a:xfrm>
          <a:prstGeom prst="roundRect">
            <a:avLst>
              <a:gd name="adj" fmla="val 26667"/>
            </a:avLst>
          </a:prstGeom>
          <a:solidFill>
            <a:srgbClr val="52B788"/>
          </a:solidFill>
          <a:ln w="12700">
            <a:solidFill>
              <a:srgbClr val="52B788"/>
            </a:solidFill>
            <a:prstDash val="solid"/>
          </a:ln>
        </p:spPr>
      </p:sp>
      <p:sp>
        <p:nvSpPr>
          <p:cNvPr id="33" name="Text 28"/>
          <p:cNvSpPr txBox="1"/>
          <p:nvPr/>
        </p:nvSpPr>
        <p:spPr>
          <a:xfrm>
            <a:off x="6144768" y="2331720"/>
            <a:ext cx="1014984" cy="411480"/>
          </a:xfrm>
          <a:prstGeom prst="rect">
            <a:avLst/>
          </a:prstGeom>
          <a:noFill/>
          <a:ln/>
        </p:spPr>
        <p:txBody>
          <a:bodyPr wrap="square" lIns="0" tIns="0" rIns="0" bIns="0" rtlCol="0" anchor="ctr"/>
          <a:lstStyle/>
          <a:p>
            <a:pPr algn="ctr" indent="0" marL="0">
              <a:buNone/>
            </a:pPr>
            <a:r>
              <a:rPr lang="en-US" sz="1200" b="1" dirty="0">
                <a:solidFill>
                  <a:srgbClr val="14342B"/>
                </a:solidFill>
                <a:latin typeface="Calibri" pitchFamily="34" charset="0"/>
                <a:ea typeface="Calibri" pitchFamily="34" charset="-122"/>
                <a:cs typeface="Calibri" pitchFamily="34" charset="-120"/>
              </a:rPr>
              <a:t>rabbit2</a:t>
            </a:r>
            <a:endParaRPr lang="en-US" sz="1200" dirty="0"/>
          </a:p>
        </p:txBody>
      </p:sp>
      <p:sp>
        <p:nvSpPr>
          <p:cNvPr id="34" name="Text 29"/>
          <p:cNvSpPr txBox="1"/>
          <p:nvPr/>
        </p:nvSpPr>
        <p:spPr>
          <a:xfrm>
            <a:off x="6080760" y="2852928"/>
            <a:ext cx="1143000" cy="1097280"/>
          </a:xfrm>
          <a:prstGeom prst="rect">
            <a:avLst/>
          </a:prstGeom>
          <a:noFill/>
          <a:ln/>
        </p:spPr>
        <p:txBody>
          <a:bodyPr wrap="square" lIns="0" tIns="0" rIns="0" bIns="0" rtlCol="0" anchor="t"/>
          <a:lstStyle/>
          <a:p>
            <a:pPr algn="ctr" indent="0" marL="0">
              <a:buNone/>
            </a:pPr>
            <a:r>
              <a:rPr lang="en-US" sz="1000" dirty="0">
                <a:solidFill>
                  <a:srgbClr val="E8F5EE"/>
                </a:solidFill>
                <a:latin typeface="Calibri" pitchFamily="34" charset="0"/>
                <a:ea typeface="Calibri" pitchFamily="34" charset="-122"/>
                <a:cs typeface="Calibri" pitchFamily="34" charset="-120"/>
              </a:rPr>
              <a:t>clúster</a:t>
            </a:r>
            <a:endParaRPr lang="en-US" sz="1000" dirty="0"/>
          </a:p>
          <a:p>
            <a:pPr algn="ctr" indent="0" marL="0">
              <a:buNone/>
            </a:pPr>
            <a:r>
              <a:rPr lang="en-US" sz="1000" dirty="0">
                <a:solidFill>
                  <a:srgbClr val="E8F5EE"/>
                </a:solidFill>
                <a:latin typeface="Calibri" pitchFamily="34" charset="0"/>
                <a:ea typeface="Calibri" pitchFamily="34" charset="-122"/>
                <a:cs typeface="Calibri" pitchFamily="34" charset="-120"/>
              </a:rPr>
              <a:t>6 colas quorum</a:t>
            </a:r>
            <a:endParaRPr lang="en-US" sz="1000" dirty="0"/>
          </a:p>
          <a:p>
            <a:pPr algn="ctr" indent="0" marL="0">
              <a:buNone/>
            </a:pPr>
            <a:r>
              <a:rPr lang="en-US" sz="1000" dirty="0">
                <a:solidFill>
                  <a:srgbClr val="E8F5EE"/>
                </a:solidFill>
                <a:latin typeface="Calibri" pitchFamily="34" charset="0"/>
                <a:ea typeface="Calibri" pitchFamily="34" charset="-122"/>
                <a:cs typeface="Calibri" pitchFamily="34" charset="-120"/>
              </a:rPr>
              <a:t>topic · direct · dlx</a:t>
            </a:r>
            <a:endParaRPr lang="en-US" sz="1000" dirty="0"/>
          </a:p>
        </p:txBody>
      </p:sp>
      <p:sp>
        <p:nvSpPr>
          <p:cNvPr id="35" name="Shape 30"/>
          <p:cNvSpPr/>
          <p:nvPr/>
        </p:nvSpPr>
        <p:spPr>
          <a:xfrm>
            <a:off x="7452360" y="1371600"/>
            <a:ext cx="1207008" cy="822960"/>
          </a:xfrm>
          <a:prstGeom prst="roundRect">
            <a:avLst>
              <a:gd name="adj" fmla="val 13333"/>
            </a:avLst>
          </a:prstGeom>
          <a:solidFill>
            <a:srgbClr val="E8F5EE"/>
          </a:solidFill>
          <a:ln w="12700">
            <a:solidFill>
              <a:srgbClr val="E8F5EE"/>
            </a:solidFill>
            <a:prstDash val="solid"/>
          </a:ln>
        </p:spPr>
      </p:sp>
      <p:sp>
        <p:nvSpPr>
          <p:cNvPr id="36" name="Text 31"/>
          <p:cNvSpPr txBox="1"/>
          <p:nvPr/>
        </p:nvSpPr>
        <p:spPr>
          <a:xfrm>
            <a:off x="7543800" y="1371600"/>
            <a:ext cx="1024128" cy="822960"/>
          </a:xfrm>
          <a:prstGeom prst="rect">
            <a:avLst/>
          </a:prstGeom>
          <a:noFill/>
          <a:ln/>
        </p:spPr>
        <p:txBody>
          <a:bodyPr wrap="square" lIns="0" tIns="0" rIns="0" bIns="0" rtlCol="0" anchor="ctr"/>
          <a:lstStyle/>
          <a:p>
            <a:pPr indent="0" marL="0">
              <a:buNone/>
            </a:pPr>
            <a:r>
              <a:rPr lang="en-US" sz="1050" b="1" dirty="0">
                <a:solidFill>
                  <a:srgbClr val="14342B"/>
                </a:solidFill>
                <a:latin typeface="Calibri" pitchFamily="34" charset="0"/>
                <a:ea typeface="Calibri" pitchFamily="34" charset="-122"/>
                <a:cs typeface="Calibri" pitchFamily="34" charset="-120"/>
              </a:rPr>
              <a:t>ms-notificaciones</a:t>
            </a:r>
            <a:endParaRPr lang="en-US" sz="1050" dirty="0"/>
          </a:p>
          <a:p>
            <a:pPr indent="0" marL="0">
              <a:buNone/>
            </a:pPr>
            <a:r>
              <a:rPr lang="en-US" sz="1000" dirty="0">
                <a:solidFill>
                  <a:srgbClr val="5C6B63"/>
                </a:solidFill>
                <a:latin typeface="Calibri" pitchFamily="34" charset="0"/>
                <a:ea typeface="Calibri" pitchFamily="34" charset="-122"/>
                <a:cs typeface="Calibri" pitchFamily="34" charset="-120"/>
              </a:rPr>
              <a:t>consumidor</a:t>
            </a:r>
            <a:endParaRPr lang="en-US" sz="1050" dirty="0"/>
          </a:p>
        </p:txBody>
      </p:sp>
      <p:sp>
        <p:nvSpPr>
          <p:cNvPr id="37" name="Shape 32"/>
          <p:cNvSpPr/>
          <p:nvPr/>
        </p:nvSpPr>
        <p:spPr>
          <a:xfrm>
            <a:off x="7452360" y="2743200"/>
            <a:ext cx="1207008" cy="1316736"/>
          </a:xfrm>
          <a:prstGeom prst="roundRect">
            <a:avLst>
              <a:gd name="adj" fmla="val 9091"/>
            </a:avLst>
          </a:prstGeom>
          <a:solidFill>
            <a:srgbClr val="E8F5EE"/>
          </a:solidFill>
          <a:ln w="12700">
            <a:solidFill>
              <a:srgbClr val="E8F5EE"/>
            </a:solidFill>
            <a:prstDash val="solid"/>
          </a:ln>
        </p:spPr>
      </p:sp>
      <p:sp>
        <p:nvSpPr>
          <p:cNvPr id="38" name="Text 33"/>
          <p:cNvSpPr txBox="1"/>
          <p:nvPr/>
        </p:nvSpPr>
        <p:spPr>
          <a:xfrm>
            <a:off x="7543800" y="2743200"/>
            <a:ext cx="1024128" cy="1316736"/>
          </a:xfrm>
          <a:prstGeom prst="rect">
            <a:avLst/>
          </a:prstGeom>
          <a:noFill/>
          <a:ln/>
        </p:spPr>
        <p:txBody>
          <a:bodyPr wrap="square" lIns="0" tIns="0" rIns="0" bIns="0" rtlCol="0" anchor="ctr"/>
          <a:lstStyle/>
          <a:p>
            <a:pPr indent="0" marL="0">
              <a:buNone/>
            </a:pPr>
            <a:r>
              <a:rPr lang="en-US" sz="1200" b="1" dirty="0">
                <a:solidFill>
                  <a:srgbClr val="14342B"/>
                </a:solidFill>
                <a:latin typeface="Calibri" pitchFamily="34" charset="0"/>
                <a:ea typeface="Calibri" pitchFamily="34" charset="-122"/>
                <a:cs typeface="Calibri" pitchFamily="34" charset="-120"/>
              </a:rPr>
              <a:t>PostgreSQL</a:t>
            </a:r>
            <a:endParaRPr lang="en-US" sz="1200" dirty="0"/>
          </a:p>
          <a:p>
            <a:pPr indent="0" marL="0">
              <a:buNone/>
            </a:pPr>
            <a:r>
              <a:rPr lang="en-US" sz="1000" dirty="0">
                <a:solidFill>
                  <a:srgbClr val="5C6B63"/>
                </a:solidFill>
                <a:latin typeface="Calibri" pitchFamily="34" charset="0"/>
                <a:ea typeface="Calibri" pitchFamily="34" charset="-122"/>
                <a:cs typeface="Calibri" pitchFamily="34" charset="-120"/>
              </a:rPr>
              <a:t>una base por servicio · volumen</a:t>
            </a:r>
            <a:endParaRPr lang="en-US" sz="1200" dirty="0"/>
          </a:p>
        </p:txBody>
      </p:sp>
      <p:sp>
        <p:nvSpPr>
          <p:cNvPr id="39" name="Shape 34"/>
          <p:cNvSpPr/>
          <p:nvPr/>
        </p:nvSpPr>
        <p:spPr>
          <a:xfrm>
            <a:off x="1874520" y="1847088"/>
            <a:ext cx="365760" cy="0"/>
          </a:xfrm>
          <a:prstGeom prst="line">
            <a:avLst/>
          </a:prstGeom>
          <a:noFill/>
          <a:ln w="25400">
            <a:solidFill>
              <a:srgbClr val="2D6A4F"/>
            </a:solidFill>
            <a:prstDash val="solid"/>
            <a:tailEnd type="triangle"/>
          </a:ln>
        </p:spPr>
      </p:sp>
      <p:sp>
        <p:nvSpPr>
          <p:cNvPr id="40" name="Shape 35"/>
          <p:cNvSpPr/>
          <p:nvPr/>
        </p:nvSpPr>
        <p:spPr>
          <a:xfrm>
            <a:off x="3703320" y="2743200"/>
            <a:ext cx="457200" cy="0"/>
          </a:xfrm>
          <a:prstGeom prst="line">
            <a:avLst/>
          </a:prstGeom>
          <a:noFill/>
          <a:ln w="25400">
            <a:solidFill>
              <a:srgbClr val="2D6A4F"/>
            </a:solidFill>
            <a:prstDash val="solid"/>
            <a:tailEnd type="triangle"/>
          </a:ln>
        </p:spPr>
      </p:sp>
      <p:sp>
        <p:nvSpPr>
          <p:cNvPr id="41" name="Shape 36"/>
          <p:cNvSpPr/>
          <p:nvPr/>
        </p:nvSpPr>
        <p:spPr>
          <a:xfrm>
            <a:off x="5760720" y="1673352"/>
            <a:ext cx="274320" cy="0"/>
          </a:xfrm>
          <a:prstGeom prst="line">
            <a:avLst/>
          </a:prstGeom>
          <a:noFill/>
          <a:ln w="25400">
            <a:solidFill>
              <a:srgbClr val="F4A261"/>
            </a:solidFill>
            <a:prstDash val="solid"/>
            <a:tailEnd type="triangle"/>
          </a:ln>
        </p:spPr>
      </p:sp>
      <p:sp>
        <p:nvSpPr>
          <p:cNvPr id="42" name="Shape 37"/>
          <p:cNvSpPr/>
          <p:nvPr/>
        </p:nvSpPr>
        <p:spPr>
          <a:xfrm flipH="1">
            <a:off x="5760720" y="2368296"/>
            <a:ext cx="274320" cy="0"/>
          </a:xfrm>
          <a:prstGeom prst="line">
            <a:avLst/>
          </a:prstGeom>
          <a:noFill/>
          <a:ln w="25400">
            <a:solidFill>
              <a:srgbClr val="F4A261"/>
            </a:solidFill>
            <a:prstDash val="solid"/>
            <a:tailEnd type="triangle"/>
          </a:ln>
        </p:spPr>
      </p:sp>
      <p:sp>
        <p:nvSpPr>
          <p:cNvPr id="43" name="Shape 38"/>
          <p:cNvSpPr/>
          <p:nvPr/>
        </p:nvSpPr>
        <p:spPr>
          <a:xfrm flipH="1">
            <a:off x="5760720" y="3063240"/>
            <a:ext cx="274320" cy="0"/>
          </a:xfrm>
          <a:prstGeom prst="line">
            <a:avLst/>
          </a:prstGeom>
          <a:noFill/>
          <a:ln w="25400">
            <a:solidFill>
              <a:srgbClr val="F4A261"/>
            </a:solidFill>
            <a:prstDash val="solid"/>
            <a:tailEnd type="triangle"/>
          </a:ln>
        </p:spPr>
      </p:sp>
      <p:sp>
        <p:nvSpPr>
          <p:cNvPr id="44" name="Shape 39"/>
          <p:cNvSpPr/>
          <p:nvPr/>
        </p:nvSpPr>
        <p:spPr>
          <a:xfrm>
            <a:off x="5760720" y="3758184"/>
            <a:ext cx="274320" cy="0"/>
          </a:xfrm>
          <a:prstGeom prst="line">
            <a:avLst/>
          </a:prstGeom>
          <a:noFill/>
          <a:ln w="25400">
            <a:solidFill>
              <a:srgbClr val="F4A261"/>
            </a:solidFill>
            <a:prstDash val="solid"/>
            <a:tailEnd type="triangle"/>
          </a:ln>
        </p:spPr>
      </p:sp>
      <p:sp>
        <p:nvSpPr>
          <p:cNvPr id="45" name="Shape 40"/>
          <p:cNvSpPr/>
          <p:nvPr/>
        </p:nvSpPr>
        <p:spPr>
          <a:xfrm>
            <a:off x="7269480" y="1783080"/>
            <a:ext cx="182880" cy="0"/>
          </a:xfrm>
          <a:prstGeom prst="line">
            <a:avLst/>
          </a:prstGeom>
          <a:noFill/>
          <a:ln w="25400">
            <a:solidFill>
              <a:srgbClr val="F4A261"/>
            </a:solidFill>
            <a:prstDash val="solid"/>
            <a:tailEnd type="triangle"/>
          </a:ln>
        </p:spPr>
      </p:sp>
      <p:sp>
        <p:nvSpPr>
          <p:cNvPr id="46" name="Shape 41"/>
          <p:cNvSpPr/>
          <p:nvPr/>
        </p:nvSpPr>
        <p:spPr>
          <a:xfrm flipV="1">
            <a:off x="1143000" y="2514600"/>
            <a:ext cx="0" cy="502920"/>
          </a:xfrm>
          <a:prstGeom prst="line">
            <a:avLst/>
          </a:prstGeom>
          <a:noFill/>
          <a:ln w="19050">
            <a:solidFill>
              <a:srgbClr val="F4A261"/>
            </a:solidFill>
            <a:prstDash val="solid"/>
            <a:tailEnd type="triangle"/>
          </a:ln>
        </p:spPr>
      </p:sp>
      <p:sp>
        <p:nvSpPr>
          <p:cNvPr id="47" name="Shape 42"/>
          <p:cNvSpPr/>
          <p:nvPr/>
        </p:nvSpPr>
        <p:spPr>
          <a:xfrm>
            <a:off x="1874520" y="3657600"/>
            <a:ext cx="365760" cy="0"/>
          </a:xfrm>
          <a:prstGeom prst="line">
            <a:avLst/>
          </a:prstGeom>
          <a:noFill/>
          <a:ln w="19050">
            <a:solidFill>
              <a:srgbClr val="F4A261"/>
            </a:solidFill>
            <a:prstDash val="solid"/>
            <a:tailEnd type="triangle"/>
          </a:ln>
        </p:spPr>
      </p:sp>
      <p:sp>
        <p:nvSpPr>
          <p:cNvPr id="48" name="Text 43"/>
          <p:cNvSpPr txBox="1"/>
          <p:nvPr/>
        </p:nvSpPr>
        <p:spPr>
          <a:xfrm>
            <a:off x="411480" y="4553712"/>
            <a:ext cx="8321040" cy="320040"/>
          </a:xfrm>
          <a:prstGeom prst="rect">
            <a:avLst/>
          </a:prstGeom>
          <a:noFill/>
          <a:ln/>
        </p:spPr>
        <p:txBody>
          <a:bodyPr wrap="square" lIns="0" tIns="0" rIns="0" bIns="0" rtlCol="0" anchor="t"/>
          <a:lstStyle/>
          <a:p>
            <a:pPr indent="0" marL="0">
              <a:buNone/>
            </a:pPr>
            <a:r>
              <a:rPr lang="en-US" sz="1000" b="1" dirty="0">
                <a:solidFill>
                  <a:srgbClr val="2D6A4F"/>
                </a:solidFill>
                <a:latin typeface="Calibri" pitchFamily="34" charset="0"/>
                <a:ea typeface="Calibri" pitchFamily="34" charset="-122"/>
                <a:cs typeface="Calibri" pitchFamily="34" charset="-120"/>
              </a:rPr>
              <a:t>Verde: HTTP con JWT · </a:t>
            </a:r>
            <a:pPr indent="0" marL="0">
              <a:buNone/>
            </a:pPr>
            <a:r>
              <a:rPr lang="en-US" sz="1000" b="1" dirty="0">
                <a:solidFill>
                  <a:srgbClr val="F4A261"/>
                </a:solidFill>
                <a:latin typeface="Calibri" pitchFamily="34" charset="0"/>
                <a:ea typeface="Calibri" pitchFamily="34" charset="-122"/>
                <a:cs typeface="Calibri" pitchFamily="34" charset="-120"/>
              </a:rPr>
              <a:t>Naranjo: mensajes AMQP y login OIDC/JWKS · </a:t>
            </a:r>
            <a:pPr indent="0" marL="0">
              <a:buNone/>
            </a:pPr>
            <a:r>
              <a:rPr lang="en-US" sz="1000" dirty="0">
                <a:solidFill>
                  <a:srgbClr val="5C6B63"/>
                </a:solidFill>
                <a:latin typeface="Calibri" pitchFamily="34" charset="0"/>
                <a:ea typeface="Calibri" pitchFamily="34" charset="-122"/>
                <a:cs typeface="Calibri" pitchFamily="34" charset="-120"/>
              </a:rPr>
              <a:t>Frontend en ecopunto.larraguibel.dev con Let's Encrypt; ambas EC2 con Elastic IP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Identidad y API Gateway</a:t>
            </a:r>
            <a:endParaRPr lang="en-US" sz="3000" dirty="0"/>
          </a:p>
        </p:txBody>
      </p:sp>
      <p:sp>
        <p:nvSpPr>
          <p:cNvPr id="3" name="Shape 1"/>
          <p:cNvSpPr/>
          <p:nvPr/>
        </p:nvSpPr>
        <p:spPr>
          <a:xfrm>
            <a:off x="502920" y="1188720"/>
            <a:ext cx="594360" cy="594360"/>
          </a:xfrm>
          <a:prstGeom prst="ellipse">
            <a:avLst/>
          </a:prstGeom>
          <a:solidFill>
            <a:srgbClr val="2D6A4F"/>
          </a:solidFill>
          <a:ln w="12700">
            <a:solidFill>
              <a:srgbClr val="2D6A4F"/>
            </a:solidFill>
            <a:prstDash val="solid"/>
          </a:ln>
        </p:spPr>
      </p:sp>
      <p:pic>
        <p:nvPicPr>
          <p:cNvPr id="4" name="Image 0" descr="preencoded.png">    </p:cNvPr>
          <p:cNvPicPr>
            <a:picLocks noChangeAspect="1"/>
          </p:cNvPicPr>
          <p:nvPr/>
        </p:nvPicPr>
        <p:blipFill>
          <a:blip r:embed="rId1"/>
          <a:stretch>
            <a:fillRect/>
          </a:stretch>
        </p:blipFill>
        <p:spPr>
          <a:xfrm>
            <a:off x="645566" y="1331366"/>
            <a:ext cx="309067" cy="309067"/>
          </a:xfrm>
          <a:prstGeom prst="rect">
            <a:avLst/>
          </a:prstGeom>
        </p:spPr>
      </p:pic>
      <p:sp>
        <p:nvSpPr>
          <p:cNvPr id="5" name="Text 2"/>
          <p:cNvSpPr txBox="1"/>
          <p:nvPr/>
        </p:nvSpPr>
        <p:spPr>
          <a:xfrm>
            <a:off x="1325880" y="1143000"/>
            <a:ext cx="7315200" cy="347472"/>
          </a:xfrm>
          <a:prstGeom prst="rect">
            <a:avLst/>
          </a:prstGeom>
          <a:noFill/>
          <a:ln/>
        </p:spPr>
        <p:txBody>
          <a:bodyPr wrap="square" lIns="0" tIns="0" rIns="0" bIns="0" rtlCol="0" anchor="ctr"/>
          <a:lstStyle/>
          <a:p>
            <a:pPr indent="0" marL="0">
              <a:buNone/>
            </a:pPr>
            <a:r>
              <a:rPr lang="en-US" sz="1600" b="1" dirty="0">
                <a:solidFill>
                  <a:srgbClr val="14342B"/>
                </a:solidFill>
                <a:latin typeface="Calibri" pitchFamily="34" charset="0"/>
                <a:ea typeface="Calibri" pitchFamily="34" charset="-122"/>
                <a:cs typeface="Calibri" pitchFamily="34" charset="-120"/>
              </a:rPr>
              <a:t>Tenant de Entra ID con usuarios</a:t>
            </a:r>
            <a:endParaRPr lang="en-US" sz="1600" dirty="0"/>
          </a:p>
        </p:txBody>
      </p:sp>
      <p:sp>
        <p:nvSpPr>
          <p:cNvPr id="6" name="Text 3"/>
          <p:cNvSpPr txBox="1"/>
          <p:nvPr/>
        </p:nvSpPr>
        <p:spPr>
          <a:xfrm>
            <a:off x="1325880" y="1490472"/>
            <a:ext cx="7315200" cy="3657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encargado1 (rol ENCARGADO) · usuario1 (sin rol) · cuenta administradora (rol ADMIN)</a:t>
            </a:r>
            <a:endParaRPr lang="en-US" sz="1300" dirty="0"/>
          </a:p>
        </p:txBody>
      </p:sp>
      <p:sp>
        <p:nvSpPr>
          <p:cNvPr id="7" name="Shape 4"/>
          <p:cNvSpPr/>
          <p:nvPr/>
        </p:nvSpPr>
        <p:spPr>
          <a:xfrm>
            <a:off x="502920" y="2084832"/>
            <a:ext cx="594360" cy="594360"/>
          </a:xfrm>
          <a:prstGeom prst="ellipse">
            <a:avLst/>
          </a:prstGeom>
          <a:solidFill>
            <a:srgbClr val="2D6A4F"/>
          </a:solidFill>
          <a:ln w="12700">
            <a:solidFill>
              <a:srgbClr val="2D6A4F"/>
            </a:solidFill>
            <a:prstDash val="solid"/>
          </a:ln>
        </p:spPr>
      </p:sp>
      <p:pic>
        <p:nvPicPr>
          <p:cNvPr id="8" name="Image 1" descr="preencoded.png">    </p:cNvPr>
          <p:cNvPicPr>
            <a:picLocks noChangeAspect="1"/>
          </p:cNvPicPr>
          <p:nvPr/>
        </p:nvPicPr>
        <p:blipFill>
          <a:blip r:embed="rId2"/>
          <a:stretch>
            <a:fillRect/>
          </a:stretch>
        </p:blipFill>
        <p:spPr>
          <a:xfrm>
            <a:off x="645566" y="2227478"/>
            <a:ext cx="309067" cy="309067"/>
          </a:xfrm>
          <a:prstGeom prst="rect">
            <a:avLst/>
          </a:prstGeom>
        </p:spPr>
      </p:pic>
      <p:sp>
        <p:nvSpPr>
          <p:cNvPr id="9" name="Text 5"/>
          <p:cNvSpPr txBox="1"/>
          <p:nvPr/>
        </p:nvSpPr>
        <p:spPr>
          <a:xfrm>
            <a:off x="1325880" y="2039112"/>
            <a:ext cx="7315200" cy="347472"/>
          </a:xfrm>
          <a:prstGeom prst="rect">
            <a:avLst/>
          </a:prstGeom>
          <a:noFill/>
          <a:ln/>
        </p:spPr>
        <p:txBody>
          <a:bodyPr wrap="square" lIns="0" tIns="0" rIns="0" bIns="0" rtlCol="0" anchor="ctr"/>
          <a:lstStyle/>
          <a:p>
            <a:pPr indent="0" marL="0">
              <a:buNone/>
            </a:pPr>
            <a:r>
              <a:rPr lang="en-US" sz="1600" b="1" dirty="0">
                <a:solidFill>
                  <a:srgbClr val="14342B"/>
                </a:solidFill>
                <a:latin typeface="Calibri" pitchFamily="34" charset="0"/>
                <a:ea typeface="Calibri" pitchFamily="34" charset="-122"/>
                <a:cs typeface="Calibri" pitchFamily="34" charset="-120"/>
              </a:rPr>
              <a:t>Nuevo App Role ADMIN</a:t>
            </a:r>
            <a:endParaRPr lang="en-US" sz="1600" dirty="0"/>
          </a:p>
        </p:txBody>
      </p:sp>
      <p:sp>
        <p:nvSpPr>
          <p:cNvPr id="10" name="Text 6"/>
          <p:cNvSpPr txBox="1"/>
          <p:nvPr/>
        </p:nvSpPr>
        <p:spPr>
          <a:xfrm>
            <a:off x="1325880" y="2386584"/>
            <a:ext cx="7315200" cy="3657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Viaja en el claim "roles"; solo ADMIN usa /api/admin/** y ve la página Administrar RabbitMQ</a:t>
            </a:r>
            <a:endParaRPr lang="en-US" sz="1300" dirty="0"/>
          </a:p>
        </p:txBody>
      </p:sp>
      <p:sp>
        <p:nvSpPr>
          <p:cNvPr id="11" name="Shape 7"/>
          <p:cNvSpPr/>
          <p:nvPr/>
        </p:nvSpPr>
        <p:spPr>
          <a:xfrm>
            <a:off x="502920" y="2980944"/>
            <a:ext cx="594360" cy="594360"/>
          </a:xfrm>
          <a:prstGeom prst="ellipse">
            <a:avLst/>
          </a:prstGeom>
          <a:solidFill>
            <a:srgbClr val="2D6A4F"/>
          </a:solidFill>
          <a:ln w="12700">
            <a:solidFill>
              <a:srgbClr val="2D6A4F"/>
            </a:solidFill>
            <a:prstDash val="solid"/>
          </a:ln>
        </p:spPr>
      </p:sp>
      <p:pic>
        <p:nvPicPr>
          <p:cNvPr id="12" name="Image 2" descr="preencoded.png">    </p:cNvPr>
          <p:cNvPicPr>
            <a:picLocks noChangeAspect="1"/>
          </p:cNvPicPr>
          <p:nvPr/>
        </p:nvPicPr>
        <p:blipFill>
          <a:blip r:embed="rId3"/>
          <a:stretch>
            <a:fillRect/>
          </a:stretch>
        </p:blipFill>
        <p:spPr>
          <a:xfrm>
            <a:off x="645566" y="3123590"/>
            <a:ext cx="309067" cy="309067"/>
          </a:xfrm>
          <a:prstGeom prst="rect">
            <a:avLst/>
          </a:prstGeom>
        </p:spPr>
      </p:pic>
      <p:sp>
        <p:nvSpPr>
          <p:cNvPr id="13" name="Text 8"/>
          <p:cNvSpPr txBox="1"/>
          <p:nvPr/>
        </p:nvSpPr>
        <p:spPr>
          <a:xfrm>
            <a:off x="1325880" y="2935224"/>
            <a:ext cx="7315200" cy="347472"/>
          </a:xfrm>
          <a:prstGeom prst="rect">
            <a:avLst/>
          </a:prstGeom>
          <a:noFill/>
          <a:ln/>
        </p:spPr>
        <p:txBody>
          <a:bodyPr wrap="square" lIns="0" tIns="0" rIns="0" bIns="0" rtlCol="0" anchor="ctr"/>
          <a:lstStyle/>
          <a:p>
            <a:pPr indent="0" marL="0">
              <a:buNone/>
            </a:pPr>
            <a:r>
              <a:rPr lang="en-US" sz="1600" b="1" dirty="0">
                <a:solidFill>
                  <a:srgbClr val="14342B"/>
                </a:solidFill>
                <a:latin typeface="Calibri" pitchFamily="34" charset="0"/>
                <a:ea typeface="Calibri" pitchFamily="34" charset="-122"/>
                <a:cs typeface="Calibri" pitchFamily="34" charset="-120"/>
              </a:rPr>
              <a:t>API Gateway con 12 rutas</a:t>
            </a:r>
            <a:endParaRPr lang="en-US" sz="1600" dirty="0"/>
          </a:p>
        </p:txBody>
      </p:sp>
      <p:sp>
        <p:nvSpPr>
          <p:cNvPr id="14" name="Text 9"/>
          <p:cNvSpPr txBox="1"/>
          <p:nvPr/>
        </p:nvSpPr>
        <p:spPr>
          <a:xfrm>
            <a:off x="1325880" y="3282696"/>
            <a:ext cx="7315200" cy="3657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Rutas por microservicio: /api/estadisticas, /api/tickets, /api/admin y PATCH para cambiar estados</a:t>
            </a:r>
            <a:endParaRPr lang="en-US" sz="1300" dirty="0"/>
          </a:p>
        </p:txBody>
      </p:sp>
      <p:sp>
        <p:nvSpPr>
          <p:cNvPr id="15" name="Shape 10"/>
          <p:cNvSpPr/>
          <p:nvPr/>
        </p:nvSpPr>
        <p:spPr>
          <a:xfrm>
            <a:off x="502920" y="3877056"/>
            <a:ext cx="594360" cy="594360"/>
          </a:xfrm>
          <a:prstGeom prst="ellipse">
            <a:avLst/>
          </a:prstGeom>
          <a:solidFill>
            <a:srgbClr val="2D6A4F"/>
          </a:solidFill>
          <a:ln w="12700">
            <a:solidFill>
              <a:srgbClr val="2D6A4F"/>
            </a:solidFill>
            <a:prstDash val="solid"/>
          </a:ln>
        </p:spPr>
      </p:sp>
      <p:pic>
        <p:nvPicPr>
          <p:cNvPr id="16" name="Image 3" descr="preencoded.png">    </p:cNvPr>
          <p:cNvPicPr>
            <a:picLocks noChangeAspect="1"/>
          </p:cNvPicPr>
          <p:nvPr/>
        </p:nvPicPr>
        <p:blipFill>
          <a:blip r:embed="rId4"/>
          <a:stretch>
            <a:fillRect/>
          </a:stretch>
        </p:blipFill>
        <p:spPr>
          <a:xfrm>
            <a:off x="645566" y="4019702"/>
            <a:ext cx="309067" cy="309067"/>
          </a:xfrm>
          <a:prstGeom prst="rect">
            <a:avLst/>
          </a:prstGeom>
        </p:spPr>
      </p:pic>
      <p:sp>
        <p:nvSpPr>
          <p:cNvPr id="17" name="Text 11"/>
          <p:cNvSpPr txBox="1"/>
          <p:nvPr/>
        </p:nvSpPr>
        <p:spPr>
          <a:xfrm>
            <a:off x="1325880" y="3831336"/>
            <a:ext cx="7315200" cy="347472"/>
          </a:xfrm>
          <a:prstGeom prst="rect">
            <a:avLst/>
          </a:prstGeom>
          <a:noFill/>
          <a:ln/>
        </p:spPr>
        <p:txBody>
          <a:bodyPr wrap="square" lIns="0" tIns="0" rIns="0" bIns="0" rtlCol="0" anchor="ctr"/>
          <a:lstStyle/>
          <a:p>
            <a:pPr indent="0" marL="0">
              <a:buNone/>
            </a:pPr>
            <a:r>
              <a:rPr lang="en-US" sz="1600" b="1" dirty="0">
                <a:solidFill>
                  <a:srgbClr val="14342B"/>
                </a:solidFill>
                <a:latin typeface="Calibri" pitchFamily="34" charset="0"/>
                <a:ea typeface="Calibri" pitchFamily="34" charset="-122"/>
                <a:cs typeface="Calibri" pitchFamily="34" charset="-120"/>
              </a:rPr>
              <a:t>JWT validado en dos capas</a:t>
            </a:r>
            <a:endParaRPr lang="en-US" sz="1600" dirty="0"/>
          </a:p>
        </p:txBody>
      </p:sp>
      <p:sp>
        <p:nvSpPr>
          <p:cNvPr id="18" name="Text 12"/>
          <p:cNvSpPr txBox="1"/>
          <p:nvPr/>
        </p:nvSpPr>
        <p:spPr>
          <a:xfrm>
            <a:off x="1325880" y="4178808"/>
            <a:ext cx="7315200" cy="365760"/>
          </a:xfrm>
          <a:prstGeom prst="rect">
            <a:avLst/>
          </a:prstGeom>
          <a:noFill/>
          <a:ln/>
        </p:spPr>
        <p:txBody>
          <a:bodyPr wrap="square" lIns="0" tIns="0" rIns="0" bIns="0" rtlCol="0" anchor="t"/>
          <a:lstStyle/>
          <a:p>
            <a:pPr indent="0" marL="0">
              <a:buNone/>
            </a:pPr>
            <a:r>
              <a:rPr lang="en-US" sz="1300" dirty="0">
                <a:solidFill>
                  <a:srgbClr val="1F2A24"/>
                </a:solidFill>
                <a:latin typeface="Calibri" pitchFamily="34" charset="0"/>
                <a:ea typeface="Calibri" pitchFamily="34" charset="-122"/>
                <a:cs typeface="Calibri" pitchFamily="34" charset="-120"/>
              </a:rPr>
              <a:t>El authorizer verifica firma, issuer y audience (401); cada microservicio revalida y aplica roles (403)</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Exchanges, colas y DLQ</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5029200" cy="914400"/>
        </p:xfrm>
        <a:graphic>
          <a:graphicData uri="http://schemas.openxmlformats.org/drawingml/2006/table">
            <a:tbl>
              <a:tblPr/>
              <a:tblGrid>
                <a:gridCol w="1417320"/>
                <a:gridCol w="1508760"/>
                <a:gridCol w="21031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Exchange</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Routing key</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Cola → consumidor</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r>
              <a:tr h="0">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ecopunto.events</a:t>
                      </a:r>
                      <a:endParaRPr lang="en-US" sz="1200" dirty="0">
                        <a:latin typeface="Calibri" charset="0"/>
                        <a:ea typeface="Calibri" charset="0"/>
                        <a:cs typeface="Calibri" charset="0"/>
                      </a:endParaRPr>
                    </a:p>
                    <a:p>
                      <a:pPr indent="0" marL="0">
                        <a:buNone/>
                      </a:pPr>
                      <a:r>
                        <a:rPr lang="en-US" sz="1200" b="1" dirty="0">
                          <a:solidFill>
                            <a:srgbClr val="2D6A4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reporte.creado</a:t>
                      </a:r>
                      <a:endParaRPr lang="en-US" sz="1200" dirty="0">
                        <a:latin typeface="Calibri" charset="0"/>
                        <a:ea typeface="Calibri" charset="0"/>
                        <a:cs typeface="Calibri" charset="0"/>
                      </a:endParaRPr>
                    </a:p>
                    <a:p>
                      <a:pPr indent="0" marL="0">
                        <a:buNone/>
                      </a:pPr>
                      <a:r>
                        <a:rPr lang="en-US" sz="1200" dirty="0">
                          <a:solidFill>
                            <a:srgbClr val="1F2A24"/>
                          </a:solidFill>
                          <a:latin typeface="Calibri" pitchFamily="34" charset="0"/>
                          <a:ea typeface="Calibri" pitchFamily="34" charset="-122"/>
                          <a:cs typeface="Calibri" pitchFamily="34" charset="-120"/>
                        </a:rPr>
                        <a:t>reporte.resuelto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notificaciones.reportes</a:t>
                      </a:r>
                      <a:endParaRPr lang="en-US" sz="1200" dirty="0">
                        <a:latin typeface="Calibri" charset="0"/>
                        <a:ea typeface="Calibri" charset="0"/>
                        <a:cs typeface="Calibri" charset="0"/>
                      </a:endParaRPr>
                    </a:p>
                    <a:p>
                      <a:pPr indent="0" marL="0">
                        <a:buNone/>
                      </a:pPr>
                      <a:r>
                        <a:rPr lang="en-US" sz="1200" dirty="0">
                          <a:solidFill>
                            <a:srgbClr val="1F2A24"/>
                          </a:solidFill>
                          <a:latin typeface="Calibri" pitchFamily="34" charset="0"/>
                          <a:ea typeface="Calibri" pitchFamily="34" charset="-122"/>
                          <a:cs typeface="Calibri" pitchFamily="34" charset="-120"/>
                        </a:rPr>
                        <a:t>→ ms-notificaciones</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ecopunto.events</a:t>
                      </a:r>
                      <a:endParaRPr lang="en-US" sz="1200" dirty="0">
                        <a:latin typeface="Calibri" charset="0"/>
                        <a:ea typeface="Calibri" charset="0"/>
                        <a:cs typeface="Calibri" charset="0"/>
                      </a:endParaRPr>
                    </a:p>
                    <a:p>
                      <a:pPr indent="0" marL="0">
                        <a:buNone/>
                      </a:pPr>
                      <a:r>
                        <a:rPr lang="en-US" sz="1200" b="1" dirty="0">
                          <a:solidFill>
                            <a:srgbClr val="2D6A4F"/>
                          </a:solidFill>
                          <a:latin typeface="Calibri" pitchFamily="34" charset="0"/>
                          <a:ea typeface="Calibri" pitchFamily="34" charset="-122"/>
                          <a:cs typeface="Calibri" pitchFamily="34" charset="-120"/>
                        </a:rPr>
                        <a:t>topic</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reporte.*</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estadisticas.reportes</a:t>
                      </a:r>
                      <a:endParaRPr lang="en-US" sz="1200" dirty="0">
                        <a:latin typeface="Calibri" charset="0"/>
                        <a:ea typeface="Calibri" charset="0"/>
                        <a:cs typeface="Calibri" charset="0"/>
                      </a:endParaRPr>
                    </a:p>
                    <a:p>
                      <a:pPr indent="0" marL="0">
                        <a:buNone/>
                      </a:pPr>
                      <a:r>
                        <a:rPr lang="en-US" sz="1200" dirty="0">
                          <a:solidFill>
                            <a:srgbClr val="1F2A24"/>
                          </a:solidFill>
                          <a:latin typeface="Calibri" pitchFamily="34" charset="0"/>
                          <a:ea typeface="Calibri" pitchFamily="34" charset="-122"/>
                          <a:cs typeface="Calibri" pitchFamily="34" charset="-120"/>
                        </a:rPr>
                        <a:t>→ ms-estadisticas</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200" b="1" dirty="0">
                          <a:solidFill>
                            <a:srgbClr val="F4A261"/>
                          </a:solidFill>
                          <a:latin typeface="Calibri" pitchFamily="34" charset="0"/>
                          <a:ea typeface="Calibri" pitchFamily="34" charset="-122"/>
                          <a:cs typeface="Calibri" pitchFamily="34" charset="-120"/>
                        </a:rPr>
                        <a:t>ecopunto.tareas</a:t>
                      </a:r>
                      <a:endParaRPr lang="en-US" sz="1200" dirty="0">
                        <a:latin typeface="Calibri" charset="0"/>
                        <a:ea typeface="Calibri" charset="0"/>
                        <a:cs typeface="Calibri" charset="0"/>
                      </a:endParaRPr>
                    </a:p>
                    <a:p>
                      <a:pPr indent="0" marL="0">
                        <a:buNone/>
                      </a:pPr>
                      <a:r>
                        <a:rPr lang="en-US" sz="1200" b="1" dirty="0">
                          <a:solidFill>
                            <a:srgbClr val="F4A261"/>
                          </a:solidFill>
                          <a:latin typeface="Calibri" pitchFamily="34" charset="0"/>
                          <a:ea typeface="Calibri" pitchFamily="34" charset="-122"/>
                          <a:cs typeface="Calibri" pitchFamily="34" charset="-120"/>
                        </a:rPr>
                        <a:t>direct</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ticket.mantencion</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tickets.mantencion</a:t>
                      </a:r>
                      <a:endParaRPr lang="en-US" sz="1200" dirty="0">
                        <a:latin typeface="Calibri" charset="0"/>
                        <a:ea typeface="Calibri" charset="0"/>
                        <a:cs typeface="Calibri" charset="0"/>
                      </a:endParaRPr>
                    </a:p>
                    <a:p>
                      <a:pPr indent="0" marL="0">
                        <a:buNone/>
                      </a:pPr>
                      <a:r>
                        <a:rPr lang="en-US" sz="1200" dirty="0">
                          <a:solidFill>
                            <a:srgbClr val="1F2A24"/>
                          </a:solidFill>
                          <a:latin typeface="Calibri" pitchFamily="34" charset="0"/>
                          <a:ea typeface="Calibri" pitchFamily="34" charset="-122"/>
                          <a:cs typeface="Calibri" pitchFamily="34" charset="-120"/>
                        </a:rPr>
                        <a:t>→ ms-tickets</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ecopunto.dlx</a:t>
                      </a:r>
                      <a:endParaRPr lang="en-US" sz="1200" dirty="0">
                        <a:latin typeface="Calibri" charset="0"/>
                        <a:ea typeface="Calibri" charset="0"/>
                        <a:cs typeface="Calibri" charset="0"/>
                      </a:endParaRPr>
                    </a:p>
                    <a:p>
                      <a:pPr indent="0" marL="0">
                        <a:buNone/>
                      </a:pPr>
                      <a:r>
                        <a:rPr lang="en-US" sz="1200" b="1" dirty="0">
                          <a:solidFill>
                            <a:srgbClr val="C0392B"/>
                          </a:solidFill>
                          <a:latin typeface="Calibri" pitchFamily="34" charset="0"/>
                          <a:ea typeface="Calibri" pitchFamily="34" charset="-122"/>
                          <a:cs typeface="Calibri" pitchFamily="34" charset="-120"/>
                        </a:rPr>
                        <a:t>direct</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&lt;cola&gt;.dlq</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las 3 colas .dlq</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bl>
          </a:graphicData>
        </a:graphic>
      </p:graphicFrame>
      <p:sp>
        <p:nvSpPr>
          <p:cNvPr id="4" name="Shape 1"/>
          <p:cNvSpPr/>
          <p:nvPr/>
        </p:nvSpPr>
        <p:spPr>
          <a:xfrm>
            <a:off x="5669280" y="1097280"/>
            <a:ext cx="502920" cy="50292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5789981" y="1217981"/>
            <a:ext cx="261518" cy="261518"/>
          </a:xfrm>
          <a:prstGeom prst="rect">
            <a:avLst/>
          </a:prstGeom>
        </p:spPr>
      </p:pic>
      <p:sp>
        <p:nvSpPr>
          <p:cNvPr id="6" name="Text 2"/>
          <p:cNvSpPr txBox="1"/>
          <p:nvPr/>
        </p:nvSpPr>
        <p:spPr>
          <a:xfrm>
            <a:off x="6309360" y="1078992"/>
            <a:ext cx="242316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Topic para hechos</a:t>
            </a:r>
            <a:endParaRPr lang="en-US" sz="1400" dirty="0"/>
          </a:p>
        </p:txBody>
      </p:sp>
      <p:sp>
        <p:nvSpPr>
          <p:cNvPr id="7" name="Text 3"/>
          <p:cNvSpPr txBox="1"/>
          <p:nvPr/>
        </p:nvSpPr>
        <p:spPr>
          <a:xfrm>
            <a:off x="6309360" y="1399032"/>
            <a:ext cx="242316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Un evento, varios interesados; cada consumidor se suscribe por patrón.</a:t>
            </a:r>
            <a:endParaRPr lang="en-US" sz="1100" dirty="0"/>
          </a:p>
        </p:txBody>
      </p:sp>
      <p:sp>
        <p:nvSpPr>
          <p:cNvPr id="8" name="Shape 4"/>
          <p:cNvSpPr/>
          <p:nvPr/>
        </p:nvSpPr>
        <p:spPr>
          <a:xfrm>
            <a:off x="5669280" y="2286000"/>
            <a:ext cx="502920" cy="502920"/>
          </a:xfrm>
          <a:prstGeom prst="ellipse">
            <a:avLst/>
          </a:prstGeom>
          <a:solidFill>
            <a:srgbClr val="F4A261"/>
          </a:solidFill>
          <a:ln w="12700">
            <a:solidFill>
              <a:srgbClr val="F4A261"/>
            </a:solidFill>
            <a:prstDash val="solid"/>
          </a:ln>
        </p:spPr>
      </p:sp>
      <p:pic>
        <p:nvPicPr>
          <p:cNvPr id="9" name="Image 1" descr="preencoded.png">    </p:cNvPr>
          <p:cNvPicPr>
            <a:picLocks noChangeAspect="1"/>
          </p:cNvPicPr>
          <p:nvPr/>
        </p:nvPicPr>
        <p:blipFill>
          <a:blip r:embed="rId2"/>
          <a:stretch>
            <a:fillRect/>
          </a:stretch>
        </p:blipFill>
        <p:spPr>
          <a:xfrm>
            <a:off x="5789981" y="2406701"/>
            <a:ext cx="261518" cy="261518"/>
          </a:xfrm>
          <a:prstGeom prst="rect">
            <a:avLst/>
          </a:prstGeom>
        </p:spPr>
      </p:pic>
      <p:sp>
        <p:nvSpPr>
          <p:cNvPr id="10" name="Text 5"/>
          <p:cNvSpPr txBox="1"/>
          <p:nvPr/>
        </p:nvSpPr>
        <p:spPr>
          <a:xfrm>
            <a:off x="6309360" y="2267712"/>
            <a:ext cx="242316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Direct para tareas</a:t>
            </a:r>
            <a:endParaRPr lang="en-US" sz="1400" dirty="0"/>
          </a:p>
        </p:txBody>
      </p:sp>
      <p:sp>
        <p:nvSpPr>
          <p:cNvPr id="11" name="Text 6"/>
          <p:cNvSpPr txBox="1"/>
          <p:nvPr/>
        </p:nvSpPr>
        <p:spPr>
          <a:xfrm>
            <a:off x="6309360" y="2587752"/>
            <a:ext cx="242316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Una orden para un único trabajador, con coincidencia exacta.</a:t>
            </a:r>
            <a:endParaRPr lang="en-US" sz="1100" dirty="0"/>
          </a:p>
        </p:txBody>
      </p:sp>
      <p:sp>
        <p:nvSpPr>
          <p:cNvPr id="12" name="Shape 7"/>
          <p:cNvSpPr/>
          <p:nvPr/>
        </p:nvSpPr>
        <p:spPr>
          <a:xfrm>
            <a:off x="5669280" y="3474720"/>
            <a:ext cx="502920" cy="502920"/>
          </a:xfrm>
          <a:prstGeom prst="ellipse">
            <a:avLst/>
          </a:prstGeom>
          <a:solidFill>
            <a:srgbClr val="C0392B"/>
          </a:solidFill>
          <a:ln w="12700">
            <a:solidFill>
              <a:srgbClr val="C0392B"/>
            </a:solidFill>
            <a:prstDash val="solid"/>
          </a:ln>
        </p:spPr>
      </p:sp>
      <p:pic>
        <p:nvPicPr>
          <p:cNvPr id="13" name="Image 2" descr="preencoded.png">    </p:cNvPr>
          <p:cNvPicPr>
            <a:picLocks noChangeAspect="1"/>
          </p:cNvPicPr>
          <p:nvPr/>
        </p:nvPicPr>
        <p:blipFill>
          <a:blip r:embed="rId3"/>
          <a:stretch>
            <a:fillRect/>
          </a:stretch>
        </p:blipFill>
        <p:spPr>
          <a:xfrm>
            <a:off x="5789981" y="3595421"/>
            <a:ext cx="261518" cy="261518"/>
          </a:xfrm>
          <a:prstGeom prst="rect">
            <a:avLst/>
          </a:prstGeom>
        </p:spPr>
      </p:pic>
      <p:sp>
        <p:nvSpPr>
          <p:cNvPr id="14" name="Text 8"/>
          <p:cNvSpPr txBox="1"/>
          <p:nvPr/>
        </p:nvSpPr>
        <p:spPr>
          <a:xfrm>
            <a:off x="6309360" y="3456432"/>
            <a:ext cx="242316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Una DLQ por cola</a:t>
            </a:r>
            <a:endParaRPr lang="en-US" sz="1400" dirty="0"/>
          </a:p>
        </p:txBody>
      </p:sp>
      <p:sp>
        <p:nvSpPr>
          <p:cNvPr id="15" name="Text 9"/>
          <p:cNvSpPr txBox="1"/>
          <p:nvPr/>
        </p:nvSpPr>
        <p:spPr>
          <a:xfrm>
            <a:off x="6309360" y="3776472"/>
            <a:ext cx="242316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x-dead-letter-exchange envía los fallidos a su .dlq para revisarlos.</a:t>
            </a:r>
            <a:endParaRPr lang="en-US" sz="1100" dirty="0"/>
          </a:p>
        </p:txBody>
      </p:sp>
      <p:sp>
        <p:nvSpPr>
          <p:cNvPr id="16" name="Text 10"/>
          <p:cNvSpPr txBox="1"/>
          <p:nvPr/>
        </p:nvSpPr>
        <p:spPr>
          <a:xfrm>
            <a:off x="411480" y="4434840"/>
            <a:ext cx="8321040" cy="411480"/>
          </a:xfrm>
          <a:prstGeom prst="rect">
            <a:avLst/>
          </a:prstGeom>
          <a:noFill/>
          <a:ln/>
        </p:spPr>
        <p:txBody>
          <a:bodyPr wrap="square" lIns="0" tIns="0" rIns="0" bIns="0" rtlCol="0" anchor="t"/>
          <a:lstStyle/>
          <a:p>
            <a:pPr indent="0" marL="0">
              <a:buNone/>
            </a:pPr>
            <a:r>
              <a:rPr lang="en-US" sz="1100" dirty="0">
                <a:solidFill>
                  <a:srgbClr val="5C6B63"/>
                </a:solidFill>
                <a:latin typeface="Calibri" pitchFamily="34" charset="0"/>
                <a:ea typeface="Calibri" pitchFamily="34" charset="-122"/>
                <a:cs typeface="Calibri" pitchFamily="34" charset="-120"/>
              </a:rPr>
              <a:t>Nombres centralizados en application.yml (MessagingProperties) y beans Queue, Exchange y Binding en una sola RabbitMQConfig por servicio.</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Flujo de un reporte</a:t>
            </a:r>
            <a:endParaRPr lang="en-US" sz="3000" dirty="0"/>
          </a:p>
        </p:txBody>
      </p:sp>
      <p:sp>
        <p:nvSpPr>
          <p:cNvPr id="3" name="Shape 1"/>
          <p:cNvSpPr/>
          <p:nvPr/>
        </p:nvSpPr>
        <p:spPr>
          <a:xfrm>
            <a:off x="886968" y="1234440"/>
            <a:ext cx="548640" cy="548640"/>
          </a:xfrm>
          <a:prstGeom prst="ellipse">
            <a:avLst/>
          </a:prstGeom>
          <a:solidFill>
            <a:srgbClr val="2D6A4F"/>
          </a:solidFill>
          <a:ln w="12700">
            <a:solidFill>
              <a:srgbClr val="2D6A4F"/>
            </a:solidFill>
            <a:prstDash val="solid"/>
          </a:ln>
        </p:spPr>
      </p:sp>
      <p:sp>
        <p:nvSpPr>
          <p:cNvPr id="4" name="Text 2"/>
          <p:cNvSpPr txBox="1"/>
          <p:nvPr/>
        </p:nvSpPr>
        <p:spPr>
          <a:xfrm>
            <a:off x="886968"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5" name="Shape 3"/>
          <p:cNvSpPr/>
          <p:nvPr/>
        </p:nvSpPr>
        <p:spPr>
          <a:xfrm>
            <a:off x="1508760" y="1508760"/>
            <a:ext cx="1005840" cy="0"/>
          </a:xfrm>
          <a:prstGeom prst="line">
            <a:avLst/>
          </a:prstGeom>
          <a:noFill/>
          <a:ln w="19050">
            <a:solidFill>
              <a:srgbClr val="B7D9C6"/>
            </a:solidFill>
            <a:prstDash val="solid"/>
          </a:ln>
        </p:spPr>
      </p:sp>
      <p:sp>
        <p:nvSpPr>
          <p:cNvPr id="6" name="Text 4"/>
          <p:cNvSpPr txBox="1"/>
          <p:nvPr/>
        </p:nvSpPr>
        <p:spPr>
          <a:xfrm>
            <a:off x="411480" y="1920240"/>
            <a:ext cx="1508760" cy="320040"/>
          </a:xfrm>
          <a:prstGeom prst="rect">
            <a:avLst/>
          </a:prstGeom>
          <a:noFill/>
          <a:ln/>
        </p:spPr>
        <p:txBody>
          <a:bodyPr wrap="square" lIns="0" tIns="0" rIns="0" bIns="0" rtlCol="0" anchor="t"/>
          <a:lstStyle/>
          <a:p>
            <a:pPr algn="ctr" indent="0" marL="0">
              <a:buNone/>
            </a:pPr>
            <a:r>
              <a:rPr lang="en-US" sz="1400" b="1" dirty="0">
                <a:solidFill>
                  <a:srgbClr val="14342B"/>
                </a:solidFill>
                <a:latin typeface="Calibri" pitchFamily="34" charset="0"/>
                <a:ea typeface="Calibri" pitchFamily="34" charset="-122"/>
                <a:cs typeface="Calibri" pitchFamily="34" charset="-120"/>
              </a:rPr>
              <a:t>Crear reporte</a:t>
            </a:r>
            <a:endParaRPr lang="en-US" sz="1400" dirty="0"/>
          </a:p>
        </p:txBody>
      </p:sp>
      <p:sp>
        <p:nvSpPr>
          <p:cNvPr id="7" name="Text 5"/>
          <p:cNvSpPr txBox="1"/>
          <p:nvPr/>
        </p:nvSpPr>
        <p:spPr>
          <a:xfrm>
            <a:off x="411480" y="2240280"/>
            <a:ext cx="1508760" cy="1097280"/>
          </a:xfrm>
          <a:prstGeom prst="rect">
            <a:avLst/>
          </a:prstGeom>
          <a:noFill/>
          <a:ln/>
        </p:spPr>
        <p:txBody>
          <a:bodyPr wrap="square" lIns="0" tIns="0" rIns="0" bIns="0" rtlCol="0" anchor="t"/>
          <a:lstStyle/>
          <a:p>
            <a:pPr algn="ctr" indent="0" marL="0">
              <a:buNone/>
            </a:pPr>
            <a:r>
              <a:rPr lang="en-US" sz="1100" dirty="0">
                <a:solidFill>
                  <a:srgbClr val="1F2A24"/>
                </a:solidFill>
                <a:latin typeface="Calibri" pitchFamily="34" charset="0"/>
                <a:ea typeface="Calibri" pitchFamily="34" charset="-122"/>
                <a:cs typeface="Calibri" pitchFamily="34" charset="-120"/>
              </a:rPr>
              <a:t>El vecino envía el reporte; el backend lo guarda y responde 201 sin esperar a nadie.</a:t>
            </a:r>
            <a:endParaRPr lang="en-US" sz="1100" dirty="0"/>
          </a:p>
        </p:txBody>
      </p:sp>
      <p:sp>
        <p:nvSpPr>
          <p:cNvPr id="8" name="Shape 6"/>
          <p:cNvSpPr/>
          <p:nvPr/>
        </p:nvSpPr>
        <p:spPr>
          <a:xfrm>
            <a:off x="2587752" y="1234440"/>
            <a:ext cx="548640" cy="548640"/>
          </a:xfrm>
          <a:prstGeom prst="ellipse">
            <a:avLst/>
          </a:prstGeom>
          <a:solidFill>
            <a:srgbClr val="2D6A4F"/>
          </a:solidFill>
          <a:ln w="12700">
            <a:solidFill>
              <a:srgbClr val="2D6A4F"/>
            </a:solidFill>
            <a:prstDash val="solid"/>
          </a:ln>
        </p:spPr>
      </p:sp>
      <p:sp>
        <p:nvSpPr>
          <p:cNvPr id="9" name="Text 7"/>
          <p:cNvSpPr txBox="1"/>
          <p:nvPr/>
        </p:nvSpPr>
        <p:spPr>
          <a:xfrm>
            <a:off x="2587752"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0" name="Shape 8"/>
          <p:cNvSpPr/>
          <p:nvPr/>
        </p:nvSpPr>
        <p:spPr>
          <a:xfrm>
            <a:off x="3209544" y="1508760"/>
            <a:ext cx="1005840" cy="0"/>
          </a:xfrm>
          <a:prstGeom prst="line">
            <a:avLst/>
          </a:prstGeom>
          <a:noFill/>
          <a:ln w="19050">
            <a:solidFill>
              <a:srgbClr val="B7D9C6"/>
            </a:solidFill>
            <a:prstDash val="solid"/>
          </a:ln>
        </p:spPr>
      </p:sp>
      <p:sp>
        <p:nvSpPr>
          <p:cNvPr id="11" name="Text 9"/>
          <p:cNvSpPr txBox="1"/>
          <p:nvPr/>
        </p:nvSpPr>
        <p:spPr>
          <a:xfrm>
            <a:off x="2112264" y="1920240"/>
            <a:ext cx="1508760" cy="320040"/>
          </a:xfrm>
          <a:prstGeom prst="rect">
            <a:avLst/>
          </a:prstGeom>
          <a:noFill/>
          <a:ln/>
        </p:spPr>
        <p:txBody>
          <a:bodyPr wrap="square" lIns="0" tIns="0" rIns="0" bIns="0" rtlCol="0" anchor="t"/>
          <a:lstStyle/>
          <a:p>
            <a:pPr algn="ctr" indent="0" marL="0">
              <a:buNone/>
            </a:pPr>
            <a:r>
              <a:rPr lang="en-US" sz="1400" b="1" dirty="0">
                <a:solidFill>
                  <a:srgbClr val="14342B"/>
                </a:solidFill>
                <a:latin typeface="Calibri" pitchFamily="34" charset="0"/>
                <a:ea typeface="Calibri" pitchFamily="34" charset="-122"/>
                <a:cs typeface="Calibri" pitchFamily="34" charset="-120"/>
              </a:rPr>
              <a:t>Publicar evento</a:t>
            </a:r>
            <a:endParaRPr lang="en-US" sz="1400" dirty="0"/>
          </a:p>
        </p:txBody>
      </p:sp>
      <p:sp>
        <p:nvSpPr>
          <p:cNvPr id="12" name="Text 10"/>
          <p:cNvSpPr txBox="1"/>
          <p:nvPr/>
        </p:nvSpPr>
        <p:spPr>
          <a:xfrm>
            <a:off x="2112264" y="2240280"/>
            <a:ext cx="1508760" cy="1097280"/>
          </a:xfrm>
          <a:prstGeom prst="rect">
            <a:avLst/>
          </a:prstGeom>
          <a:noFill/>
          <a:ln/>
        </p:spPr>
        <p:txBody>
          <a:bodyPr wrap="square" lIns="0" tIns="0" rIns="0" bIns="0" rtlCol="0" anchor="t"/>
          <a:lstStyle/>
          <a:p>
            <a:pPr algn="ctr" indent="0" marL="0">
              <a:buNone/>
            </a:pPr>
            <a:r>
              <a:rPr lang="en-US" sz="1100" dirty="0">
                <a:solidFill>
                  <a:srgbClr val="1F2A24"/>
                </a:solidFill>
                <a:latin typeface="Calibri" pitchFamily="34" charset="0"/>
                <a:ea typeface="Calibri" pitchFamily="34" charset="-122"/>
                <a:cs typeface="Calibri" pitchFamily="34" charset="-120"/>
              </a:rPr>
              <a:t>reporte.creado sale recién después del commit, con publisher confirms.</a:t>
            </a:r>
            <a:endParaRPr lang="en-US" sz="1100" dirty="0"/>
          </a:p>
        </p:txBody>
      </p:sp>
      <p:sp>
        <p:nvSpPr>
          <p:cNvPr id="13" name="Shape 11"/>
          <p:cNvSpPr/>
          <p:nvPr/>
        </p:nvSpPr>
        <p:spPr>
          <a:xfrm>
            <a:off x="4288536" y="1234440"/>
            <a:ext cx="548640" cy="548640"/>
          </a:xfrm>
          <a:prstGeom prst="ellipse">
            <a:avLst/>
          </a:prstGeom>
          <a:solidFill>
            <a:srgbClr val="2D6A4F"/>
          </a:solidFill>
          <a:ln w="12700">
            <a:solidFill>
              <a:srgbClr val="2D6A4F"/>
            </a:solidFill>
            <a:prstDash val="solid"/>
          </a:ln>
        </p:spPr>
      </p:sp>
      <p:sp>
        <p:nvSpPr>
          <p:cNvPr id="14" name="Text 12"/>
          <p:cNvSpPr txBox="1"/>
          <p:nvPr/>
        </p:nvSpPr>
        <p:spPr>
          <a:xfrm>
            <a:off x="4288536"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Shape 13"/>
          <p:cNvSpPr/>
          <p:nvPr/>
        </p:nvSpPr>
        <p:spPr>
          <a:xfrm>
            <a:off x="4910328" y="1508760"/>
            <a:ext cx="1005840" cy="0"/>
          </a:xfrm>
          <a:prstGeom prst="line">
            <a:avLst/>
          </a:prstGeom>
          <a:noFill/>
          <a:ln w="19050">
            <a:solidFill>
              <a:srgbClr val="B7D9C6"/>
            </a:solidFill>
            <a:prstDash val="solid"/>
          </a:ln>
        </p:spPr>
      </p:sp>
      <p:sp>
        <p:nvSpPr>
          <p:cNvPr id="16" name="Text 14"/>
          <p:cNvSpPr txBox="1"/>
          <p:nvPr/>
        </p:nvSpPr>
        <p:spPr>
          <a:xfrm>
            <a:off x="3813048" y="1920240"/>
            <a:ext cx="1508760" cy="320040"/>
          </a:xfrm>
          <a:prstGeom prst="rect">
            <a:avLst/>
          </a:prstGeom>
          <a:noFill/>
          <a:ln/>
        </p:spPr>
        <p:txBody>
          <a:bodyPr wrap="square" lIns="0" tIns="0" rIns="0" bIns="0" rtlCol="0" anchor="t"/>
          <a:lstStyle/>
          <a:p>
            <a:pPr algn="ctr" indent="0" marL="0">
              <a:buNone/>
            </a:pPr>
            <a:r>
              <a:rPr lang="en-US" sz="1400" b="1" dirty="0">
                <a:solidFill>
                  <a:srgbClr val="14342B"/>
                </a:solidFill>
                <a:latin typeface="Calibri" pitchFamily="34" charset="0"/>
                <a:ea typeface="Calibri" pitchFamily="34" charset="-122"/>
                <a:cs typeface="Calibri" pitchFamily="34" charset="-120"/>
              </a:rPr>
              <a:t>Topic reparte</a:t>
            </a:r>
            <a:endParaRPr lang="en-US" sz="1400" dirty="0"/>
          </a:p>
        </p:txBody>
      </p:sp>
      <p:sp>
        <p:nvSpPr>
          <p:cNvPr id="17" name="Text 15"/>
          <p:cNvSpPr txBox="1"/>
          <p:nvPr/>
        </p:nvSpPr>
        <p:spPr>
          <a:xfrm>
            <a:off x="3813048" y="2240280"/>
            <a:ext cx="1508760" cy="1097280"/>
          </a:xfrm>
          <a:prstGeom prst="rect">
            <a:avLst/>
          </a:prstGeom>
          <a:noFill/>
          <a:ln/>
        </p:spPr>
        <p:txBody>
          <a:bodyPr wrap="square" lIns="0" tIns="0" rIns="0" bIns="0" rtlCol="0" anchor="t"/>
          <a:lstStyle/>
          <a:p>
            <a:pPr algn="ctr" indent="0" marL="0">
              <a:buNone/>
            </a:pPr>
            <a:r>
              <a:rPr lang="en-US" sz="1100" dirty="0">
                <a:solidFill>
                  <a:srgbClr val="1F2A24"/>
                </a:solidFill>
                <a:latin typeface="Calibri" pitchFamily="34" charset="0"/>
                <a:ea typeface="Calibri" pitchFamily="34" charset="-122"/>
                <a:cs typeface="Calibri" pitchFamily="34" charset="-120"/>
              </a:rPr>
              <a:t>Notificaciones avisa a los encargados y estadísticas suma los contadores.</a:t>
            </a:r>
            <a:endParaRPr lang="en-US" sz="1100" dirty="0"/>
          </a:p>
        </p:txBody>
      </p:sp>
      <p:sp>
        <p:nvSpPr>
          <p:cNvPr id="18" name="Shape 16"/>
          <p:cNvSpPr/>
          <p:nvPr/>
        </p:nvSpPr>
        <p:spPr>
          <a:xfrm>
            <a:off x="5989320" y="1234440"/>
            <a:ext cx="548640" cy="548640"/>
          </a:xfrm>
          <a:prstGeom prst="ellipse">
            <a:avLst/>
          </a:prstGeom>
          <a:solidFill>
            <a:srgbClr val="2D6A4F"/>
          </a:solidFill>
          <a:ln w="12700">
            <a:solidFill>
              <a:srgbClr val="2D6A4F"/>
            </a:solidFill>
            <a:prstDash val="solid"/>
          </a:ln>
        </p:spPr>
      </p:sp>
      <p:sp>
        <p:nvSpPr>
          <p:cNvPr id="19" name="Text 17"/>
          <p:cNvSpPr txBox="1"/>
          <p:nvPr/>
        </p:nvSpPr>
        <p:spPr>
          <a:xfrm>
            <a:off x="5989320"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0" name="Shape 18"/>
          <p:cNvSpPr/>
          <p:nvPr/>
        </p:nvSpPr>
        <p:spPr>
          <a:xfrm>
            <a:off x="6611112" y="1508760"/>
            <a:ext cx="1005840" cy="0"/>
          </a:xfrm>
          <a:prstGeom prst="line">
            <a:avLst/>
          </a:prstGeom>
          <a:noFill/>
          <a:ln w="19050">
            <a:solidFill>
              <a:srgbClr val="B7D9C6"/>
            </a:solidFill>
            <a:prstDash val="solid"/>
          </a:ln>
        </p:spPr>
      </p:sp>
      <p:sp>
        <p:nvSpPr>
          <p:cNvPr id="21" name="Text 19"/>
          <p:cNvSpPr txBox="1"/>
          <p:nvPr/>
        </p:nvSpPr>
        <p:spPr>
          <a:xfrm>
            <a:off x="5513832" y="1920240"/>
            <a:ext cx="1508760" cy="320040"/>
          </a:xfrm>
          <a:prstGeom prst="rect">
            <a:avLst/>
          </a:prstGeom>
          <a:noFill/>
          <a:ln/>
        </p:spPr>
        <p:txBody>
          <a:bodyPr wrap="square" lIns="0" tIns="0" rIns="0" bIns="0" rtlCol="0" anchor="t"/>
          <a:lstStyle/>
          <a:p>
            <a:pPr algn="ctr" indent="0" marL="0">
              <a:buNone/>
            </a:pPr>
            <a:r>
              <a:rPr lang="en-US" sz="1400" b="1" dirty="0">
                <a:solidFill>
                  <a:srgbClr val="14342B"/>
                </a:solidFill>
                <a:latin typeface="Calibri" pitchFamily="34" charset="0"/>
                <a:ea typeface="Calibri" pitchFamily="34" charset="-122"/>
                <a:cs typeface="Calibri" pitchFamily="34" charset="-120"/>
              </a:rPr>
              <a:t>Pasar a revisión</a:t>
            </a:r>
            <a:endParaRPr lang="en-US" sz="1400" dirty="0"/>
          </a:p>
        </p:txBody>
      </p:sp>
      <p:sp>
        <p:nvSpPr>
          <p:cNvPr id="22" name="Text 20"/>
          <p:cNvSpPr txBox="1"/>
          <p:nvPr/>
        </p:nvSpPr>
        <p:spPr>
          <a:xfrm>
            <a:off x="5513832" y="2240280"/>
            <a:ext cx="1508760" cy="1097280"/>
          </a:xfrm>
          <a:prstGeom prst="rect">
            <a:avLst/>
          </a:prstGeom>
          <a:noFill/>
          <a:ln/>
        </p:spPr>
        <p:txBody>
          <a:bodyPr wrap="square" lIns="0" tIns="0" rIns="0" bIns="0" rtlCol="0" anchor="t"/>
          <a:lstStyle/>
          <a:p>
            <a:pPr algn="ctr" indent="0" marL="0">
              <a:buNone/>
            </a:pPr>
            <a:r>
              <a:rPr lang="en-US" sz="1100" dirty="0">
                <a:solidFill>
                  <a:srgbClr val="1F2A24"/>
                </a:solidFill>
                <a:latin typeface="Calibri" pitchFamily="34" charset="0"/>
                <a:ea typeface="Calibri" pitchFamily="34" charset="-122"/>
                <a:cs typeface="Calibri" pitchFamily="34" charset="-120"/>
              </a:rPr>
              <a:t>El encargado cambia el estado y se envía ticket.mantencion por el exchange direct.</a:t>
            </a:r>
            <a:endParaRPr lang="en-US" sz="1100" dirty="0"/>
          </a:p>
        </p:txBody>
      </p:sp>
      <p:sp>
        <p:nvSpPr>
          <p:cNvPr id="23" name="Shape 21"/>
          <p:cNvSpPr/>
          <p:nvPr/>
        </p:nvSpPr>
        <p:spPr>
          <a:xfrm>
            <a:off x="7690104" y="1234440"/>
            <a:ext cx="548640" cy="548640"/>
          </a:xfrm>
          <a:prstGeom prst="ellipse">
            <a:avLst/>
          </a:prstGeom>
          <a:solidFill>
            <a:srgbClr val="F4A261"/>
          </a:solidFill>
          <a:ln w="12700">
            <a:solidFill>
              <a:srgbClr val="F4A261"/>
            </a:solidFill>
            <a:prstDash val="solid"/>
          </a:ln>
        </p:spPr>
      </p:sp>
      <p:sp>
        <p:nvSpPr>
          <p:cNvPr id="24" name="Text 22"/>
          <p:cNvSpPr txBox="1"/>
          <p:nvPr/>
        </p:nvSpPr>
        <p:spPr>
          <a:xfrm>
            <a:off x="7690104" y="1234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5" name="Text 23"/>
          <p:cNvSpPr txBox="1"/>
          <p:nvPr/>
        </p:nvSpPr>
        <p:spPr>
          <a:xfrm>
            <a:off x="7214616" y="1920240"/>
            <a:ext cx="1508760" cy="320040"/>
          </a:xfrm>
          <a:prstGeom prst="rect">
            <a:avLst/>
          </a:prstGeom>
          <a:noFill/>
          <a:ln/>
        </p:spPr>
        <p:txBody>
          <a:bodyPr wrap="square" lIns="0" tIns="0" rIns="0" bIns="0" rtlCol="0" anchor="t"/>
          <a:lstStyle/>
          <a:p>
            <a:pPr algn="ctr" indent="0" marL="0">
              <a:buNone/>
            </a:pPr>
            <a:r>
              <a:rPr lang="en-US" sz="1400" b="1" dirty="0">
                <a:solidFill>
                  <a:srgbClr val="14342B"/>
                </a:solidFill>
                <a:latin typeface="Calibri" pitchFamily="34" charset="0"/>
                <a:ea typeface="Calibri" pitchFamily="34" charset="-122"/>
                <a:cs typeface="Calibri" pitchFamily="34" charset="-120"/>
              </a:rPr>
              <a:t>Ticket y cierre</a:t>
            </a:r>
            <a:endParaRPr lang="en-US" sz="1400" dirty="0"/>
          </a:p>
        </p:txBody>
      </p:sp>
      <p:sp>
        <p:nvSpPr>
          <p:cNvPr id="26" name="Text 24"/>
          <p:cNvSpPr txBox="1"/>
          <p:nvPr/>
        </p:nvSpPr>
        <p:spPr>
          <a:xfrm>
            <a:off x="7214616" y="2240280"/>
            <a:ext cx="1508760" cy="1097280"/>
          </a:xfrm>
          <a:prstGeom prst="rect">
            <a:avLst/>
          </a:prstGeom>
          <a:noFill/>
          <a:ln/>
        </p:spPr>
        <p:txBody>
          <a:bodyPr wrap="square" lIns="0" tIns="0" rIns="0" bIns="0" rtlCol="0" anchor="t"/>
          <a:lstStyle/>
          <a:p>
            <a:pPr algn="ctr" indent="0" marL="0">
              <a:buNone/>
            </a:pPr>
            <a:r>
              <a:rPr lang="en-US" sz="1100" dirty="0">
                <a:solidFill>
                  <a:srgbClr val="1F2A24"/>
                </a:solidFill>
                <a:latin typeface="Calibri" pitchFamily="34" charset="0"/>
                <a:ea typeface="Calibri" pitchFamily="34" charset="-122"/>
                <a:cs typeface="Calibri" pitchFamily="34" charset="-120"/>
              </a:rPr>
              <a:t>ms-tickets crea el ticket TK-…; al marcarlo resuelto se avisa al vecino.</a:t>
            </a:r>
            <a:endParaRPr lang="en-US" sz="1100" dirty="0"/>
          </a:p>
        </p:txBody>
      </p:sp>
      <p:sp>
        <p:nvSpPr>
          <p:cNvPr id="27" name="Shape 25"/>
          <p:cNvSpPr/>
          <p:nvPr/>
        </p:nvSpPr>
        <p:spPr>
          <a:xfrm>
            <a:off x="411480" y="3383280"/>
            <a:ext cx="8321040" cy="1051560"/>
          </a:xfrm>
          <a:prstGeom prst="roundRect">
            <a:avLst>
              <a:gd name="adj" fmla="val 10435"/>
            </a:avLst>
          </a:prstGeom>
          <a:solidFill>
            <a:srgbClr val="E8F5EE"/>
          </a:solidFill>
          <a:ln w="12700">
            <a:solidFill>
              <a:srgbClr val="E8F5EE"/>
            </a:solidFill>
            <a:prstDash val="solid"/>
          </a:ln>
        </p:spPr>
      </p:sp>
      <p:sp>
        <p:nvSpPr>
          <p:cNvPr id="28" name="Text 26"/>
          <p:cNvSpPr txBox="1"/>
          <p:nvPr/>
        </p:nvSpPr>
        <p:spPr>
          <a:xfrm>
            <a:off x="640080" y="3474720"/>
            <a:ext cx="7863840" cy="868680"/>
          </a:xfrm>
          <a:prstGeom prst="rect">
            <a:avLst/>
          </a:prstGeom>
          <a:noFill/>
          <a:ln/>
        </p:spPr>
        <p:txBody>
          <a:bodyPr wrap="square" lIns="0" tIns="0" rIns="0" bIns="0" rtlCol="0" anchor="ctr"/>
          <a:lstStyle/>
          <a:p>
            <a:pPr indent="0" marL="0">
              <a:buNone/>
            </a:pPr>
            <a:r>
              <a:rPr lang="en-US" sz="1300" b="1" dirty="0">
                <a:solidFill>
                  <a:srgbClr val="14342B"/>
                </a:solidFill>
                <a:latin typeface="Calibri" pitchFamily="34" charset="0"/>
                <a:ea typeface="Calibri" pitchFamily="34" charset="-122"/>
                <a:cs typeface="Calibri" pitchFamily="34" charset="-120"/>
              </a:rPr>
              <a:t>Síncrono y asíncrono: </a:t>
            </a:r>
            <a:pPr indent="0" marL="0">
              <a:buNone/>
            </a:pPr>
            <a:r>
              <a:rPr lang="en-US" sz="1300" dirty="0">
                <a:solidFill>
                  <a:srgbClr val="1F2A24"/>
                </a:solidFill>
                <a:latin typeface="Calibri" pitchFamily="34" charset="0"/>
                <a:ea typeface="Calibri" pitchFamily="34" charset="-122"/>
                <a:cs typeface="Calibri" pitchFamily="34" charset="-120"/>
              </a:rPr>
              <a:t>crear el reporte y cambiar su estado es síncrono, porque el usuario necesita la respuesta. Avisos, contadores y tickets son asíncronos: si ms-tickets está caído, la API igual responde y el mensaje espera en la cola hasta que vuelva.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ACK manual, reintentos y DLQ</a:t>
            </a:r>
            <a:endParaRPr lang="en-US" sz="3000" dirty="0"/>
          </a:p>
        </p:txBody>
      </p:sp>
      <p:sp>
        <p:nvSpPr>
          <p:cNvPr id="3" name="Shape 1"/>
          <p:cNvSpPr/>
          <p:nvPr/>
        </p:nvSpPr>
        <p:spPr>
          <a:xfrm>
            <a:off x="457200" y="1097280"/>
            <a:ext cx="3931920" cy="1627632"/>
          </a:xfrm>
          <a:prstGeom prst="roundRect">
            <a:avLst>
              <a:gd name="adj" fmla="val 6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685800" y="1325880"/>
            <a:ext cx="548640" cy="54864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817474" y="1457554"/>
            <a:ext cx="285293" cy="285293"/>
          </a:xfrm>
          <a:prstGeom prst="rect">
            <a:avLst/>
          </a:prstGeom>
        </p:spPr>
      </p:pic>
      <p:sp>
        <p:nvSpPr>
          <p:cNvPr id="6" name="Text 3"/>
          <p:cNvSpPr txBox="1"/>
          <p:nvPr/>
        </p:nvSpPr>
        <p:spPr>
          <a:xfrm>
            <a:off x="1417320" y="1325880"/>
            <a:ext cx="2788920" cy="347472"/>
          </a:xfrm>
          <a:prstGeom prst="rect">
            <a:avLst/>
          </a:prstGeom>
          <a:noFill/>
          <a:ln/>
        </p:spPr>
        <p:txBody>
          <a:bodyPr wrap="square" lIns="0" tIns="0" rIns="0" bIns="0" rtlCol="0" anchor="ctr"/>
          <a:lstStyle/>
          <a:p>
            <a:pPr indent="0" marL="0">
              <a:buNone/>
            </a:pPr>
            <a:r>
              <a:rPr lang="en-US" sz="1500" b="1" dirty="0">
                <a:solidFill>
                  <a:srgbClr val="14342B"/>
                </a:solidFill>
                <a:latin typeface="Calibri" pitchFamily="34" charset="0"/>
                <a:ea typeface="Calibri" pitchFamily="34" charset="-122"/>
                <a:cs typeface="Calibri" pitchFamily="34" charset="-120"/>
              </a:rPr>
              <a:t>ACK manual</a:t>
            </a:r>
            <a:endParaRPr lang="en-US" sz="1500" dirty="0"/>
          </a:p>
        </p:txBody>
      </p:sp>
      <p:sp>
        <p:nvSpPr>
          <p:cNvPr id="7" name="Text 4"/>
          <p:cNvSpPr txBox="1"/>
          <p:nvPr/>
        </p:nvSpPr>
        <p:spPr>
          <a:xfrm>
            <a:off x="1417320" y="1691640"/>
            <a:ext cx="2788920" cy="9601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El consumidor confirma con basicAck solo después de guardar en su base. Si se cae antes, RabbitMQ reentrega el mensaje.</a:t>
            </a:r>
            <a:endParaRPr lang="en-US" sz="1150" dirty="0"/>
          </a:p>
        </p:txBody>
      </p:sp>
      <p:sp>
        <p:nvSpPr>
          <p:cNvPr id="8" name="Shape 5"/>
          <p:cNvSpPr/>
          <p:nvPr/>
        </p:nvSpPr>
        <p:spPr>
          <a:xfrm>
            <a:off x="4663440" y="1097280"/>
            <a:ext cx="3931920" cy="1627632"/>
          </a:xfrm>
          <a:prstGeom prst="roundRect">
            <a:avLst>
              <a:gd name="adj" fmla="val 6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4892040" y="1325880"/>
            <a:ext cx="548640" cy="548640"/>
          </a:xfrm>
          <a:prstGeom prst="ellipse">
            <a:avLst/>
          </a:prstGeom>
          <a:solidFill>
            <a:srgbClr val="C0392B"/>
          </a:solidFill>
          <a:ln w="12700">
            <a:solidFill>
              <a:srgbClr val="C0392B"/>
            </a:solidFill>
            <a:prstDash val="solid"/>
          </a:ln>
        </p:spPr>
      </p:sp>
      <p:pic>
        <p:nvPicPr>
          <p:cNvPr id="10" name="Image 1" descr="preencoded.png">    </p:cNvPr>
          <p:cNvPicPr>
            <a:picLocks noChangeAspect="1"/>
          </p:cNvPicPr>
          <p:nvPr/>
        </p:nvPicPr>
        <p:blipFill>
          <a:blip r:embed="rId2"/>
          <a:stretch>
            <a:fillRect/>
          </a:stretch>
        </p:blipFill>
        <p:spPr>
          <a:xfrm>
            <a:off x="5023714" y="1457554"/>
            <a:ext cx="285293" cy="285293"/>
          </a:xfrm>
          <a:prstGeom prst="rect">
            <a:avLst/>
          </a:prstGeom>
        </p:spPr>
      </p:pic>
      <p:sp>
        <p:nvSpPr>
          <p:cNvPr id="11" name="Text 7"/>
          <p:cNvSpPr txBox="1"/>
          <p:nvPr/>
        </p:nvSpPr>
        <p:spPr>
          <a:xfrm>
            <a:off x="5623560" y="1325880"/>
            <a:ext cx="2788920" cy="347472"/>
          </a:xfrm>
          <a:prstGeom prst="rect">
            <a:avLst/>
          </a:prstGeom>
          <a:noFill/>
          <a:ln/>
        </p:spPr>
        <p:txBody>
          <a:bodyPr wrap="square" lIns="0" tIns="0" rIns="0" bIns="0" rtlCol="0" anchor="ctr"/>
          <a:lstStyle/>
          <a:p>
            <a:pPr indent="0" marL="0">
              <a:buNone/>
            </a:pPr>
            <a:r>
              <a:rPr lang="en-US" sz="1500" b="1" dirty="0">
                <a:solidFill>
                  <a:srgbClr val="14342B"/>
                </a:solidFill>
                <a:latin typeface="Calibri" pitchFamily="34" charset="0"/>
                <a:ea typeface="Calibri" pitchFamily="34" charset="-122"/>
                <a:cs typeface="Calibri" pitchFamily="34" charset="-120"/>
              </a:rPr>
              <a:t>Error de datos → DLQ</a:t>
            </a:r>
            <a:endParaRPr lang="en-US" sz="1500" dirty="0"/>
          </a:p>
        </p:txBody>
      </p:sp>
      <p:sp>
        <p:nvSpPr>
          <p:cNvPr id="12" name="Text 8"/>
          <p:cNvSpPr txBox="1"/>
          <p:nvPr/>
        </p:nvSpPr>
        <p:spPr>
          <a:xfrm>
            <a:off x="5623560" y="1691640"/>
            <a:ext cx="2788920" cy="9601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JSON inválido o campos faltantes: basicNack sin reencolar y el mensaje va directo a su .dlq, con el header x-death.</a:t>
            </a:r>
            <a:endParaRPr lang="en-US" sz="1150" dirty="0"/>
          </a:p>
        </p:txBody>
      </p:sp>
      <p:sp>
        <p:nvSpPr>
          <p:cNvPr id="13" name="Shape 9"/>
          <p:cNvSpPr/>
          <p:nvPr/>
        </p:nvSpPr>
        <p:spPr>
          <a:xfrm>
            <a:off x="457200" y="2907792"/>
            <a:ext cx="3931920" cy="1627632"/>
          </a:xfrm>
          <a:prstGeom prst="roundRect">
            <a:avLst>
              <a:gd name="adj" fmla="val 6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0"/>
          <p:cNvSpPr/>
          <p:nvPr/>
        </p:nvSpPr>
        <p:spPr>
          <a:xfrm>
            <a:off x="685800" y="3136392"/>
            <a:ext cx="548640" cy="548640"/>
          </a:xfrm>
          <a:prstGeom prst="ellipse">
            <a:avLst/>
          </a:prstGeom>
          <a:solidFill>
            <a:srgbClr val="F4A261"/>
          </a:solidFill>
          <a:ln w="12700">
            <a:solidFill>
              <a:srgbClr val="F4A261"/>
            </a:solidFill>
            <a:prstDash val="solid"/>
          </a:ln>
        </p:spPr>
      </p:sp>
      <p:pic>
        <p:nvPicPr>
          <p:cNvPr id="15" name="Image 2" descr="preencoded.png">    </p:cNvPr>
          <p:cNvPicPr>
            <a:picLocks noChangeAspect="1"/>
          </p:cNvPicPr>
          <p:nvPr/>
        </p:nvPicPr>
        <p:blipFill>
          <a:blip r:embed="rId3"/>
          <a:stretch>
            <a:fillRect/>
          </a:stretch>
        </p:blipFill>
        <p:spPr>
          <a:xfrm>
            <a:off x="817474" y="3268066"/>
            <a:ext cx="285293" cy="285293"/>
          </a:xfrm>
          <a:prstGeom prst="rect">
            <a:avLst/>
          </a:prstGeom>
        </p:spPr>
      </p:pic>
      <p:sp>
        <p:nvSpPr>
          <p:cNvPr id="16" name="Text 11"/>
          <p:cNvSpPr txBox="1"/>
          <p:nvPr/>
        </p:nvSpPr>
        <p:spPr>
          <a:xfrm>
            <a:off x="1417320" y="3136392"/>
            <a:ext cx="2788920" cy="347472"/>
          </a:xfrm>
          <a:prstGeom prst="rect">
            <a:avLst/>
          </a:prstGeom>
          <a:noFill/>
          <a:ln/>
        </p:spPr>
        <p:txBody>
          <a:bodyPr wrap="square" lIns="0" tIns="0" rIns="0" bIns="0" rtlCol="0" anchor="ctr"/>
          <a:lstStyle/>
          <a:p>
            <a:pPr indent="0" marL="0">
              <a:buNone/>
            </a:pPr>
            <a:r>
              <a:rPr lang="en-US" sz="1500" b="1" dirty="0">
                <a:solidFill>
                  <a:srgbClr val="14342B"/>
                </a:solidFill>
                <a:latin typeface="Calibri" pitchFamily="34" charset="0"/>
                <a:ea typeface="Calibri" pitchFamily="34" charset="-122"/>
                <a:cs typeface="Calibri" pitchFamily="34" charset="-120"/>
              </a:rPr>
              <a:t>Error transitorio → reintentos</a:t>
            </a:r>
            <a:endParaRPr lang="en-US" sz="1500" dirty="0"/>
          </a:p>
        </p:txBody>
      </p:sp>
      <p:sp>
        <p:nvSpPr>
          <p:cNvPr id="17" name="Text 12"/>
          <p:cNvSpPr txBox="1"/>
          <p:nvPr/>
        </p:nvSpPr>
        <p:spPr>
          <a:xfrm>
            <a:off x="1417320" y="3502152"/>
            <a:ext cx="2788920" cy="9601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Base de datos caída: 3 intentos con espera de 1 s y 2 s; si sigue fallando, a la DLQ. Nunca requeue=true, para evitar bucles.</a:t>
            </a:r>
            <a:endParaRPr lang="en-US" sz="1150" dirty="0"/>
          </a:p>
        </p:txBody>
      </p:sp>
      <p:sp>
        <p:nvSpPr>
          <p:cNvPr id="18" name="Shape 13"/>
          <p:cNvSpPr/>
          <p:nvPr/>
        </p:nvSpPr>
        <p:spPr>
          <a:xfrm>
            <a:off x="4663440" y="2907792"/>
            <a:ext cx="3931920" cy="1627632"/>
          </a:xfrm>
          <a:prstGeom prst="roundRect">
            <a:avLst>
              <a:gd name="adj" fmla="val 6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4"/>
          <p:cNvSpPr/>
          <p:nvPr/>
        </p:nvSpPr>
        <p:spPr>
          <a:xfrm>
            <a:off x="4892040" y="3136392"/>
            <a:ext cx="548640" cy="548640"/>
          </a:xfrm>
          <a:prstGeom prst="ellipse">
            <a:avLst/>
          </a:prstGeom>
          <a:solidFill>
            <a:srgbClr val="2D6A4F"/>
          </a:solidFill>
          <a:ln w="12700">
            <a:solidFill>
              <a:srgbClr val="2D6A4F"/>
            </a:solidFill>
            <a:prstDash val="solid"/>
          </a:ln>
        </p:spPr>
      </p:sp>
      <p:pic>
        <p:nvPicPr>
          <p:cNvPr id="20" name="Image 3" descr="preencoded.png">    </p:cNvPr>
          <p:cNvPicPr>
            <a:picLocks noChangeAspect="1"/>
          </p:cNvPicPr>
          <p:nvPr/>
        </p:nvPicPr>
        <p:blipFill>
          <a:blip r:embed="rId4"/>
          <a:stretch>
            <a:fillRect/>
          </a:stretch>
        </p:blipFill>
        <p:spPr>
          <a:xfrm>
            <a:off x="5023714" y="3268066"/>
            <a:ext cx="285293" cy="285293"/>
          </a:xfrm>
          <a:prstGeom prst="rect">
            <a:avLst/>
          </a:prstGeom>
        </p:spPr>
      </p:pic>
      <p:sp>
        <p:nvSpPr>
          <p:cNvPr id="21" name="Text 15"/>
          <p:cNvSpPr txBox="1"/>
          <p:nvPr/>
        </p:nvSpPr>
        <p:spPr>
          <a:xfrm>
            <a:off x="5623560" y="3136392"/>
            <a:ext cx="2788920" cy="347472"/>
          </a:xfrm>
          <a:prstGeom prst="rect">
            <a:avLst/>
          </a:prstGeom>
          <a:noFill/>
          <a:ln/>
        </p:spPr>
        <p:txBody>
          <a:bodyPr wrap="square" lIns="0" tIns="0" rIns="0" bIns="0" rtlCol="0" anchor="ctr"/>
          <a:lstStyle/>
          <a:p>
            <a:pPr indent="0" marL="0">
              <a:buNone/>
            </a:pPr>
            <a:r>
              <a:rPr lang="en-US" sz="1500" b="1" dirty="0">
                <a:solidFill>
                  <a:srgbClr val="14342B"/>
                </a:solidFill>
                <a:latin typeface="Calibri" pitchFamily="34" charset="0"/>
                <a:ea typeface="Calibri" pitchFamily="34" charset="-122"/>
                <a:cs typeface="Calibri" pitchFamily="34" charset="-120"/>
              </a:rPr>
              <a:t>Idempotencia</a:t>
            </a:r>
            <a:endParaRPr lang="en-US" sz="1500" dirty="0"/>
          </a:p>
        </p:txBody>
      </p:sp>
      <p:sp>
        <p:nvSpPr>
          <p:cNvPr id="22" name="Text 16"/>
          <p:cNvSpPr txBox="1"/>
          <p:nvPr/>
        </p:nvSpPr>
        <p:spPr>
          <a:xfrm>
            <a:off x="5623560" y="3502152"/>
            <a:ext cx="2788920" cy="960120"/>
          </a:xfrm>
          <a:prstGeom prst="rect">
            <a:avLst/>
          </a:prstGeom>
          <a:noFill/>
          <a:ln/>
        </p:spPr>
        <p:txBody>
          <a:bodyPr wrap="square" lIns="0" tIns="0" rIns="0" bIns="0" rtlCol="0" anchor="t"/>
          <a:lstStyle/>
          <a:p>
            <a:pPr indent="0" marL="0">
              <a:buNone/>
            </a:pPr>
            <a:r>
              <a:rPr lang="en-US" sz="1150" dirty="0">
                <a:solidFill>
                  <a:srgbClr val="1F2A24"/>
                </a:solidFill>
                <a:latin typeface="Calibri" pitchFamily="34" charset="0"/>
                <a:ea typeface="Calibri" pitchFamily="34" charset="-122"/>
                <a:cs typeface="Calibri" pitchFamily="34" charset="-120"/>
              </a:rPr>
              <a:t>La entrega es "al menos una vez": cada consumidor guarda el eventId o reporteId y, si llega repetido, solo confirma.</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Clúster RabbitMQ de 2 nodos</a:t>
            </a:r>
            <a:endParaRPr lang="en-US" sz="3000" dirty="0"/>
          </a:p>
        </p:txBody>
      </p:sp>
      <p:sp>
        <p:nvSpPr>
          <p:cNvPr id="3" name="Shape 1"/>
          <p:cNvSpPr/>
          <p:nvPr/>
        </p:nvSpPr>
        <p:spPr>
          <a:xfrm>
            <a:off x="457200" y="1097280"/>
            <a:ext cx="3931920" cy="3611880"/>
          </a:xfrm>
          <a:prstGeom prst="roundRect">
            <a:avLst>
              <a:gd name="adj" fmla="val 303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Shape 2"/>
          <p:cNvSpPr/>
          <p:nvPr/>
        </p:nvSpPr>
        <p:spPr>
          <a:xfrm>
            <a:off x="731520" y="1325880"/>
            <a:ext cx="594360" cy="59436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874166" y="1468526"/>
            <a:ext cx="309067" cy="309067"/>
          </a:xfrm>
          <a:prstGeom prst="rect">
            <a:avLst/>
          </a:prstGeom>
        </p:spPr>
      </p:pic>
      <p:sp>
        <p:nvSpPr>
          <p:cNvPr id="6" name="Text 3"/>
          <p:cNvSpPr txBox="1"/>
          <p:nvPr/>
        </p:nvSpPr>
        <p:spPr>
          <a:xfrm>
            <a:off x="1463040" y="1325880"/>
            <a:ext cx="2743200" cy="320040"/>
          </a:xfrm>
          <a:prstGeom prst="rect">
            <a:avLst/>
          </a:prstGeom>
          <a:noFill/>
          <a:ln/>
        </p:spPr>
        <p:txBody>
          <a:bodyPr wrap="square" lIns="0" tIns="0" rIns="0" bIns="0" rtlCol="0" anchor="t"/>
          <a:lstStyle/>
          <a:p>
            <a:pPr indent="0" marL="0">
              <a:buNone/>
            </a:pPr>
            <a:r>
              <a:rPr lang="en-US" sz="1700" b="1" dirty="0">
                <a:solidFill>
                  <a:srgbClr val="14342B"/>
                </a:solidFill>
                <a:latin typeface="Calibri" pitchFamily="34" charset="0"/>
                <a:ea typeface="Calibri" pitchFamily="34" charset="-122"/>
                <a:cs typeface="Calibri" pitchFamily="34" charset="-120"/>
              </a:rPr>
              <a:t>rabbit1 + rabbit2</a:t>
            </a:r>
            <a:endParaRPr lang="en-US" sz="1700" dirty="0"/>
          </a:p>
        </p:txBody>
      </p:sp>
      <p:sp>
        <p:nvSpPr>
          <p:cNvPr id="7" name="Text 4"/>
          <p:cNvSpPr txBox="1"/>
          <p:nvPr/>
        </p:nvSpPr>
        <p:spPr>
          <a:xfrm>
            <a:off x="1463040" y="1645920"/>
            <a:ext cx="2743200" cy="320040"/>
          </a:xfrm>
          <a:prstGeom prst="rect">
            <a:avLst/>
          </a:prstGeom>
          <a:noFill/>
          <a:ln/>
        </p:spPr>
        <p:txBody>
          <a:bodyPr wrap="square" lIns="0" tIns="0" rIns="0" bIns="0" rtlCol="0" anchor="t"/>
          <a:lstStyle/>
          <a:p>
            <a:pPr indent="0" marL="0">
              <a:buNone/>
            </a:pPr>
            <a:r>
              <a:rPr lang="en-US" sz="1200" dirty="0">
                <a:solidFill>
                  <a:srgbClr val="2D6A4F"/>
                </a:solidFill>
                <a:latin typeface="Calibri" pitchFamily="34" charset="0"/>
                <a:ea typeface="Calibri" pitchFamily="34" charset="-122"/>
                <a:cs typeface="Calibri" pitchFamily="34" charset="-120"/>
              </a:rPr>
              <a:t>Un clúster en docker compose</a:t>
            </a:r>
            <a:endParaRPr lang="en-US" sz="1200" dirty="0"/>
          </a:p>
        </p:txBody>
      </p:sp>
      <p:sp>
        <p:nvSpPr>
          <p:cNvPr id="8" name="Text 5"/>
          <p:cNvSpPr txBox="1"/>
          <p:nvPr/>
        </p:nvSpPr>
        <p:spPr>
          <a:xfrm>
            <a:off x="731520" y="219456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Misma Erlang cookie y descubrimiento classic_config</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Management UI en :15672 y :15673</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Los servicios se conectan a ambos nodos y se reconectan si uno cae</a:t>
            </a:r>
            <a:endParaRPr lang="en-US" sz="1300" dirty="0"/>
          </a:p>
        </p:txBody>
      </p:sp>
      <p:sp>
        <p:nvSpPr>
          <p:cNvPr id="9" name="Shape 6"/>
          <p:cNvSpPr/>
          <p:nvPr/>
        </p:nvSpPr>
        <p:spPr>
          <a:xfrm>
            <a:off x="731520" y="3977640"/>
            <a:ext cx="3383280" cy="457200"/>
          </a:xfrm>
          <a:prstGeom prst="roundRect">
            <a:avLst>
              <a:gd name="adj" fmla="val 24000"/>
            </a:avLst>
          </a:prstGeom>
          <a:solidFill>
            <a:srgbClr val="2D6A4F"/>
          </a:solidFill>
          <a:ln w="12700">
            <a:solidFill>
              <a:srgbClr val="2D6A4F"/>
            </a:solidFill>
            <a:prstDash val="solid"/>
          </a:ln>
        </p:spPr>
      </p:sp>
      <p:sp>
        <p:nvSpPr>
          <p:cNvPr id="10" name="Text 7"/>
          <p:cNvSpPr txBox="1"/>
          <p:nvPr/>
        </p:nvSpPr>
        <p:spPr>
          <a:xfrm>
            <a:off x="731520" y="3977640"/>
            <a:ext cx="3383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Running Nodes: rabbit1 y rabbit2</a:t>
            </a:r>
            <a:endParaRPr lang="en-US" sz="1300" dirty="0"/>
          </a:p>
        </p:txBody>
      </p:sp>
      <p:sp>
        <p:nvSpPr>
          <p:cNvPr id="11" name="Shape 8"/>
          <p:cNvSpPr/>
          <p:nvPr/>
        </p:nvSpPr>
        <p:spPr>
          <a:xfrm>
            <a:off x="4663440" y="1097280"/>
            <a:ext cx="3931920" cy="3611880"/>
          </a:xfrm>
          <a:prstGeom prst="roundRect">
            <a:avLst>
              <a:gd name="adj" fmla="val 303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2" name="Shape 9"/>
          <p:cNvSpPr/>
          <p:nvPr/>
        </p:nvSpPr>
        <p:spPr>
          <a:xfrm>
            <a:off x="4937760" y="1325880"/>
            <a:ext cx="594360" cy="594360"/>
          </a:xfrm>
          <a:prstGeom prst="ellipse">
            <a:avLst/>
          </a:prstGeom>
          <a:solidFill>
            <a:srgbClr val="2D6A4F"/>
          </a:solidFill>
          <a:ln w="12700">
            <a:solidFill>
              <a:srgbClr val="2D6A4F"/>
            </a:solidFill>
            <a:prstDash val="solid"/>
          </a:ln>
        </p:spPr>
      </p:sp>
      <p:pic>
        <p:nvPicPr>
          <p:cNvPr id="13" name="Image 1" descr="preencoded.png">    </p:cNvPr>
          <p:cNvPicPr>
            <a:picLocks noChangeAspect="1"/>
          </p:cNvPicPr>
          <p:nvPr/>
        </p:nvPicPr>
        <p:blipFill>
          <a:blip r:embed="rId2"/>
          <a:stretch>
            <a:fillRect/>
          </a:stretch>
        </p:blipFill>
        <p:spPr>
          <a:xfrm>
            <a:off x="5080406" y="1468526"/>
            <a:ext cx="309067" cy="309067"/>
          </a:xfrm>
          <a:prstGeom prst="rect">
            <a:avLst/>
          </a:prstGeom>
        </p:spPr>
      </p:pic>
      <p:sp>
        <p:nvSpPr>
          <p:cNvPr id="14" name="Text 10"/>
          <p:cNvSpPr txBox="1"/>
          <p:nvPr/>
        </p:nvSpPr>
        <p:spPr>
          <a:xfrm>
            <a:off x="5669280" y="1325880"/>
            <a:ext cx="2743200" cy="320040"/>
          </a:xfrm>
          <a:prstGeom prst="rect">
            <a:avLst/>
          </a:prstGeom>
          <a:noFill/>
          <a:ln/>
        </p:spPr>
        <p:txBody>
          <a:bodyPr wrap="square" lIns="0" tIns="0" rIns="0" bIns="0" rtlCol="0" anchor="t"/>
          <a:lstStyle/>
          <a:p>
            <a:pPr indent="0" marL="0">
              <a:buNone/>
            </a:pPr>
            <a:r>
              <a:rPr lang="en-US" sz="1700" b="1" dirty="0">
                <a:solidFill>
                  <a:srgbClr val="14342B"/>
                </a:solidFill>
                <a:latin typeface="Calibri" pitchFamily="34" charset="0"/>
                <a:ea typeface="Calibri" pitchFamily="34" charset="-122"/>
                <a:cs typeface="Calibri" pitchFamily="34" charset="-120"/>
              </a:rPr>
              <a:t>Colas quorum</a:t>
            </a:r>
            <a:endParaRPr lang="en-US" sz="1700" dirty="0"/>
          </a:p>
        </p:txBody>
      </p:sp>
      <p:sp>
        <p:nvSpPr>
          <p:cNvPr id="15" name="Text 11"/>
          <p:cNvSpPr txBox="1"/>
          <p:nvPr/>
        </p:nvSpPr>
        <p:spPr>
          <a:xfrm>
            <a:off x="5669280" y="1645920"/>
            <a:ext cx="2743200" cy="320040"/>
          </a:xfrm>
          <a:prstGeom prst="rect">
            <a:avLst/>
          </a:prstGeom>
          <a:noFill/>
          <a:ln/>
        </p:spPr>
        <p:txBody>
          <a:bodyPr wrap="square" lIns="0" tIns="0" rIns="0" bIns="0" rtlCol="0" anchor="t"/>
          <a:lstStyle/>
          <a:p>
            <a:pPr indent="0" marL="0">
              <a:buNone/>
            </a:pPr>
            <a:r>
              <a:rPr lang="en-US" sz="1200" dirty="0">
                <a:solidFill>
                  <a:srgbClr val="2D6A4F"/>
                </a:solidFill>
                <a:latin typeface="Calibri" pitchFamily="34" charset="0"/>
                <a:ea typeface="Calibri" pitchFamily="34" charset="-122"/>
                <a:cs typeface="Calibri" pitchFamily="34" charset="-120"/>
              </a:rPr>
              <a:t>Mensajes replicados en los dos nodos</a:t>
            </a:r>
            <a:endParaRPr lang="en-US" sz="1200" dirty="0"/>
          </a:p>
        </p:txBody>
      </p:sp>
      <p:sp>
        <p:nvSpPr>
          <p:cNvPr id="16" name="Text 12"/>
          <p:cNvSpPr txBox="1"/>
          <p:nvPr/>
        </p:nvSpPr>
        <p:spPr>
          <a:xfrm>
            <a:off x="4937760" y="2194560"/>
            <a:ext cx="347472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Colas durables y mensajes persistentes (delivery_mode 2)</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Cada cola tiene un líder y una réplica</a:t>
            </a:r>
            <a:endParaRPr lang="en-US" sz="1300" dirty="0"/>
          </a:p>
          <a:p>
            <a:pPr marL="342900" indent="-342900">
              <a:spcAft>
                <a:spcPts val="600"/>
              </a:spcAft>
              <a:buSzPct val="100000"/>
              <a:buChar char="•"/>
            </a:pPr>
            <a:r>
              <a:rPr lang="en-US" sz="1300" dirty="0">
                <a:solidFill>
                  <a:srgbClr val="1F2A24"/>
                </a:solidFill>
                <a:latin typeface="Calibri" pitchFamily="34" charset="0"/>
                <a:ea typeface="Calibri" pitchFamily="34" charset="-122"/>
                <a:cs typeface="Calibri" pitchFamily="34" charset="-120"/>
              </a:rPr>
              <a:t>3 colas + 3 DLQ = 6 colas quorum</a:t>
            </a:r>
            <a:endParaRPr lang="en-US" sz="1300" dirty="0"/>
          </a:p>
        </p:txBody>
      </p:sp>
      <p:sp>
        <p:nvSpPr>
          <p:cNvPr id="17" name="Shape 13"/>
          <p:cNvSpPr/>
          <p:nvPr/>
        </p:nvSpPr>
        <p:spPr>
          <a:xfrm>
            <a:off x="4937760" y="3977640"/>
            <a:ext cx="3383280" cy="457200"/>
          </a:xfrm>
          <a:prstGeom prst="roundRect">
            <a:avLst>
              <a:gd name="adj" fmla="val 24000"/>
            </a:avLst>
          </a:prstGeom>
          <a:solidFill>
            <a:srgbClr val="F4A261"/>
          </a:solidFill>
          <a:ln w="12700">
            <a:solidFill>
              <a:srgbClr val="F4A261"/>
            </a:solidFill>
            <a:prstDash val="solid"/>
          </a:ln>
        </p:spPr>
      </p:sp>
      <p:sp>
        <p:nvSpPr>
          <p:cNvPr id="18" name="Text 14"/>
          <p:cNvSpPr txBox="1"/>
          <p:nvPr/>
        </p:nvSpPr>
        <p:spPr>
          <a:xfrm>
            <a:off x="4937760" y="3977640"/>
            <a:ext cx="33832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 2 nodos no hay mayoría: en producción, 3</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Microservicio administrador</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1097280"/>
          <a:ext cx="5120640" cy="914400"/>
        </p:xfrm>
        <a:graphic>
          <a:graphicData uri="http://schemas.openxmlformats.org/drawingml/2006/table">
            <a:tbl>
              <a:tblPr/>
              <a:tblGrid>
                <a:gridCol w="2240280"/>
                <a:gridCol w="1783080"/>
                <a:gridCol w="109728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Método y ruta</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Qué hace</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Respuestas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r>
              <a:tr h="0">
                <a:tc>
                  <a:txBody>
                    <a:bodyPr/>
                    <a:lstStyle/>
                    <a:p>
                      <a:pPr indent="0" marL="0">
                        <a:buNone/>
                      </a:pPr>
                      <a:r>
                        <a:rPr lang="en-US" sz="1100" b="1" dirty="0">
                          <a:solidFill>
                            <a:srgbClr val="2D6A4F"/>
                          </a:solidFill>
                          <a:latin typeface="Calibri" pitchFamily="34" charset="0"/>
                          <a:ea typeface="Calibri" pitchFamily="34" charset="-122"/>
                          <a:cs typeface="Calibri" pitchFamily="34" charset="-120"/>
                        </a:rPr>
                        <a:t>GET /api/admin/queues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Lista las colas y su DLQ</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D6A4F"/>
                          </a:solidFill>
                          <a:latin typeface="Calibri" pitchFamily="34" charset="0"/>
                          <a:ea typeface="Calibri" pitchFamily="34" charset="-122"/>
                          <a:cs typeface="Calibri" pitchFamily="34" charset="-120"/>
                        </a:rPr>
                        <a:t>POST /api/admin/queues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Crea una cola, con DLQ opcional</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201 · 400 · 409</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100" b="1" dirty="0">
                          <a:solidFill>
                            <a:srgbClr val="2D6A4F"/>
                          </a:solidFill>
                          <a:latin typeface="Calibri" pitchFamily="34" charset="0"/>
                          <a:ea typeface="Calibri" pitchFamily="34" charset="-122"/>
                          <a:cs typeface="Calibri" pitchFamily="34" charset="-120"/>
                        </a:rPr>
                        <a:t>DELETE /api/admin/queues/{nombre}</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Elimina si no tiene mensajes ni consumidores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204 · 404 · 409</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D6A4F"/>
                          </a:solidFill>
                          <a:latin typeface="Calibri" pitchFamily="34" charset="0"/>
                          <a:ea typeface="Calibri" pitchFamily="34" charset="-122"/>
                          <a:cs typeface="Calibri" pitchFamily="34" charset="-120"/>
                        </a:rPr>
                        <a:t>GET · POST · DELETE /api/admin/exchanges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Exchanges direct, topic, fanout</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200 · 201 · 204</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100" b="1" dirty="0">
                          <a:solidFill>
                            <a:srgbClr val="2D6A4F"/>
                          </a:solidFill>
                          <a:latin typeface="Calibri" pitchFamily="34" charset="0"/>
                          <a:ea typeface="Calibri" pitchFamily="34" charset="-122"/>
                          <a:cs typeface="Calibri" pitchFamily="34" charset="-120"/>
                        </a:rPr>
                        <a:t>GET · POST · DELETE /api/admin/bindings</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Enlaza un exchange con una cola</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100" dirty="0">
                          <a:solidFill>
                            <a:srgbClr val="1F2A24"/>
                          </a:solidFill>
                          <a:latin typeface="Calibri" pitchFamily="34" charset="0"/>
                          <a:ea typeface="Calibri" pitchFamily="34" charset="-122"/>
                          <a:cs typeface="Calibri" pitchFamily="34" charset="-120"/>
                        </a:rPr>
                        <a:t>200 · 201 · 204 · 404</a:t>
                      </a:r>
                      <a:endParaRPr lang="en-US" sz="11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bl>
          </a:graphicData>
        </a:graphic>
      </p:graphicFrame>
      <p:sp>
        <p:nvSpPr>
          <p:cNvPr id="4" name="Shape 1"/>
          <p:cNvSpPr/>
          <p:nvPr/>
        </p:nvSpPr>
        <p:spPr>
          <a:xfrm>
            <a:off x="5760720" y="1097280"/>
            <a:ext cx="502920" cy="502920"/>
          </a:xfrm>
          <a:prstGeom prst="ellipse">
            <a:avLst/>
          </a:prstGeom>
          <a:solidFill>
            <a:srgbClr val="2D6A4F"/>
          </a:solidFill>
          <a:ln w="12700">
            <a:solidFill>
              <a:srgbClr val="2D6A4F"/>
            </a:solidFill>
            <a:prstDash val="solid"/>
          </a:ln>
        </p:spPr>
      </p:sp>
      <p:pic>
        <p:nvPicPr>
          <p:cNvPr id="5" name="Image 0" descr="preencoded.png">    </p:cNvPr>
          <p:cNvPicPr>
            <a:picLocks noChangeAspect="1"/>
          </p:cNvPicPr>
          <p:nvPr/>
        </p:nvPicPr>
        <p:blipFill>
          <a:blip r:embed="rId1"/>
          <a:stretch>
            <a:fillRect/>
          </a:stretch>
        </p:blipFill>
        <p:spPr>
          <a:xfrm>
            <a:off x="5881421" y="1217981"/>
            <a:ext cx="261518" cy="261518"/>
          </a:xfrm>
          <a:prstGeom prst="rect">
            <a:avLst/>
          </a:prstGeom>
        </p:spPr>
      </p:pic>
      <p:sp>
        <p:nvSpPr>
          <p:cNvPr id="6" name="Text 2"/>
          <p:cNvSpPr txBox="1"/>
          <p:nvPr/>
        </p:nvSpPr>
        <p:spPr>
          <a:xfrm>
            <a:off x="6400800" y="1078992"/>
            <a:ext cx="23774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Solo el rol ADMIN</a:t>
            </a:r>
            <a:endParaRPr lang="en-US" sz="1400" dirty="0"/>
          </a:p>
        </p:txBody>
      </p:sp>
      <p:sp>
        <p:nvSpPr>
          <p:cNvPr id="7" name="Text 3"/>
          <p:cNvSpPr txBox="1"/>
          <p:nvPr/>
        </p:nvSpPr>
        <p:spPr>
          <a:xfrm>
            <a:off x="6400800" y="1399032"/>
            <a:ext cx="237744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Cualquier otro token recibe 403; la página del frontend solo aparece con ese rol.</a:t>
            </a:r>
            <a:endParaRPr lang="en-US" sz="1100" dirty="0"/>
          </a:p>
        </p:txBody>
      </p:sp>
      <p:sp>
        <p:nvSpPr>
          <p:cNvPr id="8" name="Shape 4"/>
          <p:cNvSpPr/>
          <p:nvPr/>
        </p:nvSpPr>
        <p:spPr>
          <a:xfrm>
            <a:off x="5760720" y="2286000"/>
            <a:ext cx="502920" cy="502920"/>
          </a:xfrm>
          <a:prstGeom prst="ellipse">
            <a:avLst/>
          </a:prstGeom>
          <a:solidFill>
            <a:srgbClr val="2D6A4F"/>
          </a:solidFill>
          <a:ln w="12700">
            <a:solidFill>
              <a:srgbClr val="2D6A4F"/>
            </a:solidFill>
            <a:prstDash val="solid"/>
          </a:ln>
        </p:spPr>
      </p:sp>
      <p:pic>
        <p:nvPicPr>
          <p:cNvPr id="9" name="Image 1" descr="preencoded.png">    </p:cNvPr>
          <p:cNvPicPr>
            <a:picLocks noChangeAspect="1"/>
          </p:cNvPicPr>
          <p:nvPr/>
        </p:nvPicPr>
        <p:blipFill>
          <a:blip r:embed="rId2"/>
          <a:stretch>
            <a:fillRect/>
          </a:stretch>
        </p:blipFill>
        <p:spPr>
          <a:xfrm>
            <a:off x="5881421" y="2406701"/>
            <a:ext cx="261518" cy="261518"/>
          </a:xfrm>
          <a:prstGeom prst="rect">
            <a:avLst/>
          </a:prstGeom>
        </p:spPr>
      </p:pic>
      <p:sp>
        <p:nvSpPr>
          <p:cNvPr id="10" name="Text 5"/>
          <p:cNvSpPr txBox="1"/>
          <p:nvPr/>
        </p:nvSpPr>
        <p:spPr>
          <a:xfrm>
            <a:off x="6400800" y="2267712"/>
            <a:ext cx="23774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DTOs validados</a:t>
            </a:r>
            <a:endParaRPr lang="en-US" sz="1400" dirty="0"/>
          </a:p>
        </p:txBody>
      </p:sp>
      <p:sp>
        <p:nvSpPr>
          <p:cNvPr id="11" name="Text 6"/>
          <p:cNvSpPr txBox="1"/>
          <p:nvPr/>
        </p:nvSpPr>
        <p:spPr>
          <a:xfrm>
            <a:off x="6400800" y="2587752"/>
            <a:ext cx="237744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Nombres de 3 a 100 caracteres, sin el prefijo amq. y tipo obligatorio: 400 por campo.</a:t>
            </a:r>
            <a:endParaRPr lang="en-US" sz="1100" dirty="0"/>
          </a:p>
        </p:txBody>
      </p:sp>
      <p:sp>
        <p:nvSpPr>
          <p:cNvPr id="12" name="Shape 7"/>
          <p:cNvSpPr/>
          <p:nvPr/>
        </p:nvSpPr>
        <p:spPr>
          <a:xfrm>
            <a:off x="5760720" y="3474720"/>
            <a:ext cx="502920" cy="502920"/>
          </a:xfrm>
          <a:prstGeom prst="ellipse">
            <a:avLst/>
          </a:prstGeom>
          <a:solidFill>
            <a:srgbClr val="2D6A4F"/>
          </a:solidFill>
          <a:ln w="12700">
            <a:solidFill>
              <a:srgbClr val="2D6A4F"/>
            </a:solidFill>
            <a:prstDash val="solid"/>
          </a:ln>
        </p:spPr>
      </p:sp>
      <p:pic>
        <p:nvPicPr>
          <p:cNvPr id="13" name="Image 2" descr="preencoded.png">    </p:cNvPr>
          <p:cNvPicPr>
            <a:picLocks noChangeAspect="1"/>
          </p:cNvPicPr>
          <p:nvPr/>
        </p:nvPicPr>
        <p:blipFill>
          <a:blip r:embed="rId3"/>
          <a:stretch>
            <a:fillRect/>
          </a:stretch>
        </p:blipFill>
        <p:spPr>
          <a:xfrm>
            <a:off x="5881421" y="3595421"/>
            <a:ext cx="261518" cy="261518"/>
          </a:xfrm>
          <a:prstGeom prst="rect">
            <a:avLst/>
          </a:prstGeom>
        </p:spPr>
      </p:pic>
      <p:sp>
        <p:nvSpPr>
          <p:cNvPr id="14" name="Text 8"/>
          <p:cNvSpPr txBox="1"/>
          <p:nvPr/>
        </p:nvSpPr>
        <p:spPr>
          <a:xfrm>
            <a:off x="6400800" y="3456432"/>
            <a:ext cx="2377440" cy="320040"/>
          </a:xfrm>
          <a:prstGeom prst="rect">
            <a:avLst/>
          </a:prstGeom>
          <a:noFill/>
          <a:ln/>
        </p:spPr>
        <p:txBody>
          <a:bodyPr wrap="square" lIns="0" tIns="0" rIns="0" bIns="0" rtlCol="0" anchor="t"/>
          <a:lstStyle/>
          <a:p>
            <a:pPr indent="0" marL="0">
              <a:buNone/>
            </a:pPr>
            <a:r>
              <a:rPr lang="en-US" sz="1400" b="1" dirty="0">
                <a:solidFill>
                  <a:srgbClr val="14342B"/>
                </a:solidFill>
                <a:latin typeface="Calibri" pitchFamily="34" charset="0"/>
                <a:ea typeface="Calibri" pitchFamily="34" charset="-122"/>
                <a:cs typeface="Calibri" pitchFamily="34" charset="-120"/>
              </a:rPr>
              <a:t>Lógica en RabbitAdminService</a:t>
            </a:r>
            <a:endParaRPr lang="en-US" sz="1400" dirty="0"/>
          </a:p>
        </p:txBody>
      </p:sp>
      <p:sp>
        <p:nvSpPr>
          <p:cNvPr id="15" name="Text 9"/>
          <p:cNvSpPr txBox="1"/>
          <p:nvPr/>
        </p:nvSpPr>
        <p:spPr>
          <a:xfrm>
            <a:off x="6400800" y="3776472"/>
            <a:ext cx="2377440" cy="77724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El controller solo traduce HTTP; cada operación queda en el log con el correo del usuario.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Evidencia: pruebas de punta a punta</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1051560"/>
          <a:ext cx="8321040" cy="914400"/>
        </p:xfrm>
        <a:graphic>
          <a:graphicData uri="http://schemas.openxmlformats.org/drawingml/2006/table">
            <a:tbl>
              <a:tblPr/>
              <a:tblGrid>
                <a:gridCol w="4846320"/>
                <a:gridCol w="1463040"/>
                <a:gridCol w="201168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Escenario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Usuario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Resultado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14342B"/>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Sin token, token basura, firma de otra clave o vencido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401</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Leer reportes con reportes.read · crear sin reportes.write</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lector</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200 · 403</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Crear, editar o eliminar un punto limpio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usuario sin rol</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403</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Crear, editar, eliminar punto · id inexistente</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encargado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201 · 200 · 204 · 404</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Crear reporte · descripción vacía</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vecino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201 · 400</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Pasar a revisión y resolver · transición inválida</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encargado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200 · 409</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Ver tickets sin rol · estadísticas sin token</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vecino · —</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403 · 401</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Admin sin rol · nombre amq.x · cola repetida · cola con consumidor</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encargado · admin</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403 · 400 · 409 · 409</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Mensaje con JSON inválido en ecopunto.tareas</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DLQ con x-death</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ms-tickets detenido al pasar a revisión</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dirty="0">
                          <a:solidFill>
                            <a:srgbClr val="1F2A24"/>
                          </a:solidFill>
                          <a:latin typeface="Calibri" pitchFamily="34" charset="0"/>
                          <a:ea typeface="Calibri" pitchFamily="34" charset="-122"/>
                          <a:cs typeface="Calibri" pitchFamily="34" charset="-120"/>
                        </a:rPr>
                        <a:t>encargado</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c>
                  <a:txBody>
                    <a:bodyPr/>
                    <a:lstStyle/>
                    <a:p>
                      <a:pPr indent="0" marL="0">
                        <a:buNone/>
                      </a:pPr>
                      <a:r>
                        <a:rPr lang="en-US" sz="1200" b="1" dirty="0">
                          <a:solidFill>
                            <a:srgbClr val="2D6A4F"/>
                          </a:solidFill>
                          <a:latin typeface="Calibri" pitchFamily="34" charset="0"/>
                          <a:ea typeface="Calibri" pitchFamily="34" charset="-122"/>
                          <a:cs typeface="Calibri" pitchFamily="34" charset="-120"/>
                        </a:rPr>
                        <a:t>200 en 0,04 s; ticket al volver</a:t>
                      </a:r>
                      <a:endParaRPr lang="en-US" sz="1200" dirty="0">
                        <a:latin typeface="Calibri" charset="0"/>
                        <a:ea typeface="Calibri" charset="0"/>
                        <a:cs typeface="Calibri" charset="0"/>
                      </a:endParaRPr>
                    </a:p>
                  </a:txBody>
                  <a:tcPr marL="73152" marR="73152" marT="36576" marB="36576" anchor="ctr">
                    <a:lnL w="6350" cap="flat" cmpd="sng" algn="ctr">
                      <a:solidFill>
                        <a:srgbClr val="D5E8DD"/>
                      </a:solidFill>
                      <a:prstDash val="solid"/>
                      <a:round/>
                      <a:headEnd type="none" w="med" len="med"/>
                      <a:tailEnd type="none" w="med" len="med"/>
                    </a:lnL>
                    <a:lnR w="6350" cap="flat" cmpd="sng" algn="ctr">
                      <a:solidFill>
                        <a:srgbClr val="D5E8DD"/>
                      </a:solidFill>
                      <a:prstDash val="solid"/>
                      <a:round/>
                      <a:headEnd type="none" w="med" len="med"/>
                      <a:tailEnd type="none" w="med" len="med"/>
                    </a:lnR>
                    <a:lnT w="6350" cap="flat" cmpd="sng" algn="ctr">
                      <a:solidFill>
                        <a:srgbClr val="D5E8DD"/>
                      </a:solidFill>
                      <a:prstDash val="solid"/>
                      <a:round/>
                      <a:headEnd type="none" w="med" len="med"/>
                      <a:tailEnd type="none" w="med" len="med"/>
                    </a:lnT>
                    <a:lnB w="6350" cap="flat" cmpd="sng" algn="ctr">
                      <a:solidFill>
                        <a:srgbClr val="D5E8DD"/>
                      </a:solidFill>
                      <a:prstDash val="solid"/>
                      <a:round/>
                      <a:headEnd type="none" w="med" len="med"/>
                      <a:tailEnd type="none" w="med" len="med"/>
                    </a:lnB>
                    <a:solidFill>
                      <a:srgbClr val="E8F5EE"/>
                    </a:solidFill>
                  </a:tcPr>
                </a:tc>
              </a:tr>
            </a:tbl>
          </a:graphicData>
        </a:graphic>
      </p:graphicFrame>
      <p:sp>
        <p:nvSpPr>
          <p:cNvPr id="4" name="Text 1"/>
          <p:cNvSpPr txBox="1"/>
          <p:nvPr/>
        </p:nvSpPr>
        <p:spPr>
          <a:xfrm>
            <a:off x="411480" y="4480560"/>
            <a:ext cx="8321040" cy="365760"/>
          </a:xfrm>
          <a:prstGeom prst="rect">
            <a:avLst/>
          </a:prstGeom>
          <a:noFill/>
          <a:ln/>
        </p:spPr>
        <p:txBody>
          <a:bodyPr wrap="square" lIns="0" tIns="0" rIns="0" bIns="0" rtlCol="0" anchor="t"/>
          <a:lstStyle/>
          <a:p>
            <a:pPr indent="0" marL="0">
              <a:buNone/>
            </a:pPr>
            <a:r>
              <a:rPr lang="en-US" sz="1100" dirty="0">
                <a:solidFill>
                  <a:srgbClr val="5C6B63"/>
                </a:solidFill>
                <a:latin typeface="Calibri" pitchFamily="34" charset="0"/>
                <a:ea typeface="Calibri" pitchFamily="34" charset="-122"/>
                <a:cs typeface="Calibri" pitchFamily="34" charset="-120"/>
              </a:rPr>
              <a:t>38 de 38 pruebas de API correctas, más las de mensajería, sobre el stack completo en docker compose. Script reproducible en docs/evidencia/.</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Evidencia: RabbitMQ en la nube</a:t>
            </a:r>
            <a:endParaRPr lang="en-US" sz="3000" dirty="0"/>
          </a:p>
        </p:txBody>
      </p:sp>
      <p:sp>
        <p:nvSpPr>
          <p:cNvPr id="3" name="Shape 1"/>
          <p:cNvSpPr/>
          <p:nvPr/>
        </p:nvSpPr>
        <p:spPr>
          <a:xfrm>
            <a:off x="457200" y="1097280"/>
            <a:ext cx="4754880" cy="3611880"/>
          </a:xfrm>
          <a:prstGeom prst="roundRect">
            <a:avLst>
              <a:gd name="adj" fmla="val 303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640080" y="1207008"/>
            <a:ext cx="4389120" cy="274320"/>
          </a:xfrm>
          <a:prstGeom prst="rect">
            <a:avLst/>
          </a:prstGeom>
          <a:noFill/>
          <a:ln/>
        </p:spPr>
        <p:txBody>
          <a:bodyPr wrap="square" lIns="0" tIns="0" rIns="0" bIns="0" rtlCol="0" anchor="t"/>
          <a:lstStyle/>
          <a:p>
            <a:pPr indent="0" marL="0">
              <a:buNone/>
            </a:pPr>
            <a:r>
              <a:rPr lang="en-US" sz="1200" b="1" dirty="0">
                <a:solidFill>
                  <a:srgbClr val="14342B"/>
                </a:solidFill>
                <a:latin typeface="Calibri" pitchFamily="34" charset="0"/>
                <a:ea typeface="Calibri" pitchFamily="34" charset="-122"/>
                <a:cs typeface="Calibri" pitchFamily="34" charset="-120"/>
              </a:rPr>
              <a:t>AWS · los dos nodos del clúster en ejecución</a:t>
            </a:r>
            <a:endParaRPr lang="en-US" sz="1200" dirty="0"/>
          </a:p>
        </p:txBody>
      </p:sp>
      <p:pic>
        <p:nvPicPr>
          <p:cNvPr id="5" name="Image 0" descr="Nodos rabbit1 y rabbit2">    </p:cNvPr>
          <p:cNvPicPr>
            <a:picLocks noChangeAspect="1"/>
          </p:cNvPicPr>
          <p:nvPr/>
        </p:nvPicPr>
        <p:blipFill>
          <a:blip r:embed="rId1"/>
          <a:stretch>
            <a:fillRect/>
          </a:stretch>
        </p:blipFill>
        <p:spPr>
          <a:xfrm>
            <a:off x="640080" y="1536192"/>
            <a:ext cx="4389120" cy="884629"/>
          </a:xfrm>
          <a:prstGeom prst="rect">
            <a:avLst/>
          </a:prstGeom>
        </p:spPr>
      </p:pic>
      <p:sp>
        <p:nvSpPr>
          <p:cNvPr id="6" name="Text 3"/>
          <p:cNvSpPr txBox="1"/>
          <p:nvPr/>
        </p:nvSpPr>
        <p:spPr>
          <a:xfrm>
            <a:off x="640080" y="2514600"/>
            <a:ext cx="4389120" cy="274320"/>
          </a:xfrm>
          <a:prstGeom prst="rect">
            <a:avLst/>
          </a:prstGeom>
          <a:noFill/>
          <a:ln/>
        </p:spPr>
        <p:txBody>
          <a:bodyPr wrap="square" lIns="0" tIns="0" rIns="0" bIns="0" rtlCol="0" anchor="t"/>
          <a:lstStyle/>
          <a:p>
            <a:pPr indent="0" marL="0">
              <a:buNone/>
            </a:pPr>
            <a:r>
              <a:rPr lang="en-US" sz="1200" b="1" dirty="0">
                <a:solidFill>
                  <a:srgbClr val="14342B"/>
                </a:solidFill>
                <a:latin typeface="Calibri" pitchFamily="34" charset="0"/>
                <a:ea typeface="Calibri" pitchFamily="34" charset="-122"/>
                <a:cs typeface="Calibri" pitchFamily="34" charset="-120"/>
              </a:rPr>
              <a:t>AWS · 6 colas quorum, cada una con su DLX y DLK</a:t>
            </a:r>
            <a:endParaRPr lang="en-US" sz="1200" dirty="0"/>
          </a:p>
        </p:txBody>
      </p:sp>
      <p:pic>
        <p:nvPicPr>
          <p:cNvPr id="7" name="Image 1" descr="Colas quorum con DLQ">    </p:cNvPr>
          <p:cNvPicPr>
            <a:picLocks noChangeAspect="1"/>
          </p:cNvPicPr>
          <p:nvPr/>
        </p:nvPicPr>
        <p:blipFill>
          <a:blip r:embed="rId2"/>
          <a:stretch>
            <a:fillRect/>
          </a:stretch>
        </p:blipFill>
        <p:spPr>
          <a:xfrm>
            <a:off x="640080" y="2816352"/>
            <a:ext cx="4389120" cy="1335682"/>
          </a:xfrm>
          <a:prstGeom prst="rect">
            <a:avLst/>
          </a:prstGeom>
        </p:spPr>
      </p:pic>
      <p:sp>
        <p:nvSpPr>
          <p:cNvPr id="8" name="Shape 4"/>
          <p:cNvSpPr/>
          <p:nvPr/>
        </p:nvSpPr>
        <p:spPr>
          <a:xfrm>
            <a:off x="5440680" y="1097280"/>
            <a:ext cx="3246120" cy="3611880"/>
          </a:xfrm>
          <a:prstGeom prst="roundRect">
            <a:avLst>
              <a:gd name="adj" fmla="val 338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5577840" y="1207008"/>
            <a:ext cx="2971800" cy="274320"/>
          </a:xfrm>
          <a:prstGeom prst="rect">
            <a:avLst/>
          </a:prstGeom>
          <a:noFill/>
          <a:ln/>
        </p:spPr>
        <p:txBody>
          <a:bodyPr wrap="square" lIns="0" tIns="0" rIns="0" bIns="0" rtlCol="0" anchor="t"/>
          <a:lstStyle/>
          <a:p>
            <a:pPr indent="0" marL="0">
              <a:buNone/>
            </a:pPr>
            <a:r>
              <a:rPr lang="en-US" sz="1200" b="1" dirty="0">
                <a:solidFill>
                  <a:srgbClr val="14342B"/>
                </a:solidFill>
                <a:latin typeface="Calibri" pitchFamily="34" charset="0"/>
                <a:ea typeface="Calibri" pitchFamily="34" charset="-122"/>
                <a:cs typeface="Calibri" pitchFamily="34" charset="-120"/>
              </a:rPr>
              <a:t>AWS · mensaje inválido en la DLQ (x-death)</a:t>
            </a:r>
            <a:endParaRPr lang="en-US" sz="1200" dirty="0"/>
          </a:p>
        </p:txBody>
      </p:sp>
      <p:pic>
        <p:nvPicPr>
          <p:cNvPr id="10" name="Image 2" descr="Mensaje en tickets.mantencion.dlq">    </p:cNvPr>
          <p:cNvPicPr>
            <a:picLocks noChangeAspect="1"/>
          </p:cNvPicPr>
          <p:nvPr/>
        </p:nvPicPr>
        <p:blipFill>
          <a:blip r:embed="rId3"/>
          <a:stretch>
            <a:fillRect/>
          </a:stretch>
        </p:blipFill>
        <p:spPr>
          <a:xfrm>
            <a:off x="5577840" y="1508760"/>
            <a:ext cx="2971800" cy="2468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14342B"/>
                </a:solidFill>
                <a:latin typeface="Calibri" pitchFamily="34" charset="0"/>
                <a:ea typeface="Calibri" pitchFamily="34" charset="-122"/>
                <a:cs typeface="Calibri" pitchFamily="34" charset="-120"/>
              </a:rPr>
              <a:t>Despliegue en AWS</a:t>
            </a:r>
            <a:endParaRPr lang="en-US" sz="3000" dirty="0"/>
          </a:p>
        </p:txBody>
      </p:sp>
      <p:sp>
        <p:nvSpPr>
          <p:cNvPr id="3" name="Text 1"/>
          <p:cNvSpPr txBox="1"/>
          <p:nvPr/>
        </p:nvSpPr>
        <p:spPr>
          <a:xfrm>
            <a:off x="457200" y="1097280"/>
            <a:ext cx="2560320" cy="914400"/>
          </a:xfrm>
          <a:prstGeom prst="rect">
            <a:avLst/>
          </a:prstGeom>
          <a:noFill/>
          <a:ln/>
        </p:spPr>
        <p:txBody>
          <a:bodyPr wrap="square" lIns="0" tIns="0" rIns="0" bIns="0" rtlCol="0" anchor="ctr"/>
          <a:lstStyle/>
          <a:p>
            <a:pPr algn="ctr" indent="0" marL="0">
              <a:buNone/>
            </a:pPr>
            <a:r>
              <a:rPr lang="en-US" sz="6000" b="1" dirty="0">
                <a:solidFill>
                  <a:srgbClr val="2D6A4F"/>
                </a:solidFill>
                <a:latin typeface="Calibri" pitchFamily="34" charset="0"/>
                <a:ea typeface="Calibri" pitchFamily="34" charset="-122"/>
                <a:cs typeface="Calibri" pitchFamily="34" charset="-120"/>
              </a:rPr>
              <a:t>2</a:t>
            </a:r>
            <a:endParaRPr lang="en-US" sz="6000" dirty="0"/>
          </a:p>
        </p:txBody>
      </p:sp>
      <p:sp>
        <p:nvSpPr>
          <p:cNvPr id="4" name="Text 2"/>
          <p:cNvSpPr txBox="1"/>
          <p:nvPr/>
        </p:nvSpPr>
        <p:spPr>
          <a:xfrm>
            <a:off x="457200" y="2011680"/>
            <a:ext cx="2560320" cy="640080"/>
          </a:xfrm>
          <a:prstGeom prst="rect">
            <a:avLst/>
          </a:prstGeom>
          <a:noFill/>
          <a:ln/>
        </p:spPr>
        <p:txBody>
          <a:bodyPr wrap="square" lIns="0" tIns="0" rIns="0" bIns="0" rtlCol="0" anchor="t"/>
          <a:lstStyle/>
          <a:p>
            <a:pPr algn="ctr" indent="0" marL="0">
              <a:buNone/>
            </a:pPr>
            <a:r>
              <a:rPr lang="en-US" sz="1300" dirty="0">
                <a:solidFill>
                  <a:srgbClr val="5C6B63"/>
                </a:solidFill>
                <a:latin typeface="Calibri" pitchFamily="34" charset="0"/>
                <a:ea typeface="Calibri" pitchFamily="34" charset="-122"/>
                <a:cs typeface="Calibri" pitchFamily="34" charset="-120"/>
              </a:rPr>
              <a:t>instancias EC2</a:t>
            </a:r>
            <a:endParaRPr lang="en-US" sz="1300" dirty="0"/>
          </a:p>
          <a:p>
            <a:pPr algn="ctr" indent="0" marL="0">
              <a:buNone/>
            </a:pPr>
            <a:r>
              <a:rPr lang="en-US" sz="1300" dirty="0">
                <a:solidFill>
                  <a:srgbClr val="5C6B63"/>
                </a:solidFill>
                <a:latin typeface="Calibri" pitchFamily="34" charset="0"/>
                <a:ea typeface="Calibri" pitchFamily="34" charset="-122"/>
                <a:cs typeface="Calibri" pitchFamily="34" charset="-120"/>
              </a:rPr>
              <a:t>(frontend y backend)</a:t>
            </a:r>
            <a:endParaRPr lang="en-US" sz="1300" dirty="0"/>
          </a:p>
        </p:txBody>
      </p:sp>
      <p:sp>
        <p:nvSpPr>
          <p:cNvPr id="5" name="Text 3"/>
          <p:cNvSpPr txBox="1"/>
          <p:nvPr/>
        </p:nvSpPr>
        <p:spPr>
          <a:xfrm>
            <a:off x="3246120" y="1097280"/>
            <a:ext cx="2560320" cy="914400"/>
          </a:xfrm>
          <a:prstGeom prst="rect">
            <a:avLst/>
          </a:prstGeom>
          <a:noFill/>
          <a:ln/>
        </p:spPr>
        <p:txBody>
          <a:bodyPr wrap="square" lIns="0" tIns="0" rIns="0" bIns="0" rtlCol="0" anchor="ctr"/>
          <a:lstStyle/>
          <a:p>
            <a:pPr algn="ctr" indent="0" marL="0">
              <a:buNone/>
            </a:pPr>
            <a:r>
              <a:rPr lang="en-US" sz="6000" b="1" dirty="0">
                <a:solidFill>
                  <a:srgbClr val="2D6A4F"/>
                </a:solidFill>
                <a:latin typeface="Calibri" pitchFamily="34" charset="0"/>
                <a:ea typeface="Calibri" pitchFamily="34" charset="-122"/>
                <a:cs typeface="Calibri" pitchFamily="34" charset="-120"/>
              </a:rPr>
              <a:t>8</a:t>
            </a:r>
            <a:endParaRPr lang="en-US" sz="6000" dirty="0"/>
          </a:p>
        </p:txBody>
      </p:sp>
      <p:sp>
        <p:nvSpPr>
          <p:cNvPr id="6" name="Text 4"/>
          <p:cNvSpPr txBox="1"/>
          <p:nvPr/>
        </p:nvSpPr>
        <p:spPr>
          <a:xfrm>
            <a:off x="3246120" y="2011680"/>
            <a:ext cx="2560320" cy="640080"/>
          </a:xfrm>
          <a:prstGeom prst="rect">
            <a:avLst/>
          </a:prstGeom>
          <a:noFill/>
          <a:ln/>
        </p:spPr>
        <p:txBody>
          <a:bodyPr wrap="square" lIns="0" tIns="0" rIns="0" bIns="0" rtlCol="0" anchor="t"/>
          <a:lstStyle/>
          <a:p>
            <a:pPr algn="ctr" indent="0" marL="0">
              <a:buNone/>
            </a:pPr>
            <a:r>
              <a:rPr lang="en-US" sz="1300" dirty="0">
                <a:solidFill>
                  <a:srgbClr val="5C6B63"/>
                </a:solidFill>
                <a:latin typeface="Calibri" pitchFamily="34" charset="0"/>
                <a:ea typeface="Calibri" pitchFamily="34" charset="-122"/>
                <a:cs typeface="Calibri" pitchFamily="34" charset="-120"/>
              </a:rPr>
              <a:t>contenedores con</a:t>
            </a:r>
            <a:endParaRPr lang="en-US" sz="1300" dirty="0"/>
          </a:p>
          <a:p>
            <a:pPr algn="ctr" indent="0" marL="0">
              <a:buNone/>
            </a:pPr>
            <a:r>
              <a:rPr lang="en-US" sz="1300" dirty="0">
                <a:solidFill>
                  <a:srgbClr val="5C6B63"/>
                </a:solidFill>
                <a:latin typeface="Calibri" pitchFamily="34" charset="0"/>
                <a:ea typeface="Calibri" pitchFamily="34" charset="-122"/>
                <a:cs typeface="Calibri" pitchFamily="34" charset="-120"/>
              </a:rPr>
              <a:t>docker compose</a:t>
            </a:r>
            <a:endParaRPr lang="en-US" sz="1300" dirty="0"/>
          </a:p>
        </p:txBody>
      </p:sp>
      <p:sp>
        <p:nvSpPr>
          <p:cNvPr id="7" name="Text 5"/>
          <p:cNvSpPr txBox="1"/>
          <p:nvPr/>
        </p:nvSpPr>
        <p:spPr>
          <a:xfrm>
            <a:off x="6035040" y="1097280"/>
            <a:ext cx="2560320" cy="914400"/>
          </a:xfrm>
          <a:prstGeom prst="rect">
            <a:avLst/>
          </a:prstGeom>
          <a:noFill/>
          <a:ln/>
        </p:spPr>
        <p:txBody>
          <a:bodyPr wrap="square" lIns="0" tIns="0" rIns="0" bIns="0" rtlCol="0" anchor="ctr"/>
          <a:lstStyle/>
          <a:p>
            <a:pPr algn="ctr" indent="0" marL="0">
              <a:buNone/>
            </a:pPr>
            <a:r>
              <a:rPr lang="en-US" sz="6000" b="1" dirty="0">
                <a:solidFill>
                  <a:srgbClr val="F4A261"/>
                </a:solidFill>
                <a:latin typeface="Calibri" pitchFamily="34" charset="0"/>
                <a:ea typeface="Calibri" pitchFamily="34" charset="-122"/>
                <a:cs typeface="Calibri" pitchFamily="34" charset="-120"/>
              </a:rPr>
              <a:t>2</a:t>
            </a:r>
            <a:endParaRPr lang="en-US" sz="6000" dirty="0"/>
          </a:p>
        </p:txBody>
      </p:sp>
      <p:sp>
        <p:nvSpPr>
          <p:cNvPr id="8" name="Text 6"/>
          <p:cNvSpPr txBox="1"/>
          <p:nvPr/>
        </p:nvSpPr>
        <p:spPr>
          <a:xfrm>
            <a:off x="6035040" y="2011680"/>
            <a:ext cx="2560320" cy="640080"/>
          </a:xfrm>
          <a:prstGeom prst="rect">
            <a:avLst/>
          </a:prstGeom>
          <a:noFill/>
          <a:ln/>
        </p:spPr>
        <p:txBody>
          <a:bodyPr wrap="square" lIns="0" tIns="0" rIns="0" bIns="0" rtlCol="0" anchor="t"/>
          <a:lstStyle/>
          <a:p>
            <a:pPr algn="ctr" indent="0" marL="0">
              <a:buNone/>
            </a:pPr>
            <a:r>
              <a:rPr lang="en-US" sz="1300" dirty="0">
                <a:solidFill>
                  <a:srgbClr val="5C6B63"/>
                </a:solidFill>
                <a:latin typeface="Calibri" pitchFamily="34" charset="0"/>
                <a:ea typeface="Calibri" pitchFamily="34" charset="-122"/>
                <a:cs typeface="Calibri" pitchFamily="34" charset="-120"/>
              </a:rPr>
              <a:t>nodos RabbitMQ</a:t>
            </a:r>
            <a:endParaRPr lang="en-US" sz="1300" dirty="0"/>
          </a:p>
          <a:p>
            <a:pPr algn="ctr" indent="0" marL="0">
              <a:buNone/>
            </a:pPr>
            <a:r>
              <a:rPr lang="en-US" sz="1300" dirty="0">
                <a:solidFill>
                  <a:srgbClr val="5C6B63"/>
                </a:solidFill>
                <a:latin typeface="Calibri" pitchFamily="34" charset="0"/>
                <a:ea typeface="Calibri" pitchFamily="34" charset="-122"/>
                <a:cs typeface="Calibri" pitchFamily="34" charset="-120"/>
              </a:rPr>
              <a:t>en clúster</a:t>
            </a:r>
            <a:endParaRPr lang="en-US" sz="1300" dirty="0"/>
          </a:p>
        </p:txBody>
      </p:sp>
      <p:sp>
        <p:nvSpPr>
          <p:cNvPr id="9" name="Shape 7"/>
          <p:cNvSpPr/>
          <p:nvPr/>
        </p:nvSpPr>
        <p:spPr>
          <a:xfrm>
            <a:off x="457200" y="2926080"/>
            <a:ext cx="502920" cy="502920"/>
          </a:xfrm>
          <a:prstGeom prst="ellipse">
            <a:avLst/>
          </a:prstGeom>
          <a:solidFill>
            <a:srgbClr val="E8F5EE"/>
          </a:solidFill>
          <a:ln w="12700">
            <a:solidFill>
              <a:srgbClr val="E8F5EE"/>
            </a:solidFill>
            <a:prstDash val="solid"/>
          </a:ln>
        </p:spPr>
      </p:sp>
      <p:pic>
        <p:nvPicPr>
          <p:cNvPr id="10" name="Image 0" descr="preencoded.png">    </p:cNvPr>
          <p:cNvPicPr>
            <a:picLocks noChangeAspect="1"/>
          </p:cNvPicPr>
          <p:nvPr/>
        </p:nvPicPr>
        <p:blipFill>
          <a:blip r:embed="rId1"/>
          <a:stretch>
            <a:fillRect/>
          </a:stretch>
        </p:blipFill>
        <p:spPr>
          <a:xfrm>
            <a:off x="577901" y="3046781"/>
            <a:ext cx="261518" cy="261518"/>
          </a:xfrm>
          <a:prstGeom prst="rect">
            <a:avLst/>
          </a:prstGeom>
        </p:spPr>
      </p:pic>
      <p:sp>
        <p:nvSpPr>
          <p:cNvPr id="11" name="Text 8"/>
          <p:cNvSpPr txBox="1"/>
          <p:nvPr/>
        </p:nvSpPr>
        <p:spPr>
          <a:xfrm>
            <a:off x="1097280" y="2907792"/>
            <a:ext cx="3383280" cy="292608"/>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Arranque ordenado</a:t>
            </a:r>
            <a:endParaRPr lang="en-US" sz="1300" dirty="0"/>
          </a:p>
        </p:txBody>
      </p:sp>
      <p:sp>
        <p:nvSpPr>
          <p:cNvPr id="12" name="Text 9"/>
          <p:cNvSpPr txBox="1"/>
          <p:nvPr/>
        </p:nvSpPr>
        <p:spPr>
          <a:xfrm>
            <a:off x="1097280" y="3200400"/>
            <a:ext cx="338328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Healthchecks y depends_on: los servicios esperan a PostgreSQL y a los dos nodos.</a:t>
            </a:r>
            <a:endParaRPr lang="en-US" sz="1100" dirty="0"/>
          </a:p>
        </p:txBody>
      </p:sp>
      <p:sp>
        <p:nvSpPr>
          <p:cNvPr id="13" name="Shape 10"/>
          <p:cNvSpPr/>
          <p:nvPr/>
        </p:nvSpPr>
        <p:spPr>
          <a:xfrm>
            <a:off x="4663440" y="2926080"/>
            <a:ext cx="502920" cy="502920"/>
          </a:xfrm>
          <a:prstGeom prst="ellipse">
            <a:avLst/>
          </a:prstGeom>
          <a:solidFill>
            <a:srgbClr val="E8F5EE"/>
          </a:solidFill>
          <a:ln w="12700">
            <a:solidFill>
              <a:srgbClr val="E8F5EE"/>
            </a:solidFill>
            <a:prstDash val="solid"/>
          </a:ln>
        </p:spPr>
      </p:sp>
      <p:pic>
        <p:nvPicPr>
          <p:cNvPr id="14" name="Image 1" descr="preencoded.png">    </p:cNvPr>
          <p:cNvPicPr>
            <a:picLocks noChangeAspect="1"/>
          </p:cNvPicPr>
          <p:nvPr/>
        </p:nvPicPr>
        <p:blipFill>
          <a:blip r:embed="rId2"/>
          <a:stretch>
            <a:fillRect/>
          </a:stretch>
        </p:blipFill>
        <p:spPr>
          <a:xfrm>
            <a:off x="4784141" y="3046781"/>
            <a:ext cx="261518" cy="261518"/>
          </a:xfrm>
          <a:prstGeom prst="rect">
            <a:avLst/>
          </a:prstGeom>
        </p:spPr>
      </p:pic>
      <p:sp>
        <p:nvSpPr>
          <p:cNvPr id="15" name="Text 11"/>
          <p:cNvSpPr txBox="1"/>
          <p:nvPr/>
        </p:nvSpPr>
        <p:spPr>
          <a:xfrm>
            <a:off x="5303520" y="2907792"/>
            <a:ext cx="3383280" cy="292608"/>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Una base por microservicio</a:t>
            </a:r>
            <a:endParaRPr lang="en-US" sz="1300" dirty="0"/>
          </a:p>
        </p:txBody>
      </p:sp>
      <p:sp>
        <p:nvSpPr>
          <p:cNvPr id="16" name="Text 12"/>
          <p:cNvSpPr txBox="1"/>
          <p:nvPr/>
        </p:nvSpPr>
        <p:spPr>
          <a:xfrm>
            <a:off x="5303520" y="3200400"/>
            <a:ext cx="338328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Cuatro bases en PostgreSQL, con volumen persistente y sin puerto expuesto.</a:t>
            </a:r>
            <a:endParaRPr lang="en-US" sz="1100" dirty="0"/>
          </a:p>
        </p:txBody>
      </p:sp>
      <p:sp>
        <p:nvSpPr>
          <p:cNvPr id="17" name="Shape 13"/>
          <p:cNvSpPr/>
          <p:nvPr/>
        </p:nvSpPr>
        <p:spPr>
          <a:xfrm>
            <a:off x="457200" y="3794760"/>
            <a:ext cx="502920" cy="502920"/>
          </a:xfrm>
          <a:prstGeom prst="ellipse">
            <a:avLst/>
          </a:prstGeom>
          <a:solidFill>
            <a:srgbClr val="E8F5EE"/>
          </a:solidFill>
          <a:ln w="12700">
            <a:solidFill>
              <a:srgbClr val="E8F5EE"/>
            </a:solidFill>
            <a:prstDash val="solid"/>
          </a:ln>
        </p:spPr>
      </p:sp>
      <p:pic>
        <p:nvPicPr>
          <p:cNvPr id="18" name="Image 2" descr="preencoded.png">    </p:cNvPr>
          <p:cNvPicPr>
            <a:picLocks noChangeAspect="1"/>
          </p:cNvPicPr>
          <p:nvPr/>
        </p:nvPicPr>
        <p:blipFill>
          <a:blip r:embed="rId3"/>
          <a:stretch>
            <a:fillRect/>
          </a:stretch>
        </p:blipFill>
        <p:spPr>
          <a:xfrm>
            <a:off x="577901" y="3915461"/>
            <a:ext cx="261518" cy="261518"/>
          </a:xfrm>
          <a:prstGeom prst="rect">
            <a:avLst/>
          </a:prstGeom>
        </p:spPr>
      </p:pic>
      <p:sp>
        <p:nvSpPr>
          <p:cNvPr id="19" name="Text 14"/>
          <p:cNvSpPr txBox="1"/>
          <p:nvPr/>
        </p:nvSpPr>
        <p:spPr>
          <a:xfrm>
            <a:off x="1097280" y="3776472"/>
            <a:ext cx="3383280" cy="292608"/>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IP fija</a:t>
            </a:r>
            <a:endParaRPr lang="en-US" sz="1300" dirty="0"/>
          </a:p>
        </p:txBody>
      </p:sp>
      <p:sp>
        <p:nvSpPr>
          <p:cNvPr id="20" name="Text 15"/>
          <p:cNvSpPr txBox="1"/>
          <p:nvPr/>
        </p:nvSpPr>
        <p:spPr>
          <a:xfrm>
            <a:off x="1097280" y="4069080"/>
            <a:ext cx="338328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Elastic IP en ambas instancias: el dominio no cambia al reiniciar el laboratorio.</a:t>
            </a:r>
            <a:endParaRPr lang="en-US" sz="1100" dirty="0"/>
          </a:p>
        </p:txBody>
      </p:sp>
      <p:sp>
        <p:nvSpPr>
          <p:cNvPr id="21" name="Shape 16"/>
          <p:cNvSpPr/>
          <p:nvPr/>
        </p:nvSpPr>
        <p:spPr>
          <a:xfrm>
            <a:off x="4663440" y="3794760"/>
            <a:ext cx="502920" cy="502920"/>
          </a:xfrm>
          <a:prstGeom prst="ellipse">
            <a:avLst/>
          </a:prstGeom>
          <a:solidFill>
            <a:srgbClr val="E8F5EE"/>
          </a:solidFill>
          <a:ln w="12700">
            <a:solidFill>
              <a:srgbClr val="E8F5EE"/>
            </a:solidFill>
            <a:prstDash val="solid"/>
          </a:ln>
        </p:spPr>
      </p:sp>
      <p:pic>
        <p:nvPicPr>
          <p:cNvPr id="22" name="Image 3" descr="preencoded.png">    </p:cNvPr>
          <p:cNvPicPr>
            <a:picLocks noChangeAspect="1"/>
          </p:cNvPicPr>
          <p:nvPr/>
        </p:nvPicPr>
        <p:blipFill>
          <a:blip r:embed="rId4"/>
          <a:stretch>
            <a:fillRect/>
          </a:stretch>
        </p:blipFill>
        <p:spPr>
          <a:xfrm>
            <a:off x="4784141" y="3915461"/>
            <a:ext cx="261518" cy="261518"/>
          </a:xfrm>
          <a:prstGeom prst="rect">
            <a:avLst/>
          </a:prstGeom>
        </p:spPr>
      </p:pic>
      <p:sp>
        <p:nvSpPr>
          <p:cNvPr id="23" name="Text 17"/>
          <p:cNvSpPr txBox="1"/>
          <p:nvPr/>
        </p:nvSpPr>
        <p:spPr>
          <a:xfrm>
            <a:off x="5303520" y="3776472"/>
            <a:ext cx="3383280" cy="292608"/>
          </a:xfrm>
          <a:prstGeom prst="rect">
            <a:avLst/>
          </a:prstGeom>
          <a:noFill/>
          <a:ln/>
        </p:spPr>
        <p:txBody>
          <a:bodyPr wrap="square" lIns="0" tIns="0" rIns="0" bIns="0" rtlCol="0" anchor="t"/>
          <a:lstStyle/>
          <a:p>
            <a:pPr indent="0" marL="0">
              <a:buNone/>
            </a:pPr>
            <a:r>
              <a:rPr lang="en-US" sz="1300" b="1" dirty="0">
                <a:solidFill>
                  <a:srgbClr val="14342B"/>
                </a:solidFill>
                <a:latin typeface="Calibri" pitchFamily="34" charset="0"/>
                <a:ea typeface="Calibri" pitchFamily="34" charset="-122"/>
                <a:cs typeface="Calibri" pitchFamily="34" charset="-120"/>
              </a:rPr>
              <a:t>HTTPS y secretos</a:t>
            </a:r>
            <a:endParaRPr lang="en-US" sz="1300" dirty="0"/>
          </a:p>
        </p:txBody>
      </p:sp>
      <p:sp>
        <p:nvSpPr>
          <p:cNvPr id="24" name="Text 18"/>
          <p:cNvSpPr txBox="1"/>
          <p:nvPr/>
        </p:nvSpPr>
        <p:spPr>
          <a:xfrm>
            <a:off x="5303520" y="4069080"/>
            <a:ext cx="3383280" cy="457200"/>
          </a:xfrm>
          <a:prstGeom prst="rect">
            <a:avLst/>
          </a:prstGeom>
          <a:noFill/>
          <a:ln/>
        </p:spPr>
        <p:txBody>
          <a:bodyPr wrap="square" lIns="0" tIns="0" rIns="0" bIns="0" rtlCol="0" anchor="t"/>
          <a:lstStyle/>
          <a:p>
            <a:pPr indent="0" marL="0">
              <a:buNone/>
            </a:pPr>
            <a:r>
              <a:rPr lang="en-US" sz="1100" dirty="0">
                <a:solidFill>
                  <a:srgbClr val="1F2A24"/>
                </a:solidFill>
                <a:latin typeface="Calibri" pitchFamily="34" charset="0"/>
                <a:ea typeface="Calibri" pitchFamily="34" charset="-122"/>
                <a:cs typeface="Calibri" pitchFamily="34" charset="-120"/>
              </a:rPr>
              <a:t>Let's Encrypt en el frontend; las contraseñas viven solo en el .env de la instancia.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82296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Demo en vivo</a:t>
            </a:r>
            <a:endParaRPr lang="en-US" sz="3600" dirty="0"/>
          </a:p>
        </p:txBody>
      </p:sp>
      <p:sp>
        <p:nvSpPr>
          <p:cNvPr id="3" name="Shape 1"/>
          <p:cNvSpPr/>
          <p:nvPr/>
        </p:nvSpPr>
        <p:spPr>
          <a:xfrm>
            <a:off x="457200" y="1325880"/>
            <a:ext cx="502920" cy="502920"/>
          </a:xfrm>
          <a:prstGeom prst="ellipse">
            <a:avLst/>
          </a:prstGeom>
          <a:solidFill>
            <a:srgbClr val="52B788"/>
          </a:solidFill>
          <a:ln w="12700">
            <a:solidFill>
              <a:srgbClr val="52B788"/>
            </a:solidFill>
            <a:prstDash val="solid"/>
          </a:ln>
        </p:spPr>
      </p:sp>
      <p:sp>
        <p:nvSpPr>
          <p:cNvPr id="4" name="Text 2"/>
          <p:cNvSpPr txBox="1"/>
          <p:nvPr/>
        </p:nvSpPr>
        <p:spPr>
          <a:xfrm>
            <a:off x="457200" y="132588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143000" y="128016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AWS: API Gateway con sus rutas, el authorizer JWT y CORS</a:t>
            </a:r>
            <a:endParaRPr lang="en-US" sz="1400" dirty="0"/>
          </a:p>
        </p:txBody>
      </p:sp>
      <p:sp>
        <p:nvSpPr>
          <p:cNvPr id="6" name="Shape 4"/>
          <p:cNvSpPr/>
          <p:nvPr/>
        </p:nvSpPr>
        <p:spPr>
          <a:xfrm>
            <a:off x="4663440" y="1325880"/>
            <a:ext cx="502920" cy="502920"/>
          </a:xfrm>
          <a:prstGeom prst="ellipse">
            <a:avLst/>
          </a:prstGeom>
          <a:solidFill>
            <a:srgbClr val="52B788"/>
          </a:solidFill>
          <a:ln w="12700">
            <a:solidFill>
              <a:srgbClr val="52B788"/>
            </a:solidFill>
            <a:prstDash val="solid"/>
          </a:ln>
        </p:spPr>
      </p:sp>
      <p:sp>
        <p:nvSpPr>
          <p:cNvPr id="7" name="Text 5"/>
          <p:cNvSpPr txBox="1"/>
          <p:nvPr/>
        </p:nvSpPr>
        <p:spPr>
          <a:xfrm>
            <a:off x="4663440" y="132588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2</a:t>
            </a:r>
            <a:endParaRPr lang="en-US" sz="1600" dirty="0"/>
          </a:p>
        </p:txBody>
      </p:sp>
      <p:sp>
        <p:nvSpPr>
          <p:cNvPr id="8" name="Text 6"/>
          <p:cNvSpPr txBox="1"/>
          <p:nvPr/>
        </p:nvSpPr>
        <p:spPr>
          <a:xfrm>
            <a:off x="5349240" y="128016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Entra ID: usuarios y App roles ENCARGADO y ADMIN</a:t>
            </a:r>
            <a:endParaRPr lang="en-US" sz="1400" dirty="0"/>
          </a:p>
        </p:txBody>
      </p:sp>
      <p:sp>
        <p:nvSpPr>
          <p:cNvPr id="9" name="Shape 7"/>
          <p:cNvSpPr/>
          <p:nvPr/>
        </p:nvSpPr>
        <p:spPr>
          <a:xfrm>
            <a:off x="457200" y="2423160"/>
            <a:ext cx="502920" cy="502920"/>
          </a:xfrm>
          <a:prstGeom prst="ellipse">
            <a:avLst/>
          </a:prstGeom>
          <a:solidFill>
            <a:srgbClr val="52B788"/>
          </a:solidFill>
          <a:ln w="12700">
            <a:solidFill>
              <a:srgbClr val="52B788"/>
            </a:solidFill>
            <a:prstDash val="solid"/>
          </a:ln>
        </p:spPr>
      </p:sp>
      <p:sp>
        <p:nvSpPr>
          <p:cNvPr id="10" name="Text 8"/>
          <p:cNvSpPr txBox="1"/>
          <p:nvPr/>
        </p:nvSpPr>
        <p:spPr>
          <a:xfrm>
            <a:off x="457200" y="242316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3</a:t>
            </a:r>
            <a:endParaRPr lang="en-US" sz="1600" dirty="0"/>
          </a:p>
        </p:txBody>
      </p:sp>
      <p:sp>
        <p:nvSpPr>
          <p:cNvPr id="11" name="Text 9"/>
          <p:cNvSpPr txBox="1"/>
          <p:nvPr/>
        </p:nvSpPr>
        <p:spPr>
          <a:xfrm>
            <a:off x="1143000" y="237744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Login con PKCE y crear un reporte, con la pestaña Red abierta</a:t>
            </a:r>
            <a:endParaRPr lang="en-US" sz="1400" dirty="0"/>
          </a:p>
        </p:txBody>
      </p:sp>
      <p:sp>
        <p:nvSpPr>
          <p:cNvPr id="12" name="Shape 10"/>
          <p:cNvSpPr/>
          <p:nvPr/>
        </p:nvSpPr>
        <p:spPr>
          <a:xfrm>
            <a:off x="4663440" y="2423160"/>
            <a:ext cx="502920" cy="502920"/>
          </a:xfrm>
          <a:prstGeom prst="ellipse">
            <a:avLst/>
          </a:prstGeom>
          <a:solidFill>
            <a:srgbClr val="52B788"/>
          </a:solidFill>
          <a:ln w="12700">
            <a:solidFill>
              <a:srgbClr val="52B788"/>
            </a:solidFill>
            <a:prstDash val="solid"/>
          </a:ln>
        </p:spPr>
      </p:sp>
      <p:sp>
        <p:nvSpPr>
          <p:cNvPr id="13" name="Text 11"/>
          <p:cNvSpPr txBox="1"/>
          <p:nvPr/>
        </p:nvSpPr>
        <p:spPr>
          <a:xfrm>
            <a:off x="4663440" y="242316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4</a:t>
            </a:r>
            <a:endParaRPr lang="en-US" sz="1600" dirty="0"/>
          </a:p>
        </p:txBody>
      </p:sp>
      <p:sp>
        <p:nvSpPr>
          <p:cNvPr id="14" name="Text 12"/>
          <p:cNvSpPr txBox="1"/>
          <p:nvPr/>
        </p:nvSpPr>
        <p:spPr>
          <a:xfrm>
            <a:off x="5349240" y="237744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Encargado: revisión → ticket; resuelto → estadísticas</a:t>
            </a:r>
            <a:endParaRPr lang="en-US" sz="1400" dirty="0"/>
          </a:p>
        </p:txBody>
      </p:sp>
      <p:sp>
        <p:nvSpPr>
          <p:cNvPr id="15" name="Shape 13"/>
          <p:cNvSpPr/>
          <p:nvPr/>
        </p:nvSpPr>
        <p:spPr>
          <a:xfrm>
            <a:off x="457200" y="3520440"/>
            <a:ext cx="502920" cy="502920"/>
          </a:xfrm>
          <a:prstGeom prst="ellipse">
            <a:avLst/>
          </a:prstGeom>
          <a:solidFill>
            <a:srgbClr val="52B788"/>
          </a:solidFill>
          <a:ln w="12700">
            <a:solidFill>
              <a:srgbClr val="52B788"/>
            </a:solidFill>
            <a:prstDash val="solid"/>
          </a:ln>
        </p:spPr>
      </p:sp>
      <p:sp>
        <p:nvSpPr>
          <p:cNvPr id="16" name="Text 14"/>
          <p:cNvSpPr txBox="1"/>
          <p:nvPr/>
        </p:nvSpPr>
        <p:spPr>
          <a:xfrm>
            <a:off x="457200" y="352044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5</a:t>
            </a:r>
            <a:endParaRPr lang="en-US" sz="1600" dirty="0"/>
          </a:p>
        </p:txBody>
      </p:sp>
      <p:sp>
        <p:nvSpPr>
          <p:cNvPr id="17" name="Text 15"/>
          <p:cNvSpPr txBox="1"/>
          <p:nvPr/>
        </p:nvSpPr>
        <p:spPr>
          <a:xfrm>
            <a:off x="1143000" y="347472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Falla controlada: mensaje inválido a la DLQ y consumidor caído</a:t>
            </a:r>
            <a:endParaRPr lang="en-US" sz="1400" dirty="0"/>
          </a:p>
        </p:txBody>
      </p:sp>
      <p:sp>
        <p:nvSpPr>
          <p:cNvPr id="18" name="Shape 16"/>
          <p:cNvSpPr/>
          <p:nvPr/>
        </p:nvSpPr>
        <p:spPr>
          <a:xfrm>
            <a:off x="4663440" y="3520440"/>
            <a:ext cx="502920" cy="502920"/>
          </a:xfrm>
          <a:prstGeom prst="ellipse">
            <a:avLst/>
          </a:prstGeom>
          <a:solidFill>
            <a:srgbClr val="52B788"/>
          </a:solidFill>
          <a:ln w="12700">
            <a:solidFill>
              <a:srgbClr val="52B788"/>
            </a:solidFill>
            <a:prstDash val="solid"/>
          </a:ln>
        </p:spPr>
      </p:sp>
      <p:sp>
        <p:nvSpPr>
          <p:cNvPr id="19" name="Text 17"/>
          <p:cNvSpPr txBox="1"/>
          <p:nvPr/>
        </p:nvSpPr>
        <p:spPr>
          <a:xfrm>
            <a:off x="4663440" y="3520440"/>
            <a:ext cx="502920" cy="502920"/>
          </a:xfrm>
          <a:prstGeom prst="rect">
            <a:avLst/>
          </a:prstGeom>
          <a:noFill/>
          <a:ln/>
        </p:spPr>
        <p:txBody>
          <a:bodyPr wrap="square" lIns="0" tIns="0" rIns="0" bIns="0" rtlCol="0" anchor="ctr"/>
          <a:lstStyle/>
          <a:p>
            <a:pPr algn="ctr" indent="0" marL="0">
              <a:buNone/>
            </a:pPr>
            <a:r>
              <a:rPr lang="en-US" sz="1600" b="1" dirty="0">
                <a:solidFill>
                  <a:srgbClr val="14342B"/>
                </a:solidFill>
                <a:latin typeface="Calibri" pitchFamily="34" charset="0"/>
                <a:ea typeface="Calibri" pitchFamily="34" charset="-122"/>
                <a:cs typeface="Calibri" pitchFamily="34" charset="-120"/>
              </a:rPr>
              <a:t>6</a:t>
            </a:r>
            <a:endParaRPr lang="en-US" sz="1600" dirty="0"/>
          </a:p>
        </p:txBody>
      </p:sp>
      <p:sp>
        <p:nvSpPr>
          <p:cNvPr id="20" name="Text 18"/>
          <p:cNvSpPr txBox="1"/>
          <p:nvPr/>
        </p:nvSpPr>
        <p:spPr>
          <a:xfrm>
            <a:off x="5349240" y="3474720"/>
            <a:ext cx="338328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Clúster: docker compose ps, nodos, colas y Administrar RabbitMQ</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069080" y="822960"/>
            <a:ext cx="1005840" cy="1005840"/>
          </a:xfrm>
          <a:prstGeom prst="ellipse">
            <a:avLst/>
          </a:prstGeom>
          <a:solidFill>
            <a:srgbClr val="52B788"/>
          </a:solidFill>
          <a:ln w="12700">
            <a:solidFill>
              <a:srgbClr val="52B788"/>
            </a:solidFill>
            <a:prstDash val="solid"/>
          </a:ln>
        </p:spPr>
      </p:sp>
      <p:pic>
        <p:nvPicPr>
          <p:cNvPr id="3" name="Image 0" descr="preencoded.png">    </p:cNvPr>
          <p:cNvPicPr>
            <a:picLocks noChangeAspect="1"/>
          </p:cNvPicPr>
          <p:nvPr/>
        </p:nvPicPr>
        <p:blipFill>
          <a:blip r:embed="rId1"/>
          <a:stretch>
            <a:fillRect/>
          </a:stretch>
        </p:blipFill>
        <p:spPr>
          <a:xfrm>
            <a:off x="4310482" y="1064362"/>
            <a:ext cx="523037" cy="523037"/>
          </a:xfrm>
          <a:prstGeom prst="rect">
            <a:avLst/>
          </a:prstGeom>
        </p:spPr>
      </p:pic>
      <p:sp>
        <p:nvSpPr>
          <p:cNvPr id="4" name="Text 1"/>
          <p:cNvSpPr txBox="1"/>
          <p:nvPr/>
        </p:nvSpPr>
        <p:spPr>
          <a:xfrm>
            <a:off x="457200" y="2011680"/>
            <a:ext cx="822960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Gracias</a:t>
            </a:r>
            <a:endParaRPr lang="en-US" sz="4400" dirty="0"/>
          </a:p>
        </p:txBody>
      </p:sp>
      <p:sp>
        <p:nvSpPr>
          <p:cNvPr id="5" name="Text 2"/>
          <p:cNvSpPr txBox="1"/>
          <p:nvPr/>
        </p:nvSpPr>
        <p:spPr>
          <a:xfrm>
            <a:off x="457200" y="2788920"/>
            <a:ext cx="8229600" cy="548640"/>
          </a:xfrm>
          <a:prstGeom prst="rect">
            <a:avLst/>
          </a:prstGeom>
          <a:noFill/>
          <a:ln/>
        </p:spPr>
        <p:txBody>
          <a:bodyPr wrap="square" lIns="0" tIns="0" rIns="0" bIns="0" rtlCol="0" anchor="ctr"/>
          <a:lstStyle/>
          <a:p>
            <a:pPr algn="ctr" indent="0" marL="0">
              <a:buNone/>
            </a:pPr>
            <a:r>
              <a:rPr lang="en-US" sz="2200" dirty="0">
                <a:solidFill>
                  <a:srgbClr val="52B788"/>
                </a:solidFill>
                <a:latin typeface="Calibri" pitchFamily="34" charset="0"/>
                <a:ea typeface="Calibri" pitchFamily="34" charset="-122"/>
                <a:cs typeface="Calibri" pitchFamily="34" charset="-120"/>
              </a:rPr>
              <a:t>¿Preguntas?</a:t>
            </a:r>
            <a:endParaRPr lang="en-US" sz="2200" dirty="0"/>
          </a:p>
        </p:txBody>
      </p:sp>
      <p:sp>
        <p:nvSpPr>
          <p:cNvPr id="6" name="Text 3"/>
          <p:cNvSpPr txBox="1"/>
          <p:nvPr/>
        </p:nvSpPr>
        <p:spPr>
          <a:xfrm>
            <a:off x="457200" y="4023360"/>
            <a:ext cx="8229600" cy="365760"/>
          </a:xfrm>
          <a:prstGeom prst="rect">
            <a:avLst/>
          </a:prstGeom>
          <a:noFill/>
          <a:ln/>
        </p:spPr>
        <p:txBody>
          <a:bodyPr wrap="square" lIns="0" tIns="0" rIns="0" bIns="0" rtlCol="0" anchor="ctr"/>
          <a:lstStyle/>
          <a:p>
            <a:pPr algn="ctr" indent="0" marL="0">
              <a:buNone/>
            </a:pPr>
            <a:r>
              <a:rPr lang="en-US" sz="1200" dirty="0">
                <a:solidFill>
                  <a:srgbClr val="E8F5EE"/>
                </a:solidFill>
                <a:latin typeface="Calibri" pitchFamily="34" charset="0"/>
                <a:ea typeface="Calibri" pitchFamily="34" charset="-122"/>
                <a:cs typeface="Calibri" pitchFamily="34" charset="-120"/>
              </a:rPr>
              <a:t>https://ecopunto.larraguibel.dev · github.com/jhonnylarry/dsy1107-ep1-ecopunto</a:t>
            </a:r>
            <a:endParaRPr lang="en-US" sz="1200" dirty="0"/>
          </a:p>
        </p:txBody>
      </p:sp>
    </p:spTree>
  </p:cSld>
  <p:clrMapOvr>
    <a:masterClrMapping/>
  </p:clrMapOvr>
</p:sld>
</file>

<file path=ppt/theme/theme1.xml><?xml version="1.0" encoding="utf-8"?>
<a:theme xmlns:a="http://schemas.openxmlformats.org/drawingml/2006/main" name="EcoPunto">
  <a:themeElements>
    <a:clrScheme name="EcoPunto">
      <a:dk1>
        <a:srgbClr val="1F2A24"/>
      </a:dk1>
      <a:lt1>
        <a:srgbClr val="FFFFFF"/>
      </a:lt1>
      <a:dk2>
        <a:srgbClr val="14342B"/>
      </a:dk2>
      <a:lt2>
        <a:srgbClr val="E8F5EE"/>
      </a:lt2>
      <a:accent1>
        <a:srgbClr val="2D6A4F"/>
      </a:accent1>
      <a:accent2>
        <a:srgbClr val="52B788"/>
      </a:accent2>
      <a:accent3>
        <a:srgbClr val="F4A261"/>
      </a:accent3>
      <a:accent4>
        <a:srgbClr val="C0392B"/>
      </a:accent4>
      <a:accent5>
        <a:srgbClr val="5C6B63"/>
      </a:accent5>
      <a:accent6>
        <a:srgbClr val="B7D9C6"/>
      </a:accent6>
      <a:hlink>
        <a:srgbClr val="2D6A4F"/>
      </a:hlink>
      <a:folHlink>
        <a:srgbClr val="5C6B63"/>
      </a:folHlink>
    </a:clrScheme>
    <a:fontScheme name="EcoPunt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EcoPunto · Evaluación Parcial 4</dc:title>
  <dc:subject>PptxGenJS Presentation</dc:subject>
  <dc:creator>Jonathan Larraguibel</dc:creator>
  <cp:lastModifiedBy>Jonathan Larraguibel</cp:lastModifiedBy>
  <cp:revision>1</cp:revision>
  <dcterms:created xsi:type="dcterms:W3CDTF">2026-10-21T22:28:15Z</dcterms:created>
  <dcterms:modified xsi:type="dcterms:W3CDTF">2026-10-21T22:28:15Z</dcterms:modified>
</cp:coreProperties>
</file>